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6"/>
  </p:notesMasterIdLst>
  <p:sldIdLst>
    <p:sldId id="256" r:id="rId5"/>
    <p:sldId id="395" r:id="rId6"/>
    <p:sldId id="396" r:id="rId7"/>
    <p:sldId id="397" r:id="rId8"/>
    <p:sldId id="398" r:id="rId9"/>
    <p:sldId id="399" r:id="rId10"/>
    <p:sldId id="400" r:id="rId11"/>
    <p:sldId id="401" r:id="rId12"/>
    <p:sldId id="394" r:id="rId13"/>
    <p:sldId id="402" r:id="rId14"/>
    <p:sldId id="403" r:id="rId15"/>
    <p:sldId id="404" r:id="rId16"/>
    <p:sldId id="405" r:id="rId17"/>
    <p:sldId id="406" r:id="rId18"/>
    <p:sldId id="407" r:id="rId19"/>
    <p:sldId id="408" r:id="rId20"/>
    <p:sldId id="409" r:id="rId21"/>
    <p:sldId id="410" r:id="rId22"/>
    <p:sldId id="411" r:id="rId23"/>
    <p:sldId id="412" r:id="rId24"/>
    <p:sldId id="413" r:id="rId25"/>
    <p:sldId id="414" r:id="rId26"/>
    <p:sldId id="415" r:id="rId27"/>
    <p:sldId id="416" r:id="rId28"/>
    <p:sldId id="417" r:id="rId29"/>
    <p:sldId id="418" r:id="rId30"/>
    <p:sldId id="419" r:id="rId31"/>
    <p:sldId id="420" r:id="rId32"/>
    <p:sldId id="421" r:id="rId33"/>
    <p:sldId id="422" r:id="rId34"/>
    <p:sldId id="423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1C1260-7E40-4364-BD07-DE7E2F3E7162}">
          <p14:sldIdLst>
            <p14:sldId id="256"/>
            <p14:sldId id="395"/>
            <p14:sldId id="396"/>
            <p14:sldId id="397"/>
            <p14:sldId id="398"/>
            <p14:sldId id="399"/>
            <p14:sldId id="400"/>
            <p14:sldId id="401"/>
            <p14:sldId id="394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ott" initials="S" lastIdx="5" clrIdx="0">
    <p:extLst>
      <p:ext uri="{19B8F6BF-5375-455C-9EA6-DF929625EA0E}">
        <p15:presenceInfo xmlns:p15="http://schemas.microsoft.com/office/powerpoint/2012/main" userId="Scott" providerId="None"/>
      </p:ext>
    </p:extLst>
  </p:cmAuthor>
  <p:cmAuthor id="2" name="Dana Barineau" initials="DB" lastIdx="1" clrIdx="1">
    <p:extLst>
      <p:ext uri="{19B8F6BF-5375-455C-9EA6-DF929625EA0E}">
        <p15:presenceInfo xmlns:p15="http://schemas.microsoft.com/office/powerpoint/2012/main" userId="Dana Barineau" providerId="None"/>
      </p:ext>
    </p:extLst>
  </p:cmAuthor>
  <p:cmAuthor id="3" name="Alden Drake" initials="AD" lastIdx="3" clrIdx="2">
    <p:extLst>
      <p:ext uri="{19B8F6BF-5375-455C-9EA6-DF929625EA0E}">
        <p15:presenceInfo xmlns:p15="http://schemas.microsoft.com/office/powerpoint/2012/main" userId="02a7e7fa871b3cfc" providerId="Windows Live"/>
      </p:ext>
    </p:extLst>
  </p:cmAuthor>
  <p:cmAuthor id="4" name="Paul Haines" initials="PH" lastIdx="9" clrIdx="3">
    <p:extLst>
      <p:ext uri="{19B8F6BF-5375-455C-9EA6-DF929625EA0E}">
        <p15:presenceInfo xmlns:p15="http://schemas.microsoft.com/office/powerpoint/2012/main" userId="Paul Haines" providerId="None"/>
      </p:ext>
    </p:extLst>
  </p:cmAuthor>
  <p:cmAuthor id="5" name="Shannon Lehmer" initials="SL" lastIdx="2" clrIdx="4">
    <p:extLst>
      <p:ext uri="{19B8F6BF-5375-455C-9EA6-DF929625EA0E}">
        <p15:presenceInfo xmlns:p15="http://schemas.microsoft.com/office/powerpoint/2012/main" userId="c588402909581d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04C"/>
    <a:srgbClr val="07304C"/>
    <a:srgbClr val="DBDBD3"/>
    <a:srgbClr val="064973"/>
    <a:srgbClr val="FF0000"/>
    <a:srgbClr val="FFFF00"/>
    <a:srgbClr val="22B965"/>
    <a:srgbClr val="00AE4D"/>
    <a:srgbClr val="096AA6"/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551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726E1-FD36-459F-813E-F371EC296CF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166A4-E9D0-4AFA-9CA5-FF99D13E5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166A4-E9D0-4AFA-9CA5-FF99D13E5D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50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3F8D-7712-3DE4-98F1-A506F20D1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F52A29-8583-3BE3-BFD2-EAF474597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332783-7E6D-D83D-8B8C-78C0F967B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14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AC392-D677-2113-4251-6951C457C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A4128-96DB-4040-AF16-A09C67CE3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74939D-746F-E038-DF36-099FB251A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032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6BF5B-9951-00A0-D01A-E7B81255F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58E94-4B26-CA8B-5992-FA7D9B183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815F25-5A84-FD39-4098-D25FBDEB5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271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764F8-50F2-CC5A-D7F6-FC9E2F31A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673B99-C152-D37F-029E-B08344488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D2C018-004D-208A-FB2C-D2DCD1A0D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327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C1E0B-A70B-DF30-CFC5-6DBFF1C69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CA7427-432B-37B9-9D7C-8E0E4FF45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7408B-D465-E42A-4E6F-23AFE3936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642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4597A-01BC-8F9D-207E-1F5D48816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CF5065-5831-B299-6406-9977146C4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BE3555-EC95-EA43-9226-5EE41E0E8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672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19B92-34EC-FEDA-2C61-E8CCF2A79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AD0AC5-F6F5-47CD-1132-7FE9939F0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0584B9-B1D9-856A-D62F-AFC1AAF23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5480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2C3EB-6A28-9976-3AF9-92062A64F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9FCE1F-6193-8557-19A2-336AEB0FB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DA7313-4308-D9EE-D898-E6A1D1D41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7795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8036" y="3973882"/>
            <a:ext cx="9543964" cy="2418014"/>
          </a:xfrm>
        </p:spPr>
        <p:txBody>
          <a:bodyPr anchor="ctr">
            <a:normAutofit/>
          </a:bodyPr>
          <a:lstStyle>
            <a:lvl1pPr>
              <a:defRPr lang="en-US" sz="5400" kern="1200" dirty="0">
                <a:solidFill>
                  <a:srgbClr val="DBDBD3"/>
                </a:solidFill>
                <a:effectLst/>
                <a:latin typeface="Montserrat Light" panose="020F0502020204030204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50725" y="1785939"/>
            <a:ext cx="10893599" cy="215722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8000">
                <a:solidFill>
                  <a:srgbClr val="DBDBD3"/>
                </a:solidFill>
                <a:effectLst/>
                <a:latin typeface="Montserrat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42055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pisod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47549"/>
            <a:ext cx="10528300" cy="2165227"/>
          </a:xfrm>
        </p:spPr>
        <p:txBody>
          <a:bodyPr anchor="b">
            <a:normAutofit/>
          </a:bodyPr>
          <a:lstStyle>
            <a:lvl1pPr>
              <a:defRPr lang="en-US" sz="6000" kern="1200" dirty="0">
                <a:solidFill>
                  <a:srgbClr val="DBDBD3"/>
                </a:solidFill>
                <a:effectLst/>
                <a:latin typeface="Montserrat SemiBold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88024" y="3926179"/>
            <a:ext cx="8572126" cy="12776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rgbClr val="DBDBD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5B1BE48-3928-45FD-AC35-DC23102077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8024" y="5273714"/>
            <a:ext cx="8621504" cy="128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rgbClr val="DBDBD3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DBAD4-865A-48F1-9D57-A0A0884E5B24}"/>
              </a:ext>
            </a:extLst>
          </p:cNvPr>
          <p:cNvSpPr txBox="1"/>
          <p:nvPr userDrawn="1"/>
        </p:nvSpPr>
        <p:spPr>
          <a:xfrm>
            <a:off x="831850" y="3942015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B5C9B9-B706-4569-8001-ADF6E33FC5F4}"/>
              </a:ext>
            </a:extLst>
          </p:cNvPr>
          <p:cNvSpPr txBox="1"/>
          <p:nvPr userDrawn="1"/>
        </p:nvSpPr>
        <p:spPr>
          <a:xfrm>
            <a:off x="831850" y="3926179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36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title: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9D5751-21D0-4756-861B-745D9EA18277}"/>
              </a:ext>
            </a:extLst>
          </p:cNvPr>
          <p:cNvSpPr txBox="1"/>
          <p:nvPr userDrawn="1"/>
        </p:nvSpPr>
        <p:spPr>
          <a:xfrm>
            <a:off x="831850" y="5280317"/>
            <a:ext cx="2027891" cy="12745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Objective:</a:t>
            </a:r>
          </a:p>
        </p:txBody>
      </p:sp>
    </p:spTree>
    <p:extLst>
      <p:ext uri="{BB962C8B-B14F-4D97-AF65-F5344CB8AC3E}">
        <p14:creationId xmlns:p14="http://schemas.microsoft.com/office/powerpoint/2010/main" val="3287370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One-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9882"/>
            <a:ext cx="9845842" cy="1165455"/>
          </a:xfrm>
        </p:spPr>
        <p:txBody>
          <a:bodyPr/>
          <a:lstStyle>
            <a:lvl1pPr>
              <a:defRPr u="sng">
                <a:solidFill>
                  <a:srgbClr val="DBDBD3"/>
                </a:solidFill>
              </a:defRPr>
            </a:lvl1pPr>
          </a:lstStyle>
          <a:p>
            <a:r>
              <a:rPr lang="en-US"/>
              <a:t>Click To Edit One-Line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391433"/>
            <a:ext cx="10515600" cy="4470748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1681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668"/>
            <a:ext cx="9630103" cy="1325563"/>
          </a:xfrm>
        </p:spPr>
        <p:txBody>
          <a:bodyPr>
            <a:normAutofit/>
          </a:bodyPr>
          <a:lstStyle>
            <a:lvl1pPr>
              <a:defRPr sz="4200" u="sng"/>
            </a:lvl1pPr>
          </a:lstStyle>
          <a:p>
            <a:r>
              <a:rPr lang="en-US"/>
              <a:t>Click to Edit Two-Line Full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17525"/>
            <a:ext cx="10515600" cy="405112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779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One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57F8-2206-4304-B33D-58B55A3BF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583" y="548753"/>
            <a:ext cx="7067238" cy="633011"/>
          </a:xfrm>
        </p:spPr>
        <p:txBody>
          <a:bodyPr anchor="t">
            <a:noAutofit/>
          </a:bodyPr>
          <a:lstStyle>
            <a:lvl1pPr algn="l">
              <a:defRPr sz="4400" u="sng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4D5B110-EBDF-7845-ABA8-800A1AB89C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133" cy="45265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8925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749ED4-5ED2-92BC-C279-8DFEAD08A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325563"/>
          </a:xfrm>
        </p:spPr>
        <p:txBody>
          <a:bodyPr>
            <a:normAutofit/>
          </a:bodyPr>
          <a:lstStyle>
            <a:lvl1pPr>
              <a:defRPr sz="4400" u="sng">
                <a:latin typeface="Montserrat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F4825-B89B-CEE8-4FA4-90A1337C09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2070101"/>
            <a:ext cx="7067550" cy="37732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0006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41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02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C77335-E9FF-4113-A0BC-8AA8EE480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98458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BB5DD-2E34-1CED-3F24-0762D9A64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6861"/>
            <a:ext cx="10515600" cy="430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9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70" r:id="rId7"/>
    <p:sldLayoutId id="214748367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DBDBD3"/>
          </a:solidFill>
          <a:effectLst/>
          <a:latin typeface="Montserrat SemiBold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400"/>
        </a:spcAft>
        <a:buFont typeface="Arial" panose="020B0604020202020204" pitchFamily="34" charset="0"/>
        <a:buNone/>
        <a:defRPr sz="4000" kern="1200">
          <a:solidFill>
            <a:srgbClr val="DBDBD3"/>
          </a:solidFill>
          <a:latin typeface="Montserrat" pitchFamily="2" charset="0"/>
          <a:ea typeface="+mn-ea"/>
          <a:cs typeface="Arial" panose="020B0604020202020204" pitchFamily="34" charset="0"/>
        </a:defRPr>
      </a:lvl1pPr>
      <a:lvl2pPr marL="746125" indent="-288925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36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SzPct val="60000"/>
        <a:buFont typeface="Montserrat" pitchFamily="2" charset="0"/>
        <a:buChar char="–"/>
        <a:defRPr sz="32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dirty="0" err="1"/>
              <a:t>IoA</a:t>
            </a:r>
            <a:r>
              <a:rPr lang="en-US"/>
              <a:t> Networks</a:t>
            </a:r>
            <a:endParaRPr lang="en-US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</a:t>
            </a:r>
            <a:r>
              <a:rPr lang="en-US" dirty="0">
                <a:latin typeface="Montserrat SemiBold"/>
                <a:cs typeface="Arial"/>
              </a:rPr>
              <a:t>06</a:t>
            </a:r>
            <a:endParaRPr lang="en-US" noProof="0" dirty="0">
              <a:latin typeface="Montserrat Semi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058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995D7-693A-CC05-54DE-9EA6CFD8F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952AC2-32D2-0985-EC91-3BD55046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Network</a:t>
            </a:r>
            <a:br>
              <a:rPr lang="en-US" noProof="0" dirty="0"/>
            </a:br>
            <a:r>
              <a:rPr lang="en-US" noProof="0" dirty="0"/>
              <a:t>Enumeration Activity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369955-4FB8-3BEA-B727-532BA6EEEE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Lists systems on a network</a:t>
            </a:r>
          </a:p>
          <a:p>
            <a:r>
              <a:rPr lang="en-US" dirty="0"/>
              <a:t>Identifies unauthorized devices</a:t>
            </a:r>
          </a:p>
          <a:p>
            <a:r>
              <a:rPr lang="en-US" noProof="0" dirty="0"/>
              <a:t>Detects unknown users</a:t>
            </a:r>
          </a:p>
          <a:p>
            <a:r>
              <a:rPr lang="en-US" dirty="0"/>
              <a:t>Supports network visibility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85256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166FB-0B67-BE39-7D9E-A404C593C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14F308-C95B-E468-7F2E-C59C54B4E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Unauthorized Devices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32EEC5E-A0DD-641F-FA1B-16AFE3816B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New systems                          require investigation</a:t>
            </a:r>
          </a:p>
          <a:p>
            <a:r>
              <a:rPr lang="en-US" dirty="0"/>
              <a:t>Must be properly procured</a:t>
            </a:r>
          </a:p>
          <a:p>
            <a:r>
              <a:rPr lang="en-US" noProof="0" dirty="0"/>
              <a:t>Unapproved </a:t>
            </a:r>
            <a:r>
              <a:rPr lang="en-US" dirty="0"/>
              <a:t>devices                    are suspicious</a:t>
            </a:r>
          </a:p>
          <a:p>
            <a:r>
              <a:rPr lang="en-US" noProof="0" dirty="0"/>
              <a:t>Indicates potential intrusion</a:t>
            </a:r>
          </a:p>
        </p:txBody>
      </p:sp>
    </p:spTree>
    <p:extLst>
      <p:ext uri="{BB962C8B-B14F-4D97-AF65-F5344CB8AC3E}">
        <p14:creationId xmlns:p14="http://schemas.microsoft.com/office/powerpoint/2010/main" val="2276225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4DB20-5CE9-22C9-43E6-E7ECC7EB3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46CE87-86D1-56B0-E7D2-35FC55F38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Anomalous</a:t>
            </a:r>
            <a:br>
              <a:rPr lang="en-US" noProof="0" dirty="0"/>
            </a:br>
            <a:r>
              <a:rPr lang="en-US" noProof="0" dirty="0"/>
              <a:t>Network </a:t>
            </a:r>
            <a:r>
              <a:rPr lang="en-US" noProof="0" dirty="0" err="1"/>
              <a:t>Actvity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BE5F366-90A3-8C2E-93BA-BD83A5B78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Unusual behavior should             be reviewed</a:t>
            </a:r>
          </a:p>
          <a:p>
            <a:r>
              <a:rPr lang="en-US" dirty="0"/>
              <a:t>Deviates from normal operations</a:t>
            </a:r>
          </a:p>
          <a:p>
            <a:r>
              <a:rPr lang="en-US" noProof="0" dirty="0"/>
              <a:t>May not always be malicious</a:t>
            </a:r>
          </a:p>
          <a:p>
            <a:r>
              <a:rPr lang="en-US" dirty="0"/>
              <a:t>Requires investigation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62228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90AED-60BD-5427-CF4E-264896C0C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5C6449-3EE4-5832-89A7-83DC4184B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Baseline Monitoring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B74D8FB-A065-705C-30AA-A3C85AD288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Establish normal                 network behavior</a:t>
            </a:r>
          </a:p>
          <a:p>
            <a:r>
              <a:rPr lang="en-US" dirty="0"/>
              <a:t>Detect deviations from baseline</a:t>
            </a:r>
          </a:p>
          <a:p>
            <a:r>
              <a:rPr lang="en-US" dirty="0"/>
              <a:t>Supports anomaly detection</a:t>
            </a:r>
          </a:p>
          <a:p>
            <a:r>
              <a:rPr lang="en-US" noProof="0" dirty="0"/>
              <a:t>Improves monitoring accuracy</a:t>
            </a:r>
          </a:p>
        </p:txBody>
      </p:sp>
    </p:spTree>
    <p:extLst>
      <p:ext uri="{BB962C8B-B14F-4D97-AF65-F5344CB8AC3E}">
        <p14:creationId xmlns:p14="http://schemas.microsoft.com/office/powerpoint/2010/main" val="2574955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37497-6ABD-AE06-ED21-FE8E373F7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17EFD2-F3D4-168A-5AC8-E0D41B87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Common</a:t>
            </a:r>
            <a:br>
              <a:rPr lang="en-US" noProof="0" dirty="0"/>
            </a:br>
            <a:r>
              <a:rPr lang="en-US" noProof="0" dirty="0"/>
              <a:t>Network Ports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69B52E1-4153-BFED-70D9-CEF8741B9E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Many ports available</a:t>
            </a:r>
          </a:p>
          <a:p>
            <a:pPr lvl="0"/>
            <a:r>
              <a:rPr lang="en-US" dirty="0"/>
              <a:t>Key ports to recognize</a:t>
            </a:r>
          </a:p>
          <a:p>
            <a:pPr lvl="1"/>
            <a:r>
              <a:rPr lang="en-US" dirty="0"/>
              <a:t>80 – HTTP</a:t>
            </a:r>
          </a:p>
          <a:p>
            <a:pPr lvl="1"/>
            <a:r>
              <a:rPr lang="en-US" dirty="0"/>
              <a:t>443 – HTTPS</a:t>
            </a:r>
          </a:p>
          <a:p>
            <a:pPr lvl="1"/>
            <a:r>
              <a:rPr lang="en-US" dirty="0"/>
              <a:t>22 – SSH</a:t>
            </a:r>
          </a:p>
          <a:p>
            <a:pPr lvl="0"/>
            <a:r>
              <a:rPr lang="en-US" dirty="0"/>
              <a:t>Used in network communication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04653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DE792-5E27-D4EF-42E2-017C3B39C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D07939-A6B3-E170-B976-E03658F7C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Indicators of</a:t>
            </a:r>
            <a:br>
              <a:rPr lang="en-US" noProof="0" dirty="0"/>
            </a:br>
            <a:r>
              <a:rPr lang="en-US" noProof="0" dirty="0"/>
              <a:t>Network Attacks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F125A85-D872-80FB-D36C-7754645C9E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signs of activity</a:t>
            </a:r>
          </a:p>
          <a:p>
            <a:r>
              <a:rPr lang="en-US" noProof="0" dirty="0"/>
              <a:t>Requires monitoring and analysis</a:t>
            </a:r>
          </a:p>
          <a:p>
            <a:r>
              <a:rPr lang="en-US" dirty="0"/>
              <a:t>Detection based on anomalies</a:t>
            </a:r>
          </a:p>
          <a:p>
            <a:r>
              <a:rPr lang="en-US" dirty="0"/>
              <a:t>Key for threat </a:t>
            </a:r>
            <a:r>
              <a:rPr lang="en-US" dirty="0" err="1"/>
              <a:t>identfication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430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dirty="0" err="1"/>
              <a:t>IoA</a:t>
            </a:r>
            <a:r>
              <a:rPr lang="en-US" dirty="0"/>
              <a:t> - IAM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</a:t>
            </a:r>
            <a:r>
              <a:rPr lang="en-US" dirty="0">
                <a:latin typeface="Montserrat SemiBold"/>
                <a:cs typeface="Arial"/>
              </a:rPr>
              <a:t>06</a:t>
            </a:r>
            <a:endParaRPr lang="en-US" noProof="0" dirty="0">
              <a:latin typeface="Montserrat Semi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3279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88A7D-18CB-D5F7-90AB-9413F2866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8597E2-7FAF-DF47-DFE7-C47129C36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IAM</a:t>
            </a:r>
            <a:br>
              <a:rPr lang="en-US" noProof="0" dirty="0"/>
            </a:br>
            <a:r>
              <a:rPr lang="en-US" noProof="0" dirty="0"/>
              <a:t>Account Compromise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69E06AB-9975-3E82-9564-FD2DEB5BEC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User accounts are                primary targets</a:t>
            </a:r>
          </a:p>
          <a:p>
            <a:r>
              <a:rPr lang="en-US" dirty="0"/>
              <a:t>Attackers seek credential access</a:t>
            </a:r>
          </a:p>
          <a:p>
            <a:r>
              <a:rPr lang="en-US" noProof="0" dirty="0"/>
              <a:t>Enables unauthorized          system entry</a:t>
            </a:r>
          </a:p>
          <a:p>
            <a:r>
              <a:rPr lang="en-US" dirty="0"/>
              <a:t>Leads to broader compromise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35583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9F668-1431-EB8E-2245-4FDFE1698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5C9A27-649C-AFBB-DC3B-7416C6B78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Unauthorized Access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56FFA47-0401-D41A-5D80-6F72B3FB8D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Access beyond normal privileges</a:t>
            </a:r>
          </a:p>
          <a:p>
            <a:r>
              <a:rPr lang="en-US" dirty="0"/>
              <a:t>Unexpected file or service usage</a:t>
            </a:r>
          </a:p>
          <a:p>
            <a:r>
              <a:rPr lang="en-US" noProof="0" dirty="0"/>
              <a:t>Deviates from user behavior</a:t>
            </a:r>
          </a:p>
          <a:p>
            <a:r>
              <a:rPr lang="en-US" dirty="0"/>
              <a:t>Indicates misuse of account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84266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AB314-1B77-0AE1-6D8F-2B2513C1B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A86C38-9665-8D29-779B-7A353F0CB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Privilege Escalation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9F5A98-7166-6993-F6BB-EAD330C6AF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Elevates access beyond user level</a:t>
            </a:r>
          </a:p>
          <a:p>
            <a:r>
              <a:rPr lang="en-US" dirty="0"/>
              <a:t>Common attacker objective</a:t>
            </a:r>
          </a:p>
          <a:p>
            <a:r>
              <a:rPr lang="en-US" dirty="0"/>
              <a:t>Expands control within system</a:t>
            </a:r>
          </a:p>
          <a:p>
            <a:r>
              <a:rPr lang="en-US" noProof="0" dirty="0"/>
              <a:t>Enables further compromise</a:t>
            </a:r>
          </a:p>
        </p:txBody>
      </p:sp>
    </p:spTree>
    <p:extLst>
      <p:ext uri="{BB962C8B-B14F-4D97-AF65-F5344CB8AC3E}">
        <p14:creationId xmlns:p14="http://schemas.microsoft.com/office/powerpoint/2010/main" val="3363597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78CC1-9147-B6F7-CD64-6A6972458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12CC02-9B7F-83B0-3CCC-2EE4497C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Impossible Travel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326398E-A189-2A50-9031-362C1C3F32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Logins from distant locations</a:t>
            </a:r>
          </a:p>
          <a:p>
            <a:r>
              <a:rPr lang="en-US" noProof="0" dirty="0"/>
              <a:t>Occur within                     unrealistic timeframes</a:t>
            </a:r>
          </a:p>
          <a:p>
            <a:r>
              <a:rPr lang="en-US" dirty="0"/>
              <a:t>Indicates account compromise</a:t>
            </a:r>
          </a:p>
          <a:p>
            <a:r>
              <a:rPr lang="en-US" noProof="0" dirty="0"/>
              <a:t>Requires investigation</a:t>
            </a:r>
          </a:p>
        </p:txBody>
      </p:sp>
    </p:spTree>
    <p:extLst>
      <p:ext uri="{BB962C8B-B14F-4D97-AF65-F5344CB8AC3E}">
        <p14:creationId xmlns:p14="http://schemas.microsoft.com/office/powerpoint/2010/main" val="3234071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 err="1"/>
              <a:t>IoA</a:t>
            </a:r>
            <a:r>
              <a:rPr lang="en-US" noProof="0" dirty="0"/>
              <a:t> </a:t>
            </a:r>
            <a:r>
              <a:rPr lang="en-US" dirty="0"/>
              <a:t>H</a:t>
            </a:r>
            <a:r>
              <a:rPr lang="en-US" noProof="0" dirty="0" err="1"/>
              <a:t>osts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</a:t>
            </a:r>
            <a:r>
              <a:rPr lang="en-US" dirty="0">
                <a:latin typeface="Montserrat SemiBold"/>
                <a:cs typeface="Arial"/>
              </a:rPr>
              <a:t>06</a:t>
            </a:r>
            <a:endParaRPr lang="en-US" noProof="0" dirty="0">
              <a:latin typeface="Montserrat Semi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9990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B4764-6F56-3476-392E-8CA8413ED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AEF95E-4AA4-09F4-C732-906421DE1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/>
              <a:t>Resource Consumption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11C210E-73D5-51DB-EA6D-BA2F239880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en-US" noProof="0" dirty="0">
                <a:latin typeface="Montserrat"/>
                <a:cs typeface="Arial"/>
              </a:rPr>
              <a:t>Not </a:t>
            </a:r>
            <a:r>
              <a:rPr lang="en-US" noProof="0">
                <a:latin typeface="Montserrat"/>
                <a:cs typeface="Arial"/>
              </a:rPr>
              <a:t>all resource-heavy processes are </a:t>
            </a:r>
            <a:r>
              <a:rPr lang="en-US" noProof="0" dirty="0">
                <a:latin typeface="Montserrat"/>
                <a:cs typeface="Arial"/>
              </a:rPr>
              <a:t>malicious — browsers, video editors, </a:t>
            </a:r>
            <a:r>
              <a:rPr lang="en-US" noProof="0">
                <a:latin typeface="Montserrat"/>
                <a:cs typeface="Arial"/>
              </a:rPr>
              <a:t>and </a:t>
            </a:r>
            <a:r>
              <a:rPr lang="en-US" noProof="0" dirty="0">
                <a:latin typeface="Montserrat"/>
                <a:cs typeface="Arial"/>
              </a:rPr>
              <a:t>ML models</a:t>
            </a:r>
            <a:r>
              <a:rPr lang="en-US" noProof="0">
                <a:latin typeface="Montserrat"/>
                <a:cs typeface="Arial"/>
              </a:rPr>
              <a:t> are common culprits</a:t>
            </a:r>
            <a:endParaRPr lang="en-US" noProof="0" dirty="0">
              <a:latin typeface="Montserrat"/>
              <a:cs typeface="Arial"/>
            </a:endParaRPr>
          </a:p>
          <a:p>
            <a:pPr lvl="1"/>
            <a:r>
              <a:rPr lang="en-US" noProof="0" dirty="0"/>
              <a:t>Investigate when usage starts interfering with normal operations</a:t>
            </a:r>
          </a:p>
        </p:txBody>
      </p:sp>
    </p:spTree>
    <p:extLst>
      <p:ext uri="{BB962C8B-B14F-4D97-AF65-F5344CB8AC3E}">
        <p14:creationId xmlns:p14="http://schemas.microsoft.com/office/powerpoint/2010/main" val="538782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15A0E-340F-BD01-17D3-4B371F394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582F1F-B4B9-4220-C98E-F6799D334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Baseline Images and Unauthorized Configuration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5D2635C-1706-A748-2947-C0060505C2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noProof="0" dirty="0">
                <a:latin typeface="Montserrat" pitchFamily="2" charset="77"/>
              </a:rPr>
              <a:t>Standard system images define the baseline for normal across </a:t>
            </a:r>
            <a:br>
              <a:rPr lang="en-US" noProof="0" dirty="0">
                <a:latin typeface="Montserrat" pitchFamily="2" charset="77"/>
              </a:rPr>
            </a:br>
            <a:r>
              <a:rPr lang="en-US" noProof="0" dirty="0">
                <a:latin typeface="Montserrat" pitchFamily="2" charset="77"/>
              </a:rPr>
              <a:t>an organization</a:t>
            </a:r>
          </a:p>
          <a:p>
            <a:pPr marL="457200" lvl="1" indent="0">
              <a:buNone/>
            </a:pPr>
            <a:r>
              <a:rPr lang="en-US" noProof="0" dirty="0">
                <a:latin typeface="Montserrat" pitchFamily="2" charset="77"/>
              </a:rPr>
              <a:t>Deviations like disabled security tools or non-company DNS signal unauthorized changes</a:t>
            </a:r>
          </a:p>
        </p:txBody>
      </p:sp>
    </p:spTree>
    <p:extLst>
      <p:ext uri="{BB962C8B-B14F-4D97-AF65-F5344CB8AC3E}">
        <p14:creationId xmlns:p14="http://schemas.microsoft.com/office/powerpoint/2010/main" val="3625623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0A5E4-7045-DEBC-CAB2-EF69E4632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63AE0B-7E5D-E0B3-AD1F-2C338F9E1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Unauthorized Software and Shadow IT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49BFE10-D762-2D8E-7B25-B5E2F287DD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noProof="0" dirty="0">
                <a:latin typeface="Montserrat" pitchFamily="2" charset="77"/>
              </a:rPr>
              <a:t>Unapproved installs raise red flags — unknown source, </a:t>
            </a:r>
            <a:br>
              <a:rPr lang="en-US" noProof="0" dirty="0">
                <a:latin typeface="Montserrat" pitchFamily="2" charset="77"/>
              </a:rPr>
            </a:br>
            <a:r>
              <a:rPr lang="en-US" noProof="0" dirty="0">
                <a:latin typeface="Montserrat" pitchFamily="2" charset="77"/>
              </a:rPr>
              <a:t>unknown vendor</a:t>
            </a:r>
          </a:p>
          <a:p>
            <a:pPr marL="457200" lvl="1" indent="0">
              <a:buNone/>
            </a:pPr>
            <a:r>
              <a:rPr lang="en-US" noProof="0" dirty="0">
                <a:latin typeface="Montserrat" pitchFamily="2" charset="77"/>
              </a:rPr>
              <a:t>Shadow IT: users bypassing policy without understanding the </a:t>
            </a:r>
            <a:br>
              <a:rPr lang="en-US" noProof="0" dirty="0">
                <a:latin typeface="Montserrat" pitchFamily="2" charset="77"/>
              </a:rPr>
            </a:br>
            <a:r>
              <a:rPr lang="en-US" noProof="0" dirty="0">
                <a:latin typeface="Montserrat" pitchFamily="2" charset="77"/>
              </a:rPr>
              <a:t>security risks</a:t>
            </a:r>
          </a:p>
        </p:txBody>
      </p:sp>
    </p:spTree>
    <p:extLst>
      <p:ext uri="{BB962C8B-B14F-4D97-AF65-F5344CB8AC3E}">
        <p14:creationId xmlns:p14="http://schemas.microsoft.com/office/powerpoint/2010/main" val="3688021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221B0-8872-F214-3E73-2C873EDBF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E4105E-14DF-635E-52DA-8E9EFC703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/>
              <a:t>Rogue Processes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0BE6081-83C9-4C04-42F6-334EA99995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en-US" noProof="0">
                <a:latin typeface="Montserrat" pitchFamily="2" charset="77"/>
                <a:cs typeface="Arial"/>
              </a:rPr>
              <a:t>Standardized </a:t>
            </a:r>
            <a:r>
              <a:rPr lang="en-US" noProof="0" dirty="0">
                <a:latin typeface="Montserrat" pitchFamily="2" charset="77"/>
                <a:cs typeface="Arial"/>
              </a:rPr>
              <a:t>OS </a:t>
            </a:r>
            <a:r>
              <a:rPr lang="en-US" noProof="0">
                <a:latin typeface="Montserrat" pitchFamily="2" charset="77"/>
                <a:cs typeface="Arial"/>
              </a:rPr>
              <a:t>images mean consistent </a:t>
            </a:r>
            <a:r>
              <a:rPr lang="en-US" noProof="0" dirty="0">
                <a:latin typeface="Montserrat" pitchFamily="2" charset="77"/>
                <a:cs typeface="Arial"/>
              </a:rPr>
              <a:t>processes — outliers are red flags</a:t>
            </a:r>
          </a:p>
          <a:p>
            <a:pPr marL="457200" lvl="1" indent="0">
              <a:buNone/>
            </a:pPr>
            <a:r>
              <a:rPr lang="en-US" noProof="0" dirty="0">
                <a:latin typeface="Montserrat" pitchFamily="2" charset="77"/>
              </a:rPr>
              <a:t>Attackers mimic names like </a:t>
            </a:r>
            <a:r>
              <a:rPr lang="en-US" noProof="0" dirty="0" err="1">
                <a:latin typeface="Montserrat" pitchFamily="2" charset="77"/>
              </a:rPr>
              <a:t>svchost</a:t>
            </a:r>
            <a:r>
              <a:rPr lang="en-US" noProof="0" dirty="0">
                <a:latin typeface="Montserrat" pitchFamily="2" charset="77"/>
              </a:rPr>
              <a:t>, swapping characters (O for zero) to blend in</a:t>
            </a:r>
          </a:p>
        </p:txBody>
      </p:sp>
    </p:spTree>
    <p:extLst>
      <p:ext uri="{BB962C8B-B14F-4D97-AF65-F5344CB8AC3E}">
        <p14:creationId xmlns:p14="http://schemas.microsoft.com/office/powerpoint/2010/main" val="1607781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0529C-86AE-ADB1-9664-19680331B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BCB2C8-98FF-9FD8-72A0-74CF158F7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/>
              <a:t>LOLBins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4512869-6B07-1FC3-0549-A4127F779F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en-US" noProof="0" dirty="0">
                <a:latin typeface="Montserrat"/>
                <a:cs typeface="Arial"/>
              </a:rPr>
              <a:t>Attackers use built-in tools like PowerShell and </a:t>
            </a:r>
            <a:r>
              <a:rPr lang="en-US" noProof="0" dirty="0" err="1">
                <a:latin typeface="Montserrat"/>
                <a:cs typeface="Arial"/>
              </a:rPr>
              <a:t>cmd</a:t>
            </a:r>
            <a:r>
              <a:rPr lang="en-US" noProof="0" dirty="0">
                <a:latin typeface="Montserrat"/>
                <a:cs typeface="Arial"/>
              </a:rPr>
              <a:t> already on </a:t>
            </a:r>
            <a:br>
              <a:rPr lang="en-US" noProof="0" dirty="0">
                <a:latin typeface="Montserrat"/>
                <a:cs typeface="Arial"/>
              </a:rPr>
            </a:br>
            <a:r>
              <a:rPr lang="en-US" noProof="0" dirty="0">
                <a:latin typeface="Montserrat"/>
                <a:cs typeface="Arial"/>
              </a:rPr>
              <a:t>the system</a:t>
            </a:r>
          </a:p>
          <a:p>
            <a:pPr lvl="1"/>
            <a:r>
              <a:rPr lang="en-US" noProof="0" dirty="0"/>
              <a:t>Legitimate admin tools won’t trigger alerts, making them ideal for attackers</a:t>
            </a:r>
          </a:p>
        </p:txBody>
      </p:sp>
    </p:spTree>
    <p:extLst>
      <p:ext uri="{BB962C8B-B14F-4D97-AF65-F5344CB8AC3E}">
        <p14:creationId xmlns:p14="http://schemas.microsoft.com/office/powerpoint/2010/main" val="1185388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7BD54-E074-3457-05BA-65FFD5388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9E3512-E489-FA27-DDF3-7D6EE320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/>
              <a:t>Monitoring Critical Files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D581D95-8353-ADE6-36C1-3D44BFFDB6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en-US" noProof="0">
                <a:latin typeface="Montserrat"/>
                <a:cs typeface="Arial"/>
              </a:rPr>
              <a:t>Monitor </a:t>
            </a:r>
            <a:r>
              <a:rPr lang="en-US" noProof="0" dirty="0">
                <a:latin typeface="Montserrat"/>
                <a:cs typeface="Arial"/>
              </a:rPr>
              <a:t>the Windows registry and hosts file</a:t>
            </a:r>
            <a:r>
              <a:rPr lang="en-US" noProof="0">
                <a:latin typeface="Montserrat"/>
                <a:cs typeface="Arial"/>
              </a:rPr>
              <a:t> for unauthorized changes</a:t>
            </a:r>
            <a:endParaRPr lang="en-US" noProof="0" dirty="0">
              <a:latin typeface="Montserrat"/>
              <a:cs typeface="Arial"/>
            </a:endParaRPr>
          </a:p>
          <a:p>
            <a:pPr lvl="1"/>
            <a:r>
              <a:rPr lang="en-US" noProof="0" dirty="0"/>
              <a:t>The hosts file overrides DNS — attackers alter it to redirect traffic to malicious sites</a:t>
            </a:r>
          </a:p>
          <a:p>
            <a:pPr lvl="1"/>
            <a:r>
              <a:rPr lang="en-US" noProof="0"/>
              <a:t>Entries resolve locally</a:t>
            </a:r>
            <a:r>
              <a:rPr lang="en-US" noProof="0" dirty="0"/>
              <a:t>, </a:t>
            </a:r>
            <a:r>
              <a:rPr lang="en-US" noProof="0"/>
              <a:t>bypassing </a:t>
            </a:r>
            <a:r>
              <a:rPr lang="en-US" noProof="0" dirty="0"/>
              <a:t>authoritative DNS</a:t>
            </a:r>
            <a:r>
              <a:rPr lang="en-US" noProof="0"/>
              <a:t> entirely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08996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9479C-E213-8399-B861-9E8621CFA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F751BF-B169-F539-9641-78BC20B8A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/>
              <a:t>Data Exfiltration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99C4CA7-C7EF-88B4-8D02-6248E4D4B0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en-US" noProof="0" dirty="0">
                <a:latin typeface="Montserrat"/>
                <a:cs typeface="Arial"/>
              </a:rPr>
              <a:t>Attackers stage data in temp folders or the recycle bin </a:t>
            </a:r>
            <a:br>
              <a:rPr lang="en-US" noProof="0" dirty="0">
                <a:latin typeface="Montserrat"/>
                <a:cs typeface="Arial"/>
              </a:rPr>
            </a:br>
            <a:r>
              <a:rPr lang="en-US" noProof="0" dirty="0">
                <a:latin typeface="Montserrat"/>
                <a:cs typeface="Arial"/>
              </a:rPr>
              <a:t>before exfiltrating</a:t>
            </a:r>
          </a:p>
          <a:p>
            <a:pPr lvl="1"/>
            <a:r>
              <a:rPr lang="en-US" noProof="0" dirty="0"/>
              <a:t>Sensitive files piled in one spot on a client warrants </a:t>
            </a:r>
            <a:br>
              <a:rPr lang="en-US" noProof="0" dirty="0"/>
            </a:br>
            <a:r>
              <a:rPr lang="en-US" noProof="0" dirty="0"/>
              <a:t>immediate investigation</a:t>
            </a:r>
          </a:p>
        </p:txBody>
      </p:sp>
    </p:spTree>
    <p:extLst>
      <p:ext uri="{BB962C8B-B14F-4D97-AF65-F5344CB8AC3E}">
        <p14:creationId xmlns:p14="http://schemas.microsoft.com/office/powerpoint/2010/main" val="3502345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AA233-637E-A4B0-60DD-9106BC30F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6DED05-0238-A342-8092-1B5F8FBFD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/>
              <a:t>DNS Data Exfiltration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153F639-4BF5-FCC2-C8EB-C1A246566E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en-US" noProof="0" dirty="0">
                <a:latin typeface="Montserrat"/>
                <a:cs typeface="Arial"/>
              </a:rPr>
              <a:t>Stolen data </a:t>
            </a:r>
            <a:r>
              <a:rPr lang="en-US" noProof="0">
                <a:latin typeface="Montserrat"/>
                <a:cs typeface="Arial"/>
              </a:rPr>
              <a:t>is </a:t>
            </a:r>
            <a:r>
              <a:rPr lang="en-US" noProof="0" dirty="0">
                <a:latin typeface="Montserrat"/>
                <a:cs typeface="Arial"/>
              </a:rPr>
              <a:t>encoded as subdomains in DNS queries — </a:t>
            </a:r>
            <a:r>
              <a:rPr lang="en-US" noProof="0">
                <a:latin typeface="Montserrat"/>
                <a:cs typeface="Arial"/>
              </a:rPr>
              <a:t>e.g., secret.attacker.com</a:t>
            </a:r>
            <a:endParaRPr lang="en-US" noProof="0" dirty="0">
              <a:latin typeface="Montserrat"/>
              <a:cs typeface="Arial"/>
            </a:endParaRPr>
          </a:p>
          <a:p>
            <a:pPr lvl="1"/>
            <a:r>
              <a:rPr lang="en-US" noProof="0" dirty="0"/>
              <a:t>Attackers review their DNS logs to extract </a:t>
            </a:r>
            <a:r>
              <a:rPr lang="en-US" noProof="0"/>
              <a:t>the </a:t>
            </a:r>
            <a:r>
              <a:rPr lang="en-US" noProof="0" dirty="0"/>
              <a:t>queried </a:t>
            </a:r>
            <a:r>
              <a:rPr lang="en-US" noProof="0"/>
              <a:t>subdomains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86491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 err="1"/>
              <a:t>IoA</a:t>
            </a:r>
            <a:r>
              <a:rPr lang="en-US" noProof="0" dirty="0"/>
              <a:t>- Cloud </a:t>
            </a:r>
            <a:r>
              <a:rPr lang="en-US" noProof="0"/>
              <a:t>and Applications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</a:t>
            </a:r>
            <a:r>
              <a:rPr lang="en-US" dirty="0">
                <a:latin typeface="Montserrat SemiBold"/>
                <a:cs typeface="Arial"/>
              </a:rPr>
              <a:t>06</a:t>
            </a:r>
            <a:endParaRPr lang="en-US" noProof="0" dirty="0">
              <a:latin typeface="Montserrat Semi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5608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/>
              <a:t>Service Disruption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noProof="0" dirty="0">
                <a:latin typeface="Montserrat"/>
                <a:cs typeface="Arial"/>
              </a:rPr>
              <a:t>Cloud-hosted applications and services are </a:t>
            </a:r>
            <a:br>
              <a:rPr lang="en-US" b="1" noProof="0" dirty="0">
                <a:latin typeface="Montserrat"/>
                <a:cs typeface="Arial"/>
              </a:rPr>
            </a:br>
            <a:r>
              <a:rPr lang="en-US" b="1" noProof="0" dirty="0">
                <a:latin typeface="Montserrat"/>
                <a:cs typeface="Arial"/>
              </a:rPr>
              <a:t>increasingly targeted</a:t>
            </a:r>
          </a:p>
          <a:p>
            <a:pPr lvl="1"/>
            <a:r>
              <a:rPr lang="en-US" noProof="0" dirty="0"/>
              <a:t>Not every outage is malicious, but every outage should </a:t>
            </a:r>
            <a:br>
              <a:rPr lang="en-US" noProof="0" dirty="0"/>
            </a:br>
            <a:r>
              <a:rPr lang="en-US" noProof="0" dirty="0"/>
              <a:t>be investigated</a:t>
            </a:r>
          </a:p>
          <a:p>
            <a:pPr lvl="1"/>
            <a:r>
              <a:rPr lang="en-US" noProof="0" dirty="0"/>
              <a:t>Maintaining availability requires proactive monitoring of all services</a:t>
            </a:r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/>
              <a:t>Anomalous Activity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noProof="0" dirty="0">
                <a:latin typeface="Montserrat"/>
                <a:cs typeface="Arial"/>
              </a:rPr>
              <a:t>Any out-of-the-norm behavior on cloud services deserves a closer look</a:t>
            </a:r>
          </a:p>
          <a:p>
            <a:pPr lvl="1"/>
            <a:r>
              <a:rPr lang="en-US" noProof="0" dirty="0"/>
              <a:t>It may not be malicious, but it’s worth exploring for </a:t>
            </a:r>
            <a:br>
              <a:rPr lang="en-US" noProof="0" dirty="0"/>
            </a:br>
            <a:r>
              <a:rPr lang="en-US" noProof="0" dirty="0"/>
              <a:t>suspicious patterns</a:t>
            </a:r>
          </a:p>
          <a:p>
            <a:pPr lvl="1"/>
            <a:r>
              <a:rPr lang="en-US" noProof="0" dirty="0"/>
              <a:t>Monitoring helps spot unusual traffic before it becomes a </a:t>
            </a:r>
            <a:br>
              <a:rPr lang="en-US" noProof="0" dirty="0"/>
            </a:br>
            <a:r>
              <a:rPr lang="en-US" noProof="0" dirty="0"/>
              <a:t>larger threat</a:t>
            </a:r>
          </a:p>
        </p:txBody>
      </p:sp>
    </p:spTree>
    <p:extLst>
      <p:ext uri="{BB962C8B-B14F-4D97-AF65-F5344CB8AC3E}">
        <p14:creationId xmlns:p14="http://schemas.microsoft.com/office/powerpoint/2010/main" val="744995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/>
              <a:t>Resource Compromise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noProof="0" dirty="0">
                <a:latin typeface="Montserrat"/>
                <a:cs typeface="Arial"/>
              </a:rPr>
              <a:t>Attackers can gain unauthorized access to your cloud environment</a:t>
            </a:r>
          </a:p>
          <a:p>
            <a:pPr lvl="1"/>
            <a:r>
              <a:rPr lang="en-US" noProof="0" dirty="0"/>
              <a:t>This applies to both local network and cloud-based assets equally</a:t>
            </a:r>
          </a:p>
          <a:p>
            <a:pPr lvl="1"/>
            <a:r>
              <a:rPr lang="en-US" noProof="0" dirty="0"/>
              <a:t>Always be on the lookout for indicators of attack across </a:t>
            </a:r>
            <a:br>
              <a:rPr lang="en-US" noProof="0" dirty="0"/>
            </a:br>
            <a:r>
              <a:rPr lang="en-US" noProof="0" dirty="0"/>
              <a:t>all environments</a:t>
            </a:r>
          </a:p>
        </p:txBody>
      </p:sp>
    </p:spTree>
    <p:extLst>
      <p:ext uri="{BB962C8B-B14F-4D97-AF65-F5344CB8AC3E}">
        <p14:creationId xmlns:p14="http://schemas.microsoft.com/office/powerpoint/2010/main" val="25605385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 err="1"/>
              <a:t>IoA</a:t>
            </a:r>
            <a:r>
              <a:rPr lang="en-US" noProof="0" dirty="0"/>
              <a:t> – Email and Social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06</a:t>
            </a:r>
          </a:p>
        </p:txBody>
      </p:sp>
    </p:spTree>
    <p:extLst>
      <p:ext uri="{BB962C8B-B14F-4D97-AF65-F5344CB8AC3E}">
        <p14:creationId xmlns:p14="http://schemas.microsoft.com/office/powerpoint/2010/main" val="4239668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09338-EB7F-7133-4860-D676309E9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199A04-BC5C-6E08-666E-1953A2FDD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Typosquatting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060D7DA-F5B6-B308-548C-4DBC7D7221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Attacker registers similar domain</a:t>
            </a:r>
          </a:p>
          <a:p>
            <a:r>
              <a:rPr lang="en-US" dirty="0"/>
              <a:t>Mimics legitimate websites</a:t>
            </a:r>
          </a:p>
          <a:p>
            <a:r>
              <a:rPr lang="en-US" noProof="0" dirty="0"/>
              <a:t>Exploits user input errors</a:t>
            </a:r>
          </a:p>
          <a:p>
            <a:r>
              <a:rPr lang="en-US" dirty="0"/>
              <a:t>Captures user credentials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488891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F613D-D7BC-71E1-00FC-40E3279FA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234C6E-0847-FF6D-5D78-FCC08F62E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Typosquatting</a:t>
            </a:r>
            <a:br>
              <a:rPr lang="en-US" dirty="0"/>
            </a:br>
            <a:r>
              <a:rPr lang="en-US" dirty="0"/>
              <a:t>Attack Example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5912D7-21E4-87F2-BFF3-340F61CE63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Slight domain misspellings</a:t>
            </a:r>
          </a:p>
          <a:p>
            <a:r>
              <a:rPr lang="en-US" dirty="0"/>
              <a:t>Users enter                      credentials unknowingly</a:t>
            </a:r>
          </a:p>
          <a:p>
            <a:r>
              <a:rPr lang="en-US" noProof="0" dirty="0"/>
              <a:t>Appears as legitimate service</a:t>
            </a:r>
          </a:p>
          <a:p>
            <a:r>
              <a:rPr lang="en-US" dirty="0"/>
              <a:t>Used to steal account access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244187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4A31C-EEE0-DF2C-4423-BF48F960D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A8CC2A-330A-2C5C-655B-A63B89060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URL Shorteners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A6BE784-E525-37BF-4A20-864E8D0061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Hide destination addresses</a:t>
            </a:r>
          </a:p>
          <a:p>
            <a:r>
              <a:rPr lang="en-US" noProof="0" dirty="0"/>
              <a:t>Mask malicious links</a:t>
            </a:r>
          </a:p>
          <a:p>
            <a:r>
              <a:rPr lang="en-US" dirty="0"/>
              <a:t>Common in phishing attempts</a:t>
            </a:r>
          </a:p>
          <a:p>
            <a:r>
              <a:rPr lang="en-US" noProof="0" dirty="0"/>
              <a:t>Restricted in many organizations</a:t>
            </a:r>
          </a:p>
        </p:txBody>
      </p:sp>
    </p:spTree>
    <p:extLst>
      <p:ext uri="{BB962C8B-B14F-4D97-AF65-F5344CB8AC3E}">
        <p14:creationId xmlns:p14="http://schemas.microsoft.com/office/powerpoint/2010/main" val="40958699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FAF51-6E06-6677-1623-A380A8640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15B9B5-CA28-4C32-26D8-2DCCA4135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URL Lengtheners</a:t>
            </a:r>
            <a:br>
              <a:rPr lang="en-US" dirty="0"/>
            </a:br>
            <a:r>
              <a:rPr lang="en-US" dirty="0"/>
              <a:t>and Defense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AFF0024-3368-9EB2-0737-B882D61501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Reveal actual destination URL</a:t>
            </a:r>
          </a:p>
          <a:p>
            <a:r>
              <a:rPr lang="en-US" dirty="0"/>
              <a:t>Increase user awareness</a:t>
            </a:r>
          </a:p>
          <a:p>
            <a:r>
              <a:rPr lang="en-US" noProof="0" dirty="0"/>
              <a:t>Help validate links</a:t>
            </a:r>
          </a:p>
          <a:p>
            <a:r>
              <a:rPr lang="en-US" dirty="0"/>
              <a:t>Reduce click risk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76203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DD405-3877-C026-49AE-32804B1FE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061423-8911-4DD1-E0F2-00E93CE1F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Business Email Compromise BEC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F85C362-24F6-DD50-F5F9-E27ADAAADA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Targeted email attack</a:t>
            </a:r>
          </a:p>
          <a:p>
            <a:r>
              <a:rPr lang="en-US" noProof="0" dirty="0"/>
              <a:t>Impersonates trusted contacts</a:t>
            </a:r>
          </a:p>
          <a:p>
            <a:r>
              <a:rPr lang="en-US" dirty="0"/>
              <a:t>Exploits business relationships</a:t>
            </a:r>
          </a:p>
          <a:p>
            <a:r>
              <a:rPr lang="en-US" noProof="0" dirty="0"/>
              <a:t>Designed to deceive users</a:t>
            </a:r>
          </a:p>
        </p:txBody>
      </p:sp>
    </p:spTree>
    <p:extLst>
      <p:ext uri="{BB962C8B-B14F-4D97-AF65-F5344CB8AC3E}">
        <p14:creationId xmlns:p14="http://schemas.microsoft.com/office/powerpoint/2010/main" val="390675410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b">
        <a:norm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4B67D360B774FBA94A353DF812505" ma:contentTypeVersion="22" ma:contentTypeDescription="Create a new document." ma:contentTypeScope="" ma:versionID="36ad41d1389f7dc8fcbb5d4285216769">
  <xsd:schema xmlns:xsd="http://www.w3.org/2001/XMLSchema" xmlns:xs="http://www.w3.org/2001/XMLSchema" xmlns:p="http://schemas.microsoft.com/office/2006/metadata/properties" xmlns:ns2="76027dd9-77cd-484f-b6db-8bbe1351c2b5" xmlns:ns3="1046e879-d081-4053-adba-52e34fa7725d" xmlns:ns4="13a0c8d5-cff5-4140-b58f-0947a5552a6a" targetNamespace="http://schemas.microsoft.com/office/2006/metadata/properties" ma:root="true" ma:fieldsID="f2fb244498141b944b4dbc5f58037586" ns2:_="" ns3:_="" ns4:_="">
    <xsd:import namespace="76027dd9-77cd-484f-b6db-8bbe1351c2b5"/>
    <xsd:import namespace="1046e879-d081-4053-adba-52e34fa7725d"/>
    <xsd:import namespace="13a0c8d5-cff5-4140-b58f-0947a5552a6a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KeyPoints" minOccurs="0"/>
                <xsd:element ref="ns2:MediaLengthInSecond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4:SharedWithUsers" minOccurs="0"/>
                <xsd:element ref="ns4:SharedWithDetails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27dd9-77cd-484f-b6db-8bbe1351c2b5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KeyPoints" ma:index="10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815b79-2db2-4fbd-a0c4-bf2740f263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Comments" ma:index="24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6e879-d081-4053-adba-52e34fa7725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d854264f-763b-4eb6-a464-f18878f8c660}" ma:internalName="TaxCatchAll" ma:showField="CatchAllData" ma:web="1046e879-d081-4053-adba-52e34fa7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a0c8d5-cff5-4140-b58f-0947a5552a6a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s xmlns="76027dd9-77cd-484f-b6db-8bbe1351c2b5" xsi:nil="true"/>
    <lcf76f155ced4ddcb4097134ff3c332f xmlns="76027dd9-77cd-484f-b6db-8bbe1351c2b5">
      <Terms xmlns="http://schemas.microsoft.com/office/infopath/2007/PartnerControls"/>
    </lcf76f155ced4ddcb4097134ff3c332f>
    <TaxCatchAll xmlns="1046e879-d081-4053-adba-52e34fa7725d" xsi:nil="true"/>
  </documentManagement>
</p:properties>
</file>

<file path=customXml/itemProps1.xml><?xml version="1.0" encoding="utf-8"?>
<ds:datastoreItem xmlns:ds="http://schemas.openxmlformats.org/officeDocument/2006/customXml" ds:itemID="{D925A222-F9F2-46E3-9309-DF332776EE1C}">
  <ds:schemaRefs>
    <ds:schemaRef ds:uri="1046e879-d081-4053-adba-52e34fa7725d"/>
    <ds:schemaRef ds:uri="13a0c8d5-cff5-4140-b58f-0947a5552a6a"/>
    <ds:schemaRef ds:uri="76027dd9-77cd-484f-b6db-8bbe1351c2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6265556-9F64-45B8-80A5-20FC8B6E91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FFD909-429B-4107-A2B1-C958B91C177D}">
  <ds:schemaRefs>
    <ds:schemaRef ds:uri="http://purl.org/dc/dcmitype/"/>
    <ds:schemaRef ds:uri="http://schemas.microsoft.com/office/2006/metadata/properties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13a0c8d5-cff5-4140-b58f-0947a5552a6a"/>
    <ds:schemaRef ds:uri="http://purl.org/dc/elements/1.1/"/>
    <ds:schemaRef ds:uri="http://schemas.openxmlformats.org/package/2006/metadata/core-properties"/>
    <ds:schemaRef ds:uri="1046e879-d081-4053-adba-52e34fa7725d"/>
    <ds:schemaRef ds:uri="76027dd9-77cd-484f-b6db-8bbe1351c2b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641</Words>
  <Application>Microsoft Office PowerPoint</Application>
  <PresentationFormat>Widescreen</PresentationFormat>
  <Paragraphs>125</Paragraphs>
  <Slides>31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Montserrat</vt:lpstr>
      <vt:lpstr>Montserrat ExtraLight</vt:lpstr>
      <vt:lpstr>Montserrat Light</vt:lpstr>
      <vt:lpstr>Montserrat SemiBold</vt:lpstr>
      <vt:lpstr>Custom Design</vt:lpstr>
      <vt:lpstr>IoA Networks</vt:lpstr>
      <vt:lpstr>Network Enumeration Activity</vt:lpstr>
      <vt:lpstr>Unauthorized Devices</vt:lpstr>
      <vt:lpstr>Anomalous Network Actvity</vt:lpstr>
      <vt:lpstr>Baseline Monitoring</vt:lpstr>
      <vt:lpstr>Common Network Ports</vt:lpstr>
      <vt:lpstr>Indicators of Network Attacks</vt:lpstr>
      <vt:lpstr>IoA - IAM</vt:lpstr>
      <vt:lpstr>IAM Account Compromise</vt:lpstr>
      <vt:lpstr>Unauthorized Access</vt:lpstr>
      <vt:lpstr>Privilege Escalation</vt:lpstr>
      <vt:lpstr>Impossible Travel</vt:lpstr>
      <vt:lpstr>IoA Hosts</vt:lpstr>
      <vt:lpstr>Resource Consumption</vt:lpstr>
      <vt:lpstr>Baseline Images and Unauthorized Configuration</vt:lpstr>
      <vt:lpstr>Unauthorized Software and Shadow IT</vt:lpstr>
      <vt:lpstr>Rogue Processes</vt:lpstr>
      <vt:lpstr>LOLBins</vt:lpstr>
      <vt:lpstr>Monitoring Critical Files</vt:lpstr>
      <vt:lpstr>Data Exfiltration</vt:lpstr>
      <vt:lpstr>DNS Data Exfiltration</vt:lpstr>
      <vt:lpstr>IoA- Cloud and Applications</vt:lpstr>
      <vt:lpstr>Service Disruption</vt:lpstr>
      <vt:lpstr>Anomalous Activity</vt:lpstr>
      <vt:lpstr>Resource Compromise</vt:lpstr>
      <vt:lpstr>IoA – Email and Social Engineering</vt:lpstr>
      <vt:lpstr>Typosquatting</vt:lpstr>
      <vt:lpstr>Typosquatting Attack Example</vt:lpstr>
      <vt:lpstr>URL Shorteners</vt:lpstr>
      <vt:lpstr>URL Lengtheners and Defense</vt:lpstr>
      <vt:lpstr>Business Email Compromise BEC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and Account Management</dc:title>
  <dc:creator>Shannon Lehmer</dc:creator>
  <cp:lastModifiedBy>Dana Barineau</cp:lastModifiedBy>
  <cp:revision>3</cp:revision>
  <dcterms:created xsi:type="dcterms:W3CDTF">2021-01-26T20:17:48Z</dcterms:created>
  <dcterms:modified xsi:type="dcterms:W3CDTF">2026-06-25T20:50:23Z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0x010100C634B67D360B774FBA94A353DF812505</vt:lpwstr>
  </property>
  <property fmtid="{D5CDD505-2E9C-101B-9397-08002B2CF9AE}" pid="3" name="MediaServiceImageTags">
    <vt:lpwstr/>
  </property>
  <property fmtid="{D5CDD505-2E9C-101B-9397-08002B2CF9AE}" pid="4" name="Reviewed">
    <vt:bool>false</vt:bool>
  </property>
  <property fmtid="{D5CDD505-2E9C-101B-9397-08002B2CF9AE}" pid="5" name="Order">
    <vt:r8>6033200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