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6A1E1-EDCB-4DBE-46D0-59F931A21A86}" v="11" dt="2026-05-01T15:57:03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/>
    <p:restoredTop sz="94668"/>
  </p:normalViewPr>
  <p:slideViewPr>
    <p:cSldViewPr snapToGrid="0">
      <p:cViewPr varScale="1">
        <p:scale>
          <a:sx n="61" d="100"/>
          <a:sy n="61" d="100"/>
        </p:scale>
        <p:origin x="90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Incident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16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da-DK">
                <a:latin typeface="Montserrat SemiBold"/>
              </a:rPr>
              <a:t>Preparation and Detection</a:t>
            </a:r>
            <a:endParaRPr lang="en-US">
              <a:latin typeface="Montserrat SemiBold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748481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Preparation happens before an incident strikes.</a:t>
            </a:r>
          </a:p>
          <a:p>
            <a:pPr lvl="1"/>
            <a:r>
              <a:rPr lang="en-US" dirty="0"/>
              <a:t>Firewalls, patching, training, and certs build readiness</a:t>
            </a:r>
          </a:p>
          <a:p>
            <a:pPr lvl="1"/>
            <a:r>
              <a:rPr lang="en-US" dirty="0"/>
              <a:t>Detection means continuous monitoring for suspicious activity</a:t>
            </a:r>
          </a:p>
          <a:p>
            <a:pPr lvl="1"/>
            <a:r>
              <a:rPr lang="en-US" dirty="0"/>
              <a:t>Spot something unusual? Escalate to analysis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da-DK">
                <a:latin typeface="Montserrat SemiBold"/>
              </a:rPr>
              <a:t>Analysis and Triage</a:t>
            </a:r>
            <a:endParaRPr lang="en-US">
              <a:latin typeface="Montserrat SemiBold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Determine whether a detection is truly malicious.</a:t>
            </a:r>
          </a:p>
          <a:p>
            <a:pPr lvl="1"/>
            <a:r>
              <a:rPr lang="en-US" dirty="0"/>
              <a:t>Cross-check findings against threat intelligence</a:t>
            </a:r>
          </a:p>
          <a:p>
            <a:pPr lvl="1"/>
            <a:r>
              <a:rPr lang="en-US" dirty="0"/>
              <a:t>Triage: is this nothing, or something requiring action?</a:t>
            </a:r>
          </a:p>
          <a:p>
            <a:pPr lvl="1"/>
            <a:r>
              <a:rPr lang="en-US" dirty="0"/>
              <a:t>Confirmed? Escalate. Not confirmed? Document </a:t>
            </a:r>
            <a:br>
              <a:rPr lang="en-US" dirty="0"/>
            </a:br>
            <a:r>
              <a:rPr lang="en-US" dirty="0"/>
              <a:t>and monitor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365000"/>
            <a:ext cx="7067238" cy="950000"/>
          </a:xfrm>
        </p:spPr>
        <p:txBody>
          <a:bodyPr/>
          <a:lstStyle/>
          <a:p>
            <a:r>
              <a:rPr lang="da-DK">
                <a:latin typeface="Montserrat SemiBold"/>
              </a:rPr>
              <a:t>Containment and Eradication</a:t>
            </a:r>
            <a:endParaRPr lang="en-US">
              <a:latin typeface="Montserrat SemiBold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630870"/>
            <a:ext cx="7067550" cy="444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Stop the spread, then remove every trace.</a:t>
            </a:r>
          </a:p>
          <a:p>
            <a:pPr lvl="1"/>
            <a:r>
              <a:rPr lang="en-US" dirty="0"/>
              <a:t>Isolate systems — take them offline or cut network access</a:t>
            </a:r>
          </a:p>
          <a:p>
            <a:pPr lvl="1"/>
            <a:r>
              <a:rPr lang="en-US" dirty="0"/>
              <a:t>Assess scope, timeline, and financial impact</a:t>
            </a:r>
          </a:p>
          <a:p>
            <a:pPr lvl="1"/>
            <a:r>
              <a:rPr lang="en-US" dirty="0"/>
              <a:t>Wipe and reimage — one missed backdoor undoes everything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365000"/>
            <a:ext cx="7067238" cy="950000"/>
          </a:xfrm>
        </p:spPr>
        <p:txBody>
          <a:bodyPr/>
          <a:lstStyle/>
          <a:p>
            <a:r>
              <a:rPr lang="da-DK" dirty="0">
                <a:latin typeface="Montserrat SemiBold"/>
              </a:rPr>
              <a:t>Recovery and </a:t>
            </a:r>
            <a:br>
              <a:rPr lang="da-DK" dirty="0">
                <a:latin typeface="Montserrat SemiBold"/>
              </a:rPr>
            </a:br>
            <a:r>
              <a:rPr lang="da-DK" dirty="0" err="1">
                <a:latin typeface="Montserrat SemiBold"/>
              </a:rPr>
              <a:t>Lessons</a:t>
            </a:r>
            <a:r>
              <a:rPr lang="da-DK" dirty="0">
                <a:latin typeface="Montserrat SemiBold"/>
              </a:rPr>
              <a:t> Learned</a:t>
            </a:r>
            <a:endParaRPr lang="en-US" dirty="0">
              <a:latin typeface="Montserrat SemiBold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560532"/>
            <a:ext cx="7067550" cy="444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Restore operations, then document what happened.</a:t>
            </a:r>
          </a:p>
          <a:p>
            <a:pPr lvl="1"/>
            <a:r>
              <a:rPr lang="en-US" dirty="0"/>
              <a:t>Restore OS, recover data, return systems to normal</a:t>
            </a:r>
          </a:p>
          <a:p>
            <a:pPr lvl="1"/>
            <a:r>
              <a:rPr lang="en-US" dirty="0"/>
              <a:t>Lessons learned: facts only, no blame, log hours not dollars</a:t>
            </a:r>
          </a:p>
          <a:p>
            <a:pPr lvl="1"/>
            <a:r>
              <a:rPr lang="en-US" dirty="0"/>
              <a:t>Write for your future self — what worked and why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Incident Response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16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143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400000"/>
            <a:ext cx="7067238" cy="960000"/>
          </a:xfrm>
        </p:spPr>
        <p:txBody>
          <a:bodyPr>
            <a:normAutofit fontScale="90000"/>
          </a:bodyPr>
          <a:lstStyle/>
          <a:p>
            <a:r>
              <a:rPr lang="en-US" noProof="0"/>
              <a:t>The Weight of the Word “Incident”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Declaring an “incident” triggers mandatory reporting</a:t>
            </a:r>
          </a:p>
          <a:p>
            <a:r>
              <a:rPr lang="en-US" noProof="0" dirty="0">
                <a:latin typeface="Montserrat"/>
                <a:cs typeface="Arial"/>
              </a:rPr>
              <a:t>Teams use softer terms until a senior leader makes the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formal call</a:t>
            </a:r>
          </a:p>
        </p:txBody>
      </p:sp>
    </p:spTree>
    <p:extLst>
      <p:ext uri="{BB962C8B-B14F-4D97-AF65-F5344CB8AC3E}">
        <p14:creationId xmlns:p14="http://schemas.microsoft.com/office/powerpoint/2010/main" val="187622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400000"/>
            <a:ext cx="7067238" cy="960000"/>
          </a:xfrm>
        </p:spPr>
        <p:txBody>
          <a:bodyPr>
            <a:normAutofit fontScale="90000"/>
          </a:bodyPr>
          <a:lstStyle/>
          <a:p>
            <a:r>
              <a:rPr lang="en-US" noProof="0"/>
              <a:t>Activating the Communications Plan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Pre-built comms plan activates immediately on declaration</a:t>
            </a:r>
          </a:p>
          <a:p>
            <a:r>
              <a:rPr lang="en-US" noProof="0" dirty="0">
                <a:latin typeface="Montserrat"/>
                <a:cs typeface="Arial"/>
              </a:rPr>
              <a:t>Legal, PR, regulators, and law enforcement briefed on need-to-know basis</a:t>
            </a:r>
          </a:p>
        </p:txBody>
      </p:sp>
    </p:spTree>
    <p:extLst>
      <p:ext uri="{BB962C8B-B14F-4D97-AF65-F5344CB8AC3E}">
        <p14:creationId xmlns:p14="http://schemas.microsoft.com/office/powerpoint/2010/main" val="190190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400000"/>
            <a:ext cx="7067238" cy="960000"/>
          </a:xfrm>
        </p:spPr>
        <p:txBody>
          <a:bodyPr>
            <a:normAutofit fontScale="90000"/>
          </a:bodyPr>
          <a:lstStyle/>
          <a:p>
            <a:r>
              <a:rPr lang="en-US" noProof="0"/>
              <a:t>What Stakeholders Want to Know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noProof="0" dirty="0">
                <a:latin typeface="Montserrat"/>
                <a:cs typeface="Arial"/>
              </a:rPr>
              <a:t>Legal: accountability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PR: damage control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and messaging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Regulators: root cause Customers: data safety assurance</a:t>
            </a:r>
          </a:p>
        </p:txBody>
      </p:sp>
    </p:spTree>
    <p:extLst>
      <p:ext uri="{BB962C8B-B14F-4D97-AF65-F5344CB8AC3E}">
        <p14:creationId xmlns:p14="http://schemas.microsoft.com/office/powerpoint/2010/main" val="239204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400000"/>
            <a:ext cx="7067238" cy="960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Securing Communication Channels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Attackers may monitor corporate channels — use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out-of-band alternatives</a:t>
            </a:r>
          </a:p>
          <a:p>
            <a:r>
              <a:rPr lang="en-US" noProof="0" dirty="0">
                <a:latin typeface="Montserrat"/>
                <a:cs typeface="Arial"/>
              </a:rPr>
              <a:t>Control terminology and limit information access</a:t>
            </a:r>
          </a:p>
        </p:txBody>
      </p:sp>
    </p:spTree>
    <p:extLst>
      <p:ext uri="{BB962C8B-B14F-4D97-AF65-F5344CB8AC3E}">
        <p14:creationId xmlns:p14="http://schemas.microsoft.com/office/powerpoint/2010/main" val="168311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400000"/>
            <a:ext cx="7067238" cy="9600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Shift Handoffs </a:t>
            </a:r>
            <a:br>
              <a:rPr lang="en-US" noProof="0" dirty="0"/>
            </a:br>
            <a:r>
              <a:rPr lang="en-US" noProof="0" dirty="0"/>
              <a:t>and Continuity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750000"/>
            <a:ext cx="7067550" cy="4149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Formal handoffs with documented findings at every shift change</a:t>
            </a:r>
          </a:p>
          <a:p>
            <a:r>
              <a:rPr lang="en-US" noProof="0" dirty="0">
                <a:latin typeface="Montserrat"/>
                <a:cs typeface="Arial"/>
              </a:rPr>
              <a:t>Ensures consistent response around the clock</a:t>
            </a:r>
          </a:p>
        </p:txBody>
      </p:sp>
    </p:spTree>
    <p:extLst>
      <p:ext uri="{BB962C8B-B14F-4D97-AF65-F5344CB8AC3E}">
        <p14:creationId xmlns:p14="http://schemas.microsoft.com/office/powerpoint/2010/main" val="780898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Incident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16</a:t>
            </a:r>
          </a:p>
        </p:txBody>
      </p:sp>
    </p:spTree>
    <p:extLst>
      <p:ext uri="{BB962C8B-B14F-4D97-AF65-F5344CB8AC3E}">
        <p14:creationId xmlns:p14="http://schemas.microsoft.com/office/powerpoint/2010/main" val="4047557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970000"/>
          </a:xfrm>
        </p:spPr>
        <p:txBody>
          <a:bodyPr/>
          <a:lstStyle/>
          <a:p>
            <a:r>
              <a:rPr lang="en-US" dirty="0"/>
              <a:t>Incident Reporting Basics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800000"/>
            <a:ext cx="7067550" cy="4099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Notify based on legal and need-to-know criteria</a:t>
            </a:r>
          </a:p>
          <a:p>
            <a:pPr marL="457200" lvl="1" indent="0">
              <a:buNone/>
            </a:pPr>
            <a:r>
              <a:rPr lang="en-US">
                <a:latin typeface="Montserrat"/>
                <a:cs typeface="Arial"/>
              </a:rPr>
              <a:t>Tailor detail </a:t>
            </a:r>
            <a:r>
              <a:rPr lang="en-US" dirty="0">
                <a:latin typeface="Montserrat"/>
                <a:cs typeface="Arial"/>
              </a:rPr>
              <a:t>level </a:t>
            </a:r>
            <a:r>
              <a:rPr lang="en-US">
                <a:latin typeface="Montserrat"/>
                <a:cs typeface="Arial"/>
              </a:rPr>
              <a:t>to audience type</a:t>
            </a:r>
            <a:endParaRPr lang="en-US" dirty="0">
              <a:latin typeface="Montserra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2999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970000"/>
          </a:xfrm>
        </p:spPr>
        <p:txBody>
          <a:bodyPr/>
          <a:lstStyle/>
          <a:p>
            <a:r>
              <a:rPr lang="en-US" dirty="0"/>
              <a:t>Tailoring Reports </a:t>
            </a:r>
            <a:br>
              <a:rPr lang="en-US" dirty="0"/>
            </a:br>
            <a:r>
              <a:rPr lang="en-US" dirty="0"/>
              <a:t>by Audience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800000"/>
            <a:ext cx="7067550" cy="4099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Technical: CVEs, IOCs, and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threat intelligence</a:t>
            </a:r>
          </a:p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Executives: Business impact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and remediation</a:t>
            </a:r>
          </a:p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Regulators: Control gaps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and compliance</a:t>
            </a:r>
          </a:p>
        </p:txBody>
      </p:sp>
    </p:spTree>
    <p:extLst>
      <p:ext uri="{BB962C8B-B14F-4D97-AF65-F5344CB8AC3E}">
        <p14:creationId xmlns:p14="http://schemas.microsoft.com/office/powerpoint/2010/main" val="33332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970000"/>
          </a:xfrm>
        </p:spPr>
        <p:txBody>
          <a:bodyPr/>
          <a:lstStyle/>
          <a:p>
            <a:r>
              <a:rPr lang="en-US" dirty="0"/>
              <a:t>Risk Scorecards </a:t>
            </a:r>
            <a:br>
              <a:rPr lang="en-US" dirty="0"/>
            </a:br>
            <a:r>
              <a:rPr lang="en-US" dirty="0"/>
              <a:t>and POA&amp;M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800000"/>
            <a:ext cx="7067550" cy="4099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Scorecards </a:t>
            </a:r>
            <a:r>
              <a:rPr lang="en-US">
                <a:latin typeface="Montserrat"/>
                <a:cs typeface="Arial"/>
              </a:rPr>
              <a:t>map </a:t>
            </a:r>
            <a:r>
              <a:rPr lang="en-US" dirty="0">
                <a:latin typeface="Montserrat"/>
                <a:cs typeface="Arial"/>
              </a:rPr>
              <a:t>risks </a:t>
            </a:r>
            <a:r>
              <a:rPr lang="en-US">
                <a:latin typeface="Montserrat"/>
                <a:cs typeface="Arial"/>
              </a:rPr>
              <a:t>to </a:t>
            </a:r>
            <a:r>
              <a:rPr lang="en-US" dirty="0">
                <a:latin typeface="Montserrat"/>
                <a:cs typeface="Arial"/>
              </a:rPr>
              <a:t>KPIs and </a:t>
            </a:r>
            <a:r>
              <a:rPr lang="en-US">
                <a:latin typeface="Montserrat"/>
                <a:cs typeface="Arial"/>
              </a:rPr>
              <a:t>reveal security </a:t>
            </a:r>
            <a:r>
              <a:rPr lang="en-US" dirty="0">
                <a:latin typeface="Montserrat"/>
                <a:cs typeface="Arial"/>
              </a:rPr>
              <a:t>gaps</a:t>
            </a:r>
          </a:p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POA&amp;M </a:t>
            </a:r>
            <a:r>
              <a:rPr lang="en-US">
                <a:latin typeface="Montserrat"/>
                <a:cs typeface="Arial"/>
              </a:rPr>
              <a:t>drives </a:t>
            </a:r>
            <a:r>
              <a:rPr lang="en-US" dirty="0">
                <a:latin typeface="Montserrat"/>
                <a:cs typeface="Arial"/>
              </a:rPr>
              <a:t>remediation</a:t>
            </a:r>
            <a:r>
              <a:rPr lang="en-US">
                <a:latin typeface="Montserrat"/>
                <a:cs typeface="Arial"/>
              </a:rPr>
              <a:t>; required</a:t>
            </a:r>
            <a:r>
              <a:rPr lang="en-US" dirty="0">
                <a:latin typeface="Montserrat"/>
                <a:cs typeface="Arial"/>
              </a:rPr>
              <a:t> for federal networks</a:t>
            </a:r>
          </a:p>
        </p:txBody>
      </p:sp>
    </p:spTree>
    <p:extLst>
      <p:ext uri="{BB962C8B-B14F-4D97-AF65-F5344CB8AC3E}">
        <p14:creationId xmlns:p14="http://schemas.microsoft.com/office/powerpoint/2010/main" val="2747043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970000"/>
          </a:xfrm>
        </p:spPr>
        <p:txBody>
          <a:bodyPr/>
          <a:lstStyle/>
          <a:p>
            <a:r>
              <a:rPr lang="en-US" dirty="0"/>
              <a:t>Escalation Procedures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379425"/>
            <a:ext cx="7067550" cy="4099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Some incidents exceed </a:t>
            </a:r>
            <a:br>
              <a:rPr lang="en-US" dirty="0">
                <a:latin typeface="Montserrat"/>
                <a:cs typeface="Arial"/>
              </a:rPr>
            </a:br>
            <a:r>
              <a:rPr lang="en-US" dirty="0">
                <a:latin typeface="Montserrat"/>
                <a:cs typeface="Arial"/>
              </a:rPr>
              <a:t>technician authority</a:t>
            </a:r>
          </a:p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Escalate internally to senior staff or externally to consultants</a:t>
            </a:r>
          </a:p>
        </p:txBody>
      </p:sp>
    </p:spTree>
    <p:extLst>
      <p:ext uri="{BB962C8B-B14F-4D97-AF65-F5344CB8AC3E}">
        <p14:creationId xmlns:p14="http://schemas.microsoft.com/office/powerpoint/2010/main" val="3967728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970000"/>
          </a:xfrm>
        </p:spPr>
        <p:txBody>
          <a:bodyPr/>
          <a:lstStyle/>
          <a:p>
            <a:r>
              <a:rPr lang="en-US" dirty="0"/>
              <a:t>Executive Summaries and Regulatory Reports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941667"/>
            <a:ext cx="7067550" cy="4099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Executive summaries</a:t>
            </a:r>
            <a:r>
              <a:rPr lang="en-US">
                <a:latin typeface="Montserrat"/>
                <a:cs typeface="Arial"/>
              </a:rPr>
              <a:t>:</a:t>
            </a:r>
            <a:r>
              <a:rPr lang="en-US" dirty="0">
                <a:latin typeface="Montserrat"/>
                <a:cs typeface="Arial"/>
              </a:rPr>
              <a:t> non-technical, focused on </a:t>
            </a:r>
            <a:r>
              <a:rPr lang="en-US">
                <a:latin typeface="Montserrat"/>
                <a:cs typeface="Arial"/>
              </a:rPr>
              <a:t>impact </a:t>
            </a:r>
            <a:br>
              <a:rPr lang="en-US">
                <a:latin typeface="Montserrat"/>
                <a:cs typeface="Arial"/>
              </a:rPr>
            </a:br>
            <a:r>
              <a:rPr lang="en-US">
                <a:latin typeface="Montserrat"/>
                <a:cs typeface="Arial"/>
              </a:rPr>
              <a:t>and </a:t>
            </a:r>
            <a:r>
              <a:rPr lang="en-US" dirty="0">
                <a:latin typeface="Montserrat"/>
                <a:cs typeface="Arial"/>
              </a:rPr>
              <a:t>remediation</a:t>
            </a:r>
          </a:p>
          <a:p>
            <a:pPr marL="457200" lvl="1" indent="0">
              <a:buNone/>
            </a:pPr>
            <a:r>
              <a:rPr lang="en-US" dirty="0">
                <a:latin typeface="Montserrat"/>
                <a:cs typeface="Arial"/>
              </a:rPr>
              <a:t>Regulatory reports: controls and audit evidence, varies by industry</a:t>
            </a:r>
          </a:p>
        </p:txBody>
      </p:sp>
    </p:spTree>
    <p:extLst>
      <p:ext uri="{BB962C8B-B14F-4D97-AF65-F5344CB8AC3E}">
        <p14:creationId xmlns:p14="http://schemas.microsoft.com/office/powerpoint/2010/main" val="31535822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FFD909-429B-4107-A2B1-C958B91C177D}">
  <ds:schemaRefs>
    <ds:schemaRef ds:uri="http://www.w3.org/XML/1998/namespace"/>
    <ds:schemaRef ds:uri="http://purl.org/dc/dcmitype/"/>
    <ds:schemaRef ds:uri="1046e879-d081-4053-adba-52e34fa7725d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6027dd9-77cd-484f-b6db-8bbe1351c2b5"/>
    <ds:schemaRef ds:uri="http://purl.org/dc/terms/"/>
    <ds:schemaRef ds:uri="13a0c8d5-cff5-4140-b58f-0947a5552a6a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403</Words>
  <Application>Microsoft Office PowerPoint</Application>
  <PresentationFormat>Widescreen</PresentationFormat>
  <Paragraphs>56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Incident Response</vt:lpstr>
      <vt:lpstr>Preparation and Detection</vt:lpstr>
      <vt:lpstr>Analysis and Triage</vt:lpstr>
      <vt:lpstr>Containment and Eradication</vt:lpstr>
      <vt:lpstr>Recovery and  Lessons Learned</vt:lpstr>
      <vt:lpstr>Incident Response Management</vt:lpstr>
      <vt:lpstr>The Weight of the Word “Incident”</vt:lpstr>
      <vt:lpstr>Activating the Communications Plan</vt:lpstr>
      <vt:lpstr>What Stakeholders Want to Know</vt:lpstr>
      <vt:lpstr>Securing Communication Channels</vt:lpstr>
      <vt:lpstr>Shift Handoffs  and Continuity</vt:lpstr>
      <vt:lpstr>Incident Reporting</vt:lpstr>
      <vt:lpstr>Incident Reporting Basics</vt:lpstr>
      <vt:lpstr>Tailoring Reports  by Audience</vt:lpstr>
      <vt:lpstr>Risk Scorecards  and POA&amp;M</vt:lpstr>
      <vt:lpstr>Escalation Procedures</vt:lpstr>
      <vt:lpstr>Executive Summaries and Regulatory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4</cp:revision>
  <dcterms:created xsi:type="dcterms:W3CDTF">2021-01-26T20:17:48Z</dcterms:created>
  <dcterms:modified xsi:type="dcterms:W3CDTF">2026-06-25T21:38:27Z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