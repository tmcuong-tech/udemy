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6" r:id="rId5"/>
    <p:sldId id="394" r:id="rId6"/>
    <p:sldId id="382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82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12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38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38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59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9DD4-7ACC-38D3-5964-0A895A1A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18146-FAED-87B1-1086-F697C9165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00B71-53F5-8196-BABE-8F6A2A1B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C1576-B170-904C-3982-E9168AD1D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2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BB44-C8DF-107B-724D-2C9F3DBF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0A78B-3DA7-7F21-1C2F-00DF237BF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CC499-0AC1-E640-2F3A-4B5485C51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79ABD-892C-17FA-CB43-2E91E3351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21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EE36-8112-231C-49BD-689A73F4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9C210-4B1E-827F-6521-EEBB9703D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457DF-6832-9C14-945F-9261DBA2F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C0594-1DB2-378C-4500-ED1648D46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74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9CD5-C05E-42B4-2263-231BB59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551D5-8C6F-C96C-FE43-142955F64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C6E0B-A25F-0AE7-4599-968FB2A6B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1A57-C0A5-2B22-7760-6C16F063A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29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60E1-5D0B-B69D-948E-2E8B5B33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1E13A-ADAE-9C34-6795-8E1DC1B87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5EB86-0654-00F8-97F8-32E3CAC6A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38E8-4CB9-C4B4-803F-F0EF601E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77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13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14C2-C21C-109B-67B8-E46E8EF7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61EA72-8D93-A0DE-E4E0-6F23D9DD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Physical and</a:t>
            </a:r>
            <a:br>
              <a:rPr lang="en-US" noProof="0" dirty="0"/>
            </a:br>
            <a:r>
              <a:rPr lang="en-US" noProof="0" dirty="0"/>
              <a:t>Technical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D0E84A-BB75-96F1-97C6-DF4EEECB47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Physical controls block           physical access</a:t>
            </a:r>
          </a:p>
          <a:p>
            <a:pPr lvl="1"/>
            <a:r>
              <a:rPr lang="en-US" dirty="0"/>
              <a:t>Locked door</a:t>
            </a:r>
          </a:p>
          <a:p>
            <a:pPr lvl="1"/>
            <a:r>
              <a:rPr lang="en-US" dirty="0"/>
              <a:t>Closed gate</a:t>
            </a:r>
          </a:p>
          <a:p>
            <a:pPr lvl="0"/>
            <a:r>
              <a:rPr lang="en-US" dirty="0"/>
              <a:t>Technical controls are electronic</a:t>
            </a:r>
          </a:p>
          <a:p>
            <a:pPr lvl="0"/>
            <a:r>
              <a:rPr lang="en-US" dirty="0"/>
              <a:t>Computer-related controls             are technical</a:t>
            </a:r>
          </a:p>
        </p:txBody>
      </p:sp>
    </p:spTree>
    <p:extLst>
      <p:ext uri="{BB962C8B-B14F-4D97-AF65-F5344CB8AC3E}">
        <p14:creationId xmlns:p14="http://schemas.microsoft.com/office/powerpoint/2010/main" val="153520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Administrative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Policies and procedures</a:t>
            </a:r>
          </a:p>
          <a:p>
            <a:r>
              <a:rPr lang="en-US" dirty="0"/>
              <a:t>Set by administrators                     or managers</a:t>
            </a:r>
          </a:p>
          <a:p>
            <a:r>
              <a:rPr lang="en-US" dirty="0"/>
              <a:t>Organizational decisions put       in place</a:t>
            </a:r>
          </a:p>
          <a:p>
            <a:r>
              <a:rPr lang="en-US" dirty="0"/>
              <a:t>Govern expected actions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B152B-DC00-8E63-06D5-024DEC67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F0D44D-BFE8-59F8-B885-802DB6A7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Deterrent Preventative and Detective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0ACBA6-396D-A9EB-6919-6D0AA12435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Deterrent signals expected behavior</a:t>
            </a:r>
          </a:p>
          <a:p>
            <a:r>
              <a:rPr lang="en-US" noProof="0" dirty="0"/>
              <a:t>Preventive blocks            unwanted actions</a:t>
            </a:r>
          </a:p>
          <a:p>
            <a:r>
              <a:rPr lang="en-US" dirty="0"/>
              <a:t>Detective reviews what occurred</a:t>
            </a:r>
          </a:p>
          <a:p>
            <a:r>
              <a:rPr lang="en-US" noProof="0" dirty="0"/>
              <a:t>Used before or after an event</a:t>
            </a:r>
          </a:p>
        </p:txBody>
      </p:sp>
    </p:spTree>
    <p:extLst>
      <p:ext uri="{BB962C8B-B14F-4D97-AF65-F5344CB8AC3E}">
        <p14:creationId xmlns:p14="http://schemas.microsoft.com/office/powerpoint/2010/main" val="38135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2D95D-C57A-D37B-BDC9-2408E8D6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F38E32-A719-98CF-1A67-C5A8DF57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Responsive and Corrective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517BAE-7550-7620-12A3-5E7B286573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9446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Responsive drives        remediation actions</a:t>
            </a:r>
          </a:p>
          <a:p>
            <a:r>
              <a:rPr lang="en-US" dirty="0">
                <a:latin typeface="Montserrat"/>
                <a:cs typeface="Arial"/>
              </a:rPr>
              <a:t>Used after an incident happens</a:t>
            </a:r>
          </a:p>
          <a:p>
            <a:r>
              <a:rPr lang="en-US" noProof="0" dirty="0">
                <a:latin typeface="Montserrat"/>
                <a:cs typeface="Arial"/>
              </a:rPr>
              <a:t>Corrective restores normal state</a:t>
            </a:r>
          </a:p>
          <a:p>
            <a:r>
              <a:rPr lang="en-US" dirty="0">
                <a:latin typeface="Montserrat"/>
                <a:cs typeface="Arial"/>
              </a:rPr>
              <a:t>Helps put things back as before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525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0199-2EFF-E529-7225-DF4033D0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C82F27-983D-40B9-8D18-690E2EE5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Retail</a:t>
            </a:r>
            <a:br>
              <a:rPr lang="en-US" noProof="0" dirty="0"/>
            </a:br>
            <a:r>
              <a:rPr lang="en-US" noProof="0" dirty="0"/>
              <a:t>Deterrent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63DB53-CE6A-D350-D9D7-24E5F1524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Visible signs discourage behavior</a:t>
            </a:r>
          </a:p>
          <a:p>
            <a:r>
              <a:rPr lang="en-US" dirty="0"/>
              <a:t>Prominent screens or cameras   in view</a:t>
            </a:r>
          </a:p>
          <a:p>
            <a:r>
              <a:rPr lang="en-US" noProof="0" dirty="0"/>
              <a:t>Signal </a:t>
            </a:r>
            <a:r>
              <a:rPr lang="en-US" dirty="0"/>
              <a:t>monitoring is in place</a:t>
            </a:r>
          </a:p>
          <a:p>
            <a:r>
              <a:rPr lang="en-US" noProof="0" dirty="0"/>
              <a:t>Intended to make           shoplifters hesitate</a:t>
            </a:r>
          </a:p>
        </p:txBody>
      </p:sp>
    </p:spTree>
    <p:extLst>
      <p:ext uri="{BB962C8B-B14F-4D97-AF65-F5344CB8AC3E}">
        <p14:creationId xmlns:p14="http://schemas.microsoft.com/office/powerpoint/2010/main" val="47860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704DD-DB8A-838B-FEEC-96DFEC77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C5DBF9-2668-1E92-0FF3-8297CF68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Retail</a:t>
            </a:r>
            <a:br>
              <a:rPr lang="en-US" noProof="0" dirty="0"/>
            </a:br>
            <a:r>
              <a:rPr lang="en-US" dirty="0"/>
              <a:t>Preventative</a:t>
            </a:r>
            <a:r>
              <a:rPr lang="en-US" noProof="0" dirty="0"/>
              <a:t>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B68291-41E3-3743-17A2-BDBFB6F0CB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Stop theft before </a:t>
            </a:r>
            <a:r>
              <a:rPr lang="en-US" noProof="0"/>
              <a:t>it occurs</a:t>
            </a:r>
            <a:endParaRPr lang="en-US" dirty="0"/>
          </a:p>
          <a:p>
            <a:pPr lvl="1"/>
            <a:r>
              <a:rPr lang="en-US" dirty="0"/>
              <a:t>Locked cages</a:t>
            </a:r>
          </a:p>
          <a:p>
            <a:pPr lvl="1"/>
            <a:r>
              <a:rPr lang="en-US" dirty="0"/>
              <a:t>Secure product locks</a:t>
            </a:r>
          </a:p>
          <a:p>
            <a:pPr lvl="0"/>
            <a:r>
              <a:rPr lang="en-US" dirty="0"/>
              <a:t>Loss prevention officer presence</a:t>
            </a:r>
          </a:p>
          <a:p>
            <a:pPr lvl="0"/>
            <a:r>
              <a:rPr lang="en-US" dirty="0"/>
              <a:t>Designed to prevent shoplifting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291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AFB6-07B8-D903-A29D-2975C461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958D5-E4F2-DC47-49E8-2FFED097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Retail</a:t>
            </a:r>
            <a:br>
              <a:rPr lang="en-US" noProof="0" dirty="0"/>
            </a:br>
            <a:r>
              <a:rPr lang="en-US" noProof="0" dirty="0"/>
              <a:t>Dete</a:t>
            </a:r>
            <a:r>
              <a:rPr lang="en-US" dirty="0" err="1"/>
              <a:t>ctive</a:t>
            </a:r>
            <a:r>
              <a:rPr lang="en-US" dirty="0"/>
              <a:t> </a:t>
            </a:r>
            <a:r>
              <a:rPr lang="en-US" noProof="0" dirty="0"/>
              <a:t>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CDCDEA-7584-AB65-EF4C-0F1878FEB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Detect theft activity</a:t>
            </a:r>
          </a:p>
          <a:p>
            <a:r>
              <a:rPr lang="en-US" dirty="0"/>
              <a:t>Security cameras                 monitor movement</a:t>
            </a:r>
          </a:p>
          <a:p>
            <a:r>
              <a:rPr lang="en-US" noProof="0" dirty="0"/>
              <a:t>Beeping alarms indicate product removal</a:t>
            </a:r>
          </a:p>
          <a:p>
            <a:r>
              <a:rPr lang="en-US" dirty="0"/>
              <a:t>Evidence after the event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141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26CB-D99A-385B-9F7E-E29DC8E8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F07722-D975-C017-6B55-C9F5A7A5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Retail </a:t>
            </a:r>
            <a:r>
              <a:rPr lang="en-US" dirty="0"/>
              <a:t>Responsive and Corrective </a:t>
            </a:r>
            <a:r>
              <a:rPr lang="en-US" noProof="0" dirty="0"/>
              <a:t>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13839A-15A2-5A65-D679-BD4F0CF98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Responsive actions after theft</a:t>
            </a:r>
          </a:p>
          <a:p>
            <a:pPr lvl="1"/>
            <a:r>
              <a:rPr lang="en-US" dirty="0"/>
              <a:t>Intercept shoplifter</a:t>
            </a:r>
          </a:p>
          <a:p>
            <a:pPr lvl="1"/>
            <a:r>
              <a:rPr lang="en-US" dirty="0"/>
              <a:t>Issue trespass warning</a:t>
            </a:r>
          </a:p>
          <a:p>
            <a:pPr lvl="0"/>
            <a:r>
              <a:rPr lang="en-US" dirty="0"/>
              <a:t>Police involvement as response</a:t>
            </a:r>
          </a:p>
          <a:p>
            <a:pPr lvl="0"/>
            <a:r>
              <a:rPr lang="en-US" dirty="0"/>
              <a:t>Corrective restores item or records loss</a:t>
            </a:r>
          </a:p>
        </p:txBody>
      </p:sp>
    </p:spTree>
    <p:extLst>
      <p:ext uri="{BB962C8B-B14F-4D97-AF65-F5344CB8AC3E}">
        <p14:creationId xmlns:p14="http://schemas.microsoft.com/office/powerpoint/2010/main" val="3620038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E7E59-6A52-B557-90CD-E97CA9EB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CD357-48CD-C54B-4A93-9A4B1DF7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Compensating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9BF0EC-FA9A-A0B3-14A6-3D31052FA6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862956"/>
            <a:ext cx="7067550" cy="377329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Added when a control                    is insufficient</a:t>
            </a:r>
          </a:p>
          <a:p>
            <a:pPr lvl="0"/>
            <a:r>
              <a:rPr lang="en-US" dirty="0"/>
              <a:t>Layered to reduce remaining risk</a:t>
            </a:r>
          </a:p>
          <a:p>
            <a:pPr lvl="0"/>
            <a:r>
              <a:rPr lang="en-US" dirty="0"/>
              <a:t>Compensate for control shortfalls</a:t>
            </a:r>
          </a:p>
          <a:p>
            <a:pPr lvl="0"/>
            <a:r>
              <a:rPr lang="en-US" dirty="0"/>
              <a:t>MFA can strengthen passwords</a:t>
            </a:r>
          </a:p>
        </p:txBody>
      </p:sp>
    </p:spTree>
    <p:extLst>
      <p:ext uri="{BB962C8B-B14F-4D97-AF65-F5344CB8AC3E}">
        <p14:creationId xmlns:p14="http://schemas.microsoft.com/office/powerpoint/2010/main" val="15976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04BD-18FA-60E4-253C-DEA5924F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AFA4AC-2136-53C7-23FE-2BA89996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Controls Can Serve Multiple Purposes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F4FBEC-8841-4DAD-FF21-BF7312116C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862956"/>
            <a:ext cx="7067550" cy="377329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Control types are not exclusive</a:t>
            </a:r>
          </a:p>
          <a:p>
            <a:pPr lvl="0"/>
            <a:r>
              <a:rPr lang="en-US" dirty="0"/>
              <a:t>One control may serve      multiple functions</a:t>
            </a:r>
          </a:p>
          <a:p>
            <a:pPr lvl="0"/>
            <a:r>
              <a:rPr lang="en-US" dirty="0"/>
              <a:t>Security camera example</a:t>
            </a:r>
          </a:p>
          <a:p>
            <a:pPr lvl="1"/>
            <a:r>
              <a:rPr lang="en-US" dirty="0"/>
              <a:t>Deterrent and detective</a:t>
            </a:r>
          </a:p>
          <a:p>
            <a:pPr lvl="0"/>
            <a:r>
              <a:rPr lang="en-US" dirty="0"/>
              <a:t>Purpose depends </a:t>
            </a:r>
            <a:r>
              <a:rPr lang="en-US"/>
              <a:t>on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63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13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756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Risk Mitigation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Reduce likelihood of threats</a:t>
            </a:r>
          </a:p>
          <a:p>
            <a:r>
              <a:rPr lang="en-US" dirty="0"/>
              <a:t>Implement security controls</a:t>
            </a:r>
          </a:p>
          <a:p>
            <a:r>
              <a:rPr lang="en-US" noProof="0" dirty="0"/>
              <a:t>Use policies and procedures</a:t>
            </a:r>
          </a:p>
          <a:p>
            <a:r>
              <a:rPr lang="en-US" dirty="0"/>
              <a:t>Apply technical solutions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2642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80D2-9900-CC8E-FE4A-1F28C7ED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B2E96-BD8A-3F79-7454-F67F6C3A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Transference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886800-01C4-FA49-E436-6F22344593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Shift risk to another party</a:t>
            </a:r>
          </a:p>
          <a:p>
            <a:r>
              <a:rPr lang="en-US" dirty="0"/>
              <a:t>Typically involves cost</a:t>
            </a:r>
          </a:p>
          <a:p>
            <a:r>
              <a:rPr lang="en-US" noProof="0" dirty="0"/>
              <a:t>Use third-party services</a:t>
            </a:r>
          </a:p>
          <a:p>
            <a:pPr lvl="0"/>
            <a:r>
              <a:rPr lang="en-US" dirty="0"/>
              <a:t>Example</a:t>
            </a:r>
          </a:p>
          <a:p>
            <a:pPr lvl="1"/>
            <a:r>
              <a:rPr lang="en-US" dirty="0"/>
              <a:t>MSSP outsourcing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98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DEC2-5226-4DF9-E244-362CC5C4C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4E96D5-CC66-4EFA-2E30-1E5111EE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Avoidance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56515E0-9A0D-D155-D939-F59652AD7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Eliminate exposure to risk</a:t>
            </a:r>
          </a:p>
          <a:p>
            <a:r>
              <a:rPr lang="en-US" dirty="0"/>
              <a:t>Avoid risky activities</a:t>
            </a:r>
          </a:p>
          <a:p>
            <a:r>
              <a:rPr lang="en-US" noProof="0" dirty="0"/>
              <a:t>Do not deploy vulnerable systems</a:t>
            </a:r>
          </a:p>
          <a:p>
            <a:r>
              <a:rPr lang="en-US" dirty="0"/>
              <a:t>Prevent risk entirely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2636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0439-179F-6A7C-68DA-2E915454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ABF4F2-4047-EE23-9B48-598D5FBA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Acceptance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3FABED-6624-0F09-8925-8BDF92D75C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Accept risk level</a:t>
            </a:r>
          </a:p>
          <a:p>
            <a:r>
              <a:rPr lang="en-US" dirty="0"/>
              <a:t>May be low impact or likelihood</a:t>
            </a:r>
          </a:p>
          <a:p>
            <a:r>
              <a:rPr lang="en-US" dirty="0"/>
              <a:t>Controls may be too costly</a:t>
            </a:r>
          </a:p>
          <a:p>
            <a:r>
              <a:rPr lang="en-US" noProof="0" dirty="0"/>
              <a:t>Organization chooses to proceed</a:t>
            </a:r>
          </a:p>
        </p:txBody>
      </p:sp>
    </p:spTree>
    <p:extLst>
      <p:ext uri="{BB962C8B-B14F-4D97-AF65-F5344CB8AC3E}">
        <p14:creationId xmlns:p14="http://schemas.microsoft.com/office/powerpoint/2010/main" val="140475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5224-F10D-31FF-97AC-5A3FA8E6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609028-7270-D7C2-50A0-1715CDAA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Inherent and</a:t>
            </a:r>
            <a:br>
              <a:rPr lang="en-US" dirty="0"/>
            </a:br>
            <a:r>
              <a:rPr lang="en-US" dirty="0"/>
              <a:t>Residual Risk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6F4725-6342-B0C3-D87A-1294454DF2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Inherent risk before controls</a:t>
            </a:r>
          </a:p>
          <a:p>
            <a:r>
              <a:rPr lang="en-US" dirty="0"/>
              <a:t>Residual risk after controls</a:t>
            </a:r>
          </a:p>
          <a:p>
            <a:r>
              <a:rPr lang="en-US" noProof="0" dirty="0"/>
              <a:t>Some risk always remains</a:t>
            </a:r>
          </a:p>
          <a:p>
            <a:r>
              <a:rPr lang="en-US" dirty="0"/>
              <a:t>Cannot eliminate all threats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9204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0C90-9B32-B338-B85E-8F658E24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CE2059-F6F6-C09E-98F2-84CAC942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Appetite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8EC22EF-16F1-8CC5-24A6-BA402A6811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Amount of risk accepted</a:t>
            </a:r>
          </a:p>
          <a:p>
            <a:r>
              <a:rPr lang="en-US" dirty="0"/>
              <a:t>Defines tolerance threshold</a:t>
            </a:r>
          </a:p>
          <a:p>
            <a:r>
              <a:rPr lang="en-US" noProof="0" dirty="0"/>
              <a:t>Guides decision making</a:t>
            </a:r>
          </a:p>
          <a:p>
            <a:r>
              <a:rPr lang="en-US" dirty="0"/>
              <a:t>Determines security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47824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13a0c8d5-cff5-4140-b58f-0947a5552a6a"/>
    <ds:schemaRef ds:uri="1046e879-d081-4053-adba-52e34fa7725d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76027dd9-77cd-484f-b6db-8bbe1351c2b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342</Words>
  <Application>Microsoft Office PowerPoint</Application>
  <PresentationFormat>Widescreen</PresentationFormat>
  <Paragraphs>97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Controls</vt:lpstr>
      <vt:lpstr>Physical and Technical Controls</vt:lpstr>
      <vt:lpstr>Administrative Controls</vt:lpstr>
      <vt:lpstr>Deterrent Preventative and Detective Controls</vt:lpstr>
      <vt:lpstr>Responsive and Corrective Controls</vt:lpstr>
      <vt:lpstr>Retail Deterrent Controls</vt:lpstr>
      <vt:lpstr>Retail Preventative Controls</vt:lpstr>
      <vt:lpstr>Retail Detective Controls</vt:lpstr>
      <vt:lpstr>Retail Responsive and Corrective Controls</vt:lpstr>
      <vt:lpstr>Compensating Controls</vt:lpstr>
      <vt:lpstr>Controls Can Serve Multiple Purposes</vt:lpstr>
      <vt:lpstr>Risk</vt:lpstr>
      <vt:lpstr>Risk Mitigation</vt:lpstr>
      <vt:lpstr>Risk Transference</vt:lpstr>
      <vt:lpstr>Risk Avoidance</vt:lpstr>
      <vt:lpstr>Risk Acceptance</vt:lpstr>
      <vt:lpstr>Inherent and Residual Risk</vt:lpstr>
      <vt:lpstr>Risk Appetite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9</cp:revision>
  <dcterms:created xsi:type="dcterms:W3CDTF">2021-01-26T20:17:48Z</dcterms:created>
  <dcterms:modified xsi:type="dcterms:W3CDTF">2026-06-25T21:32:33Z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