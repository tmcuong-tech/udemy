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9"/>
  </p:notesMasterIdLst>
  <p:sldIdLst>
    <p:sldId id="256" r:id="rId5"/>
    <p:sldId id="394" r:id="rId6"/>
    <p:sldId id="395" r:id="rId7"/>
    <p:sldId id="396" r:id="rId8"/>
    <p:sldId id="397" r:id="rId9"/>
    <p:sldId id="398" r:id="rId10"/>
    <p:sldId id="399" r:id="rId11"/>
    <p:sldId id="400" r:id="rId12"/>
    <p:sldId id="382" r:id="rId13"/>
    <p:sldId id="401" r:id="rId14"/>
    <p:sldId id="402" r:id="rId15"/>
    <p:sldId id="403" r:id="rId16"/>
    <p:sldId id="404" r:id="rId17"/>
    <p:sldId id="405" r:id="rId18"/>
    <p:sldId id="406" r:id="rId19"/>
    <p:sldId id="407" r:id="rId20"/>
    <p:sldId id="408" r:id="rId21"/>
    <p:sldId id="409" r:id="rId22"/>
    <p:sldId id="410" r:id="rId23"/>
    <p:sldId id="411" r:id="rId24"/>
    <p:sldId id="412" r:id="rId25"/>
    <p:sldId id="413" r:id="rId26"/>
    <p:sldId id="414" r:id="rId27"/>
    <p:sldId id="415" r:id="rId28"/>
    <p:sldId id="416" r:id="rId29"/>
    <p:sldId id="417" r:id="rId30"/>
    <p:sldId id="418" r:id="rId31"/>
    <p:sldId id="419" r:id="rId32"/>
    <p:sldId id="420" r:id="rId33"/>
    <p:sldId id="421" r:id="rId34"/>
    <p:sldId id="422" r:id="rId35"/>
    <p:sldId id="423" r:id="rId36"/>
    <p:sldId id="424" r:id="rId37"/>
    <p:sldId id="42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1C1260-7E40-4364-BD07-DE7E2F3E7162}">
          <p14:sldIdLst>
            <p14:sldId id="256"/>
            <p14:sldId id="394"/>
            <p14:sldId id="395"/>
            <p14:sldId id="396"/>
            <p14:sldId id="397"/>
            <p14:sldId id="398"/>
            <p14:sldId id="399"/>
            <p14:sldId id="400"/>
            <p14:sldId id="382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" initials="S" lastIdx="5" clrIdx="0">
    <p:extLst>
      <p:ext uri="{19B8F6BF-5375-455C-9EA6-DF929625EA0E}">
        <p15:presenceInfo xmlns:p15="http://schemas.microsoft.com/office/powerpoint/2012/main" userId="Scott" providerId="None"/>
      </p:ext>
    </p:extLst>
  </p:cmAuthor>
  <p:cmAuthor id="2" name="Dana Barineau" initials="DB" lastIdx="1" clrIdx="1">
    <p:extLst>
      <p:ext uri="{19B8F6BF-5375-455C-9EA6-DF929625EA0E}">
        <p15:presenceInfo xmlns:p15="http://schemas.microsoft.com/office/powerpoint/2012/main" userId="Dana Barineau" providerId="None"/>
      </p:ext>
    </p:extLst>
  </p:cmAuthor>
  <p:cmAuthor id="3" name="Alden Drake" initials="AD" lastIdx="3" clrIdx="2">
    <p:extLst>
      <p:ext uri="{19B8F6BF-5375-455C-9EA6-DF929625EA0E}">
        <p15:presenceInfo xmlns:p15="http://schemas.microsoft.com/office/powerpoint/2012/main" userId="02a7e7fa871b3cfc" providerId="Windows Live"/>
      </p:ext>
    </p:extLst>
  </p:cmAuthor>
  <p:cmAuthor id="4" name="Paul Haines" initials="PH" lastIdx="9" clrIdx="3">
    <p:extLst>
      <p:ext uri="{19B8F6BF-5375-455C-9EA6-DF929625EA0E}">
        <p15:presenceInfo xmlns:p15="http://schemas.microsoft.com/office/powerpoint/2012/main" userId="Paul Haines" providerId="None"/>
      </p:ext>
    </p:extLst>
  </p:cmAuthor>
  <p:cmAuthor id="5" name="Shannon Lehmer" initials="SL" lastIdx="2" clrIdx="4">
    <p:extLst>
      <p:ext uri="{19B8F6BF-5375-455C-9EA6-DF929625EA0E}">
        <p15:presenceInfo xmlns:p15="http://schemas.microsoft.com/office/powerpoint/2012/main" userId="c588402909581d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04C"/>
    <a:srgbClr val="07304C"/>
    <a:srgbClr val="DBDBD3"/>
    <a:srgbClr val="064973"/>
    <a:srgbClr val="FF0000"/>
    <a:srgbClr val="FFFF00"/>
    <a:srgbClr val="22B965"/>
    <a:srgbClr val="00AE4D"/>
    <a:srgbClr val="096AA6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60" d="100"/>
          <a:sy n="60" d="100"/>
        </p:scale>
        <p:origin x="7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726E1-FD36-459F-813E-F371EC296CF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166A4-E9D0-4AFA-9CA5-FF99D13E5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036" y="3973882"/>
            <a:ext cx="9543964" cy="2418014"/>
          </a:xfrm>
        </p:spPr>
        <p:txBody>
          <a:bodyPr anchor="ctr">
            <a:normAutofit/>
          </a:bodyPr>
          <a:lstStyle>
            <a:lvl1pPr>
              <a:defRPr lang="en-US" sz="5400" kern="1200" dirty="0">
                <a:solidFill>
                  <a:srgbClr val="DBDBD3"/>
                </a:solidFill>
                <a:effectLst/>
                <a:latin typeface="Montserrat Light" panose="020F05020202040302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50725" y="1785939"/>
            <a:ext cx="10893599" cy="21572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8000">
                <a:solidFill>
                  <a:srgbClr val="DBDBD3"/>
                </a:solidFill>
                <a:effectLst/>
                <a:latin typeface="Montserrat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42055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sod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47549"/>
            <a:ext cx="10528300" cy="2165227"/>
          </a:xfrm>
        </p:spPr>
        <p:txBody>
          <a:bodyPr anchor="b">
            <a:normAutofit/>
          </a:bodyPr>
          <a:lstStyle>
            <a:lvl1pPr>
              <a:defRPr lang="en-US" sz="6000" kern="1200" dirty="0">
                <a:solidFill>
                  <a:srgbClr val="DBDBD3"/>
                </a:solidFill>
                <a:effectLst/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88024" y="3926179"/>
            <a:ext cx="8572126" cy="1277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DBDBD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B1BE48-3928-45FD-AC35-DC23102077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8024" y="5273714"/>
            <a:ext cx="8621504" cy="128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rgbClr val="DBDBD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DBAD4-865A-48F1-9D57-A0A0884E5B24}"/>
              </a:ext>
            </a:extLst>
          </p:cNvPr>
          <p:cNvSpPr txBox="1"/>
          <p:nvPr userDrawn="1"/>
        </p:nvSpPr>
        <p:spPr>
          <a:xfrm>
            <a:off x="831850" y="3942015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5C9B9-B706-4569-8001-ADF6E33FC5F4}"/>
              </a:ext>
            </a:extLst>
          </p:cNvPr>
          <p:cNvSpPr txBox="1"/>
          <p:nvPr userDrawn="1"/>
        </p:nvSpPr>
        <p:spPr>
          <a:xfrm>
            <a:off x="831850" y="3926179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title: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D5751-21D0-4756-861B-745D9EA18277}"/>
              </a:ext>
            </a:extLst>
          </p:cNvPr>
          <p:cNvSpPr txBox="1"/>
          <p:nvPr userDrawn="1"/>
        </p:nvSpPr>
        <p:spPr>
          <a:xfrm>
            <a:off x="831850" y="5280317"/>
            <a:ext cx="2027891" cy="12745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32873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One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9882"/>
            <a:ext cx="9845842" cy="1165455"/>
          </a:xfrm>
        </p:spPr>
        <p:txBody>
          <a:bodyPr/>
          <a:lstStyle>
            <a:lvl1pPr>
              <a:defRPr u="sng">
                <a:solidFill>
                  <a:srgbClr val="DBDBD3"/>
                </a:solidFill>
              </a:defRPr>
            </a:lvl1pPr>
          </a:lstStyle>
          <a:p>
            <a:r>
              <a:rPr lang="en-US"/>
              <a:t>Click To Edit One-Line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91433"/>
            <a:ext cx="10515600" cy="447074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668"/>
            <a:ext cx="9630103" cy="1325563"/>
          </a:xfrm>
        </p:spPr>
        <p:txBody>
          <a:bodyPr>
            <a:normAutofit/>
          </a:bodyPr>
          <a:lstStyle>
            <a:lvl1pPr>
              <a:defRPr sz="4200" u="sng"/>
            </a:lvl1pPr>
          </a:lstStyle>
          <a:p>
            <a:r>
              <a:rPr lang="en-US"/>
              <a:t>Click to Edit Two-Line Full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17525"/>
            <a:ext cx="10515600" cy="405112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79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One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57F8-2206-4304-B33D-58B55A3BF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583" y="548753"/>
            <a:ext cx="7067238" cy="633011"/>
          </a:xfrm>
        </p:spPr>
        <p:txBody>
          <a:bodyPr anchor="t">
            <a:noAutofit/>
          </a:bodyPr>
          <a:lstStyle>
            <a:lvl1pPr algn="l">
              <a:defRPr sz="4400" u="sng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D5B110-EBDF-7845-ABA8-800A1AB89C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133" cy="45265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925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749ED4-5ED2-92BC-C279-8DFEAD08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325563"/>
          </a:xfrm>
        </p:spPr>
        <p:txBody>
          <a:bodyPr>
            <a:normAutofit/>
          </a:bodyPr>
          <a:lstStyle>
            <a:lvl1pPr>
              <a:defRPr sz="4400" u="sng"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F4825-B89B-CEE8-4FA4-90A1337C0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70101"/>
            <a:ext cx="7067550" cy="37732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006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41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77335-E9FF-4113-A0BC-8AA8EE48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9845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BB5DD-2E34-1CED-3F24-0762D9A64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861"/>
            <a:ext cx="10515600" cy="430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9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70" r:id="rId7"/>
    <p:sldLayoutId id="214748367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DBDBD3"/>
          </a:solidFill>
          <a:effectLst/>
          <a:latin typeface="Montserrat SemiBold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400"/>
        </a:spcAft>
        <a:buFont typeface="Arial" panose="020B0604020202020204" pitchFamily="34" charset="0"/>
        <a:buNone/>
        <a:defRPr sz="4000" kern="1200">
          <a:solidFill>
            <a:srgbClr val="DBDBD3"/>
          </a:solidFill>
          <a:latin typeface="Montserrat" pitchFamily="2" charset="0"/>
          <a:ea typeface="+mn-ea"/>
          <a:cs typeface="Arial" panose="020B0604020202020204" pitchFamily="34" charset="0"/>
        </a:defRPr>
      </a:lvl1pPr>
      <a:lvl2pPr marL="746125" indent="-288925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36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SzPct val="60000"/>
        <a:buFont typeface="Montserrat" pitchFamily="2" charset="0"/>
        <a:buChar char="–"/>
        <a:defRPr sz="32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Vulnerability Scanning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10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058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1000000"/>
          </a:xfrm>
        </p:spPr>
        <p:txBody>
          <a:bodyPr/>
          <a:lstStyle/>
          <a:p>
            <a:r>
              <a:rPr lang="en-US" noProof="0" dirty="0"/>
              <a:t>Internal vs </a:t>
            </a:r>
            <a:br>
              <a:rPr lang="en-US" noProof="0" dirty="0"/>
            </a:br>
            <a:r>
              <a:rPr lang="en-US" noProof="0" dirty="0"/>
              <a:t>External Scanning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900000"/>
            <a:ext cx="7067550" cy="3999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>
                <a:latin typeface="Montserrat"/>
                <a:cs typeface="Arial"/>
              </a:rPr>
              <a:t>External scans show only what an outside attacker can see</a:t>
            </a:r>
          </a:p>
          <a:p>
            <a:r>
              <a:rPr lang="en-US" noProof="0">
                <a:latin typeface="Montserrat"/>
                <a:cs typeface="Arial"/>
              </a:rPr>
              <a:t>Internal scans reveal what a threat actor could exploit once inside the network</a:t>
            </a:r>
          </a:p>
          <a:p>
            <a:r>
              <a:rPr lang="en-US" noProof="0">
                <a:latin typeface="Montserrat"/>
                <a:cs typeface="Arial"/>
              </a:rPr>
              <a:t>Always scan from both vantage points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1000000"/>
          </a:xfrm>
        </p:spPr>
        <p:txBody>
          <a:bodyPr/>
          <a:lstStyle/>
          <a:p>
            <a:r>
              <a:rPr lang="en-US" noProof="0" dirty="0"/>
              <a:t>Agent vs </a:t>
            </a:r>
            <a:br>
              <a:rPr lang="en-US" noProof="0" dirty="0"/>
            </a:br>
            <a:r>
              <a:rPr lang="en-US" noProof="0" dirty="0"/>
              <a:t>Agentless Scanning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900000"/>
            <a:ext cx="7067550" cy="3999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>
                <a:latin typeface="Montserrat"/>
                <a:cs typeface="Arial"/>
              </a:rPr>
              <a:t>Agents run on endpoints and report back — ideal for remote workforces</a:t>
            </a:r>
          </a:p>
          <a:p>
            <a:r>
              <a:rPr lang="en-US" noProof="0">
                <a:latin typeface="Montserrat"/>
                <a:cs typeface="Arial"/>
              </a:rPr>
              <a:t>Agentless scanning uses a central server to scan all clients on the network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Credentialed vs Non-Credentialed Scans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Credentialed scans use authorized privileges for deeper, more intrusive checks</a:t>
            </a:r>
          </a:p>
          <a:p>
            <a:r>
              <a:rPr lang="en-US" noProof="0" dirty="0"/>
              <a:t>Non-credentialed scans run without user accounts — less intrusive, less depth</a:t>
            </a:r>
          </a:p>
        </p:txBody>
      </p:sp>
    </p:spTree>
    <p:extLst>
      <p:ext uri="{BB962C8B-B14F-4D97-AF65-F5344CB8AC3E}">
        <p14:creationId xmlns:p14="http://schemas.microsoft.com/office/powerpoint/2010/main" val="2972166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1000000"/>
          </a:xfrm>
        </p:spPr>
        <p:txBody>
          <a:bodyPr/>
          <a:lstStyle/>
          <a:p>
            <a:r>
              <a:rPr lang="en-US" noProof="0" dirty="0"/>
              <a:t>Active vs </a:t>
            </a:r>
            <a:br>
              <a:rPr lang="en-US" noProof="0" dirty="0"/>
            </a:br>
            <a:r>
              <a:rPr lang="en-US" noProof="0" dirty="0"/>
              <a:t>Passive Scanning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900000"/>
            <a:ext cx="7067550" cy="3999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Active scanning probes systems directly — may trigger </a:t>
            </a:r>
            <a:br>
              <a:rPr lang="en-US" noProof="0" dirty="0">
                <a:latin typeface="Montserrat"/>
                <a:cs typeface="Arial"/>
              </a:rPr>
            </a:br>
            <a:r>
              <a:rPr lang="en-US" noProof="0" dirty="0">
                <a:latin typeface="Montserrat"/>
                <a:cs typeface="Arial"/>
              </a:rPr>
              <a:t>security alarms</a:t>
            </a:r>
          </a:p>
          <a:p>
            <a:r>
              <a:rPr lang="en-US" noProof="0" dirty="0">
                <a:latin typeface="Montserrat"/>
                <a:cs typeface="Arial"/>
              </a:rPr>
              <a:t>Passive scanning monitors traffic silently — unlikely to </a:t>
            </a:r>
            <a:br>
              <a:rPr lang="en-US" noProof="0" dirty="0">
                <a:latin typeface="Montserrat"/>
                <a:cs typeface="Arial"/>
              </a:rPr>
            </a:br>
            <a:r>
              <a:rPr lang="en-US" noProof="0" dirty="0">
                <a:latin typeface="Montserrat"/>
                <a:cs typeface="Arial"/>
              </a:rPr>
              <a:t>trigger alerts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Network Mapping and Device Fingerprinting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noProof="0"/>
              <a:t>Mapping scans build a complete inventory of all network devices</a:t>
            </a:r>
          </a:p>
          <a:p>
            <a:r>
              <a:rPr lang="en-US" noProof="0"/>
              <a:t>Fingerprinting identifies host operating systems and what each target is running</a:t>
            </a:r>
          </a:p>
        </p:txBody>
      </p:sp>
    </p:spTree>
    <p:extLst>
      <p:ext uri="{BB962C8B-B14F-4D97-AF65-F5344CB8AC3E}">
        <p14:creationId xmlns:p14="http://schemas.microsoft.com/office/powerpoint/2010/main" val="2972166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dirty="0"/>
              <a:t>Vulnerability Scanning Considerations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10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7597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A9-3966-5C78-44E5-561AB10F1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3175F1-022F-BA36-E9F6-933E50EB0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Vulnerability</a:t>
            </a:r>
            <a:br>
              <a:rPr lang="en-US" noProof="0" dirty="0"/>
            </a:br>
            <a:r>
              <a:rPr lang="en-US" noProof="0" dirty="0"/>
              <a:t>Scanning </a:t>
            </a:r>
            <a:r>
              <a:rPr lang="en-US" dirty="0"/>
              <a:t>Process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E34B1C0-508E-7485-1B2B-97380E7884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Routine security activity</a:t>
            </a:r>
          </a:p>
          <a:p>
            <a:r>
              <a:rPr lang="en-US" dirty="0"/>
              <a:t>Identifies system vulnerabilities</a:t>
            </a:r>
          </a:p>
          <a:p>
            <a:r>
              <a:rPr lang="en-US" noProof="0" dirty="0"/>
              <a:t>Helps prioritize </a:t>
            </a:r>
            <a:r>
              <a:rPr lang="en-US" dirty="0"/>
              <a:t>issues</a:t>
            </a:r>
          </a:p>
          <a:p>
            <a:r>
              <a:rPr lang="en-US" noProof="0" dirty="0"/>
              <a:t>Supports proactive defense</a:t>
            </a:r>
          </a:p>
        </p:txBody>
      </p:sp>
    </p:spTree>
    <p:extLst>
      <p:ext uri="{BB962C8B-B14F-4D97-AF65-F5344CB8AC3E}">
        <p14:creationId xmlns:p14="http://schemas.microsoft.com/office/powerpoint/2010/main" val="1673612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Scan</a:t>
            </a:r>
            <a:br>
              <a:rPr lang="en-US" noProof="0" dirty="0"/>
            </a:br>
            <a:r>
              <a:rPr lang="en-US" noProof="0" dirty="0"/>
              <a:t>Planning </a:t>
            </a:r>
            <a:r>
              <a:rPr lang="en-US" dirty="0"/>
              <a:t>Considerations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Determine timing of scans</a:t>
            </a:r>
          </a:p>
          <a:p>
            <a:r>
              <a:rPr lang="en-US" dirty="0"/>
              <a:t>Identify stakeholders to notify</a:t>
            </a:r>
          </a:p>
          <a:p>
            <a:r>
              <a:rPr lang="en-US" noProof="0" dirty="0"/>
              <a:t>Coordinate across teams</a:t>
            </a:r>
          </a:p>
          <a:p>
            <a:r>
              <a:rPr lang="en-US" dirty="0"/>
              <a:t>Align with operations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5413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4AD72-300C-7A6A-8121-BA99E569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2660E0-2E75-E1ED-85D3-5E61B143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Scan Planning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DD0D2EC-1C64-7EF7-8BA6-044375F4FE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Can trigger security alerts</a:t>
            </a:r>
          </a:p>
          <a:p>
            <a:r>
              <a:rPr lang="en-US" dirty="0"/>
              <a:t>Impacts system performance</a:t>
            </a:r>
          </a:p>
          <a:p>
            <a:r>
              <a:rPr lang="en-US" noProof="0" dirty="0"/>
              <a:t>May </a:t>
            </a:r>
            <a:r>
              <a:rPr lang="en-US" dirty="0"/>
              <a:t>disrupt operations</a:t>
            </a:r>
          </a:p>
          <a:p>
            <a:r>
              <a:rPr lang="en-US" noProof="0" dirty="0"/>
              <a:t>Requires awareness</a:t>
            </a:r>
          </a:p>
        </p:txBody>
      </p:sp>
    </p:spTree>
    <p:extLst>
      <p:ext uri="{BB962C8B-B14F-4D97-AF65-F5344CB8AC3E}">
        <p14:creationId xmlns:p14="http://schemas.microsoft.com/office/powerpoint/2010/main" val="858818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EC3C8-7339-87DF-31DC-CE9FA8324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F5E312-4770-A114-2FE9-EAC3A1E97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Scan Scheduling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4C4AF2-16E4-0F25-3F7A-B906C8337C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Define scan frequency</a:t>
            </a:r>
          </a:p>
          <a:p>
            <a:r>
              <a:rPr lang="en-US" dirty="0"/>
              <a:t>Run during off-peak hours</a:t>
            </a:r>
          </a:p>
          <a:p>
            <a:r>
              <a:rPr lang="en-US" noProof="0" dirty="0"/>
              <a:t>Reduce performance impact</a:t>
            </a:r>
          </a:p>
          <a:p>
            <a:r>
              <a:rPr lang="en-US" dirty="0"/>
              <a:t>Balance coverage and disruption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85464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4AF9D-6DBC-51B5-423E-5262EFA2C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5D970F-275B-DAC2-FE44-DA7EBB156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Severity Thresholds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50223B-DE87-94E8-B89D-E4F3546073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Define level of concern</a:t>
            </a:r>
          </a:p>
          <a:p>
            <a:r>
              <a:rPr lang="en-US" dirty="0"/>
              <a:t>Low severity lower priority</a:t>
            </a:r>
          </a:p>
          <a:p>
            <a:r>
              <a:rPr lang="en-US" noProof="0" dirty="0"/>
              <a:t>High severity requires action</a:t>
            </a:r>
          </a:p>
          <a:p>
            <a:r>
              <a:rPr lang="en-US" dirty="0"/>
              <a:t>Determines alert response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22990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FEAF2-1AD0-3F0B-397C-67DFD044F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2885C1-69C7-7F9C-FCCE-53D15C0CD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Network Segmentation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6430C6C-7AE5-7003-9356-DEEE7E9D7E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Scan segments separately</a:t>
            </a:r>
          </a:p>
          <a:p>
            <a:r>
              <a:rPr lang="en-US" dirty="0"/>
              <a:t>Schedule by network area</a:t>
            </a:r>
          </a:p>
          <a:p>
            <a:r>
              <a:rPr lang="en-US" noProof="0" dirty="0"/>
              <a:t>Some systems isolated</a:t>
            </a:r>
          </a:p>
          <a:p>
            <a:r>
              <a:rPr lang="en-US" dirty="0"/>
              <a:t>Impacts scan capability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1348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E9D77-82A1-BAA9-11A3-24589CCD1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8EA224-D0D2-A789-3D23-C87FB9D03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Regulatory Requirements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57092CD-0D0D-E99B-0356-4F5335FEB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Define scan frequency</a:t>
            </a:r>
          </a:p>
          <a:p>
            <a:r>
              <a:rPr lang="en-US" dirty="0"/>
              <a:t>Control scan depth</a:t>
            </a:r>
          </a:p>
          <a:p>
            <a:r>
              <a:rPr lang="en-US" noProof="0" dirty="0"/>
              <a:t>Require compliance reporting</a:t>
            </a:r>
          </a:p>
          <a:p>
            <a:r>
              <a:rPr lang="en-US" dirty="0"/>
              <a:t>Enforce </a:t>
            </a:r>
            <a:r>
              <a:rPr lang="en-US"/>
              <a:t>security standards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55900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dirty="0"/>
              <a:t>Governance Frameworks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dirty="0">
                <a:latin typeface="Montserrat SemiBold"/>
                <a:cs typeface="Arial"/>
              </a:rPr>
              <a:t>Chapter 10</a:t>
            </a:r>
          </a:p>
        </p:txBody>
      </p:sp>
    </p:spTree>
    <p:extLst>
      <p:ext uri="{BB962C8B-B14F-4D97-AF65-F5344CB8AC3E}">
        <p14:creationId xmlns:p14="http://schemas.microsoft.com/office/powerpoint/2010/main" val="1068016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6E90-78DA-8527-D61C-723558B21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605756-0F2D-58BE-DF1C-74D9F16EE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/>
              <a:t>What Is Governance?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D0235DC-8DA5-B8A7-092F-A51B978212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Governance defines how organizations are structured </a:t>
            </a:r>
            <a:br>
              <a:rPr lang="en-US" dirty="0">
                <a:latin typeface="Montserrat"/>
                <a:cs typeface="Arial"/>
              </a:rPr>
            </a:br>
            <a:r>
              <a:rPr lang="en-US" dirty="0">
                <a:latin typeface="Montserrat"/>
                <a:cs typeface="Arial"/>
              </a:rPr>
              <a:t>and operate</a:t>
            </a:r>
          </a:p>
          <a:p>
            <a:r>
              <a:rPr lang="en-US" dirty="0"/>
              <a:t>Key frameworks: PCI DSS, CIS Benchmarks, and ISO 27000</a:t>
            </a:r>
          </a:p>
        </p:txBody>
      </p:sp>
    </p:spTree>
    <p:extLst>
      <p:ext uri="{BB962C8B-B14F-4D97-AF65-F5344CB8AC3E}">
        <p14:creationId xmlns:p14="http://schemas.microsoft.com/office/powerpoint/2010/main" val="3428105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B3048-CE50-4227-2183-0082B7660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0920FD-24AC-A0D9-417B-AC450852F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PCI DSS The Payment Card Industry Standard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59CB8B6-C937-37F3-46A3-6F7F98FF0A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Mandatory requirements for any business that stores or processes cardholder data</a:t>
            </a:r>
          </a:p>
          <a:p>
            <a:r>
              <a:rPr lang="en-US"/>
              <a:t>Non-compliance can mean losing the ability to accept credit card payments entirely</a:t>
            </a:r>
          </a:p>
        </p:txBody>
      </p:sp>
    </p:spTree>
    <p:extLst>
      <p:ext uri="{BB962C8B-B14F-4D97-AF65-F5344CB8AC3E}">
        <p14:creationId xmlns:p14="http://schemas.microsoft.com/office/powerpoint/2010/main" val="3703908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B3048-CE50-4227-2183-0082B7660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0920FD-24AC-A0D9-417B-AC450852F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CIS Benchmarks Best Practices for Hardening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59CB8B6-C937-37F3-46A3-6F7F98FF0A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/>
              <a:t>Recommendations from the Center for Internet Security</a:t>
            </a:r>
          </a:p>
          <a:p>
            <a:r>
              <a:rPr lang="en-US"/>
              <a:t>Harden your network and reduce your attack surface</a:t>
            </a:r>
          </a:p>
        </p:txBody>
      </p:sp>
    </p:spTree>
    <p:extLst>
      <p:ext uri="{BB962C8B-B14F-4D97-AF65-F5344CB8AC3E}">
        <p14:creationId xmlns:p14="http://schemas.microsoft.com/office/powerpoint/2010/main" val="146497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6E90-78DA-8527-D61C-723558B21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605756-0F2D-58BE-DF1C-74D9F16EE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/>
              <a:t>ISO 27000 Series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D0235DC-8DA5-B8A7-092F-A51B978212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Covers information security, cybersecurity, and </a:t>
            </a:r>
            <a:br>
              <a:rPr lang="en-US" dirty="0">
                <a:latin typeface="Montserrat"/>
                <a:cs typeface="Arial"/>
              </a:rPr>
            </a:br>
            <a:r>
              <a:rPr lang="en-US" dirty="0">
                <a:latin typeface="Montserrat"/>
                <a:cs typeface="Arial"/>
              </a:rPr>
              <a:t>privacy protection</a:t>
            </a:r>
          </a:p>
          <a:p>
            <a:r>
              <a:rPr lang="en-US" dirty="0"/>
              <a:t>Not mandatory, but often required by partners handling sensitive data</a:t>
            </a:r>
          </a:p>
        </p:txBody>
      </p:sp>
    </p:spTree>
    <p:extLst>
      <p:ext uri="{BB962C8B-B14F-4D97-AF65-F5344CB8AC3E}">
        <p14:creationId xmlns:p14="http://schemas.microsoft.com/office/powerpoint/2010/main" val="3674314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6E90-78DA-8527-D61C-723558B21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605756-0F2D-58BE-DF1C-74D9F16EE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/>
              <a:t>Policies and Governance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D0235DC-8DA5-B8A7-092F-A51B978212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1783285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Policies are driven by best practices and past </a:t>
            </a:r>
            <a:br>
              <a:rPr lang="en-US" dirty="0">
                <a:latin typeface="Montserrat"/>
                <a:cs typeface="Arial"/>
              </a:rPr>
            </a:br>
            <a:r>
              <a:rPr lang="en-US" dirty="0">
                <a:latin typeface="Montserrat"/>
                <a:cs typeface="Arial"/>
              </a:rPr>
              <a:t>security incidents</a:t>
            </a:r>
          </a:p>
          <a:p>
            <a:r>
              <a:rPr lang="en-US" dirty="0"/>
              <a:t>Legal requirements like GDPR can shape governance and oversight roles</a:t>
            </a:r>
          </a:p>
        </p:txBody>
      </p:sp>
    </p:spTree>
    <p:extLst>
      <p:ext uri="{BB962C8B-B14F-4D97-AF65-F5344CB8AC3E}">
        <p14:creationId xmlns:p14="http://schemas.microsoft.com/office/powerpoint/2010/main" val="4250117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6E90-78DA-8527-D61C-723558B21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605756-0F2D-58BE-DF1C-74D9F16EE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/>
              <a:t>Exam Prep Tips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D0235DC-8DA5-B8A7-092F-A51B978212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Montserrat"/>
                <a:cs typeface="Arial"/>
              </a:rPr>
              <a:t>Expect PCI DSS questions on virtually every top-tier certification exam</a:t>
            </a:r>
          </a:p>
          <a:p>
            <a:r>
              <a:rPr lang="en-US"/>
              <a:t>CIS Benchmarks and ISO 27K are also common exam topics to watch for</a:t>
            </a:r>
          </a:p>
        </p:txBody>
      </p:sp>
    </p:spTree>
    <p:extLst>
      <p:ext uri="{BB962C8B-B14F-4D97-AF65-F5344CB8AC3E}">
        <p14:creationId xmlns:p14="http://schemas.microsoft.com/office/powerpoint/2010/main" val="825108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dirty="0"/>
              <a:t>Vulnerability Scanning Response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10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3930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58366-810F-4290-A2BE-DCFFE5BDE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1E2D0B-A489-D9C4-187A-1AAA1E740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Exploitability and Threat </a:t>
            </a:r>
            <a:r>
              <a:rPr lang="en-US" noProof="0" dirty="0" err="1"/>
              <a:t>Actviity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FB6E03F-79BA-CF4F-BB0D-75A6BF139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Determine exploitability</a:t>
            </a:r>
          </a:p>
          <a:p>
            <a:r>
              <a:rPr lang="en-US" dirty="0"/>
              <a:t>Assess current threat activity</a:t>
            </a:r>
          </a:p>
          <a:p>
            <a:r>
              <a:rPr lang="en-US" noProof="0" dirty="0"/>
              <a:t>Check active exploitation</a:t>
            </a:r>
          </a:p>
          <a:p>
            <a:r>
              <a:rPr lang="en-US" dirty="0"/>
              <a:t>Consider external impact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4540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6BA21-9F3B-3D14-2B1A-2B7DEC650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54D2C8-EA2B-CC05-6132-D876D5F47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 Value and Impact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8646526-3FFB-1A11-2839-16D5E16F0A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Evaluate asset importance</a:t>
            </a:r>
          </a:p>
          <a:p>
            <a:r>
              <a:rPr lang="en-US" dirty="0"/>
              <a:t>Assess operational impact</a:t>
            </a:r>
          </a:p>
          <a:p>
            <a:r>
              <a:rPr lang="en-US" dirty="0"/>
              <a:t>Consider financial loss</a:t>
            </a:r>
          </a:p>
          <a:p>
            <a:r>
              <a:rPr lang="en-US" noProof="0" dirty="0"/>
              <a:t>Determine criticality</a:t>
            </a:r>
          </a:p>
        </p:txBody>
      </p:sp>
    </p:spTree>
    <p:extLst>
      <p:ext uri="{BB962C8B-B14F-4D97-AF65-F5344CB8AC3E}">
        <p14:creationId xmlns:p14="http://schemas.microsoft.com/office/powerpoint/2010/main" val="3325391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758CA-10CA-3088-C9E3-D46C13C1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5FC0DD-396B-1415-8863-F33A42229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Remediation Availability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5461FD5-D5A8-196E-8557-894FDA0431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Check patch availability</a:t>
            </a:r>
          </a:p>
          <a:p>
            <a:r>
              <a:rPr lang="en-US" dirty="0"/>
              <a:t>Determine fix options</a:t>
            </a:r>
          </a:p>
          <a:p>
            <a:r>
              <a:rPr lang="en-US" noProof="0" dirty="0"/>
              <a:t>Assess corrective actions</a:t>
            </a:r>
          </a:p>
          <a:p>
            <a:r>
              <a:rPr lang="en-US" dirty="0"/>
              <a:t>Identify limitations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90550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F3C57-C5CF-750B-DE27-52CB674F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507E5B-F97E-EB71-CC80-E4FDE0C9F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Scan Result</a:t>
            </a:r>
            <a:br>
              <a:rPr lang="en-US" noProof="0" dirty="0"/>
            </a:br>
            <a:r>
              <a:rPr lang="en-US" noProof="0" dirty="0"/>
              <a:t>Accuracy Types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6BBDC2D-B4A4-74DD-FDB4-048511D780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True and false outcomes</a:t>
            </a:r>
          </a:p>
          <a:p>
            <a:r>
              <a:rPr lang="en-US" noProof="0" dirty="0"/>
              <a:t>Positive and</a:t>
            </a:r>
            <a:r>
              <a:rPr lang="en-US" dirty="0"/>
              <a:t> negative results</a:t>
            </a:r>
          </a:p>
          <a:p>
            <a:r>
              <a:rPr lang="en-US" noProof="0" dirty="0"/>
              <a:t>Accuracy must be verified</a:t>
            </a:r>
          </a:p>
          <a:p>
            <a:r>
              <a:rPr lang="en-US" dirty="0"/>
              <a:t>Impacts decision making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8649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A31A8-C2B4-E59E-EA6F-44B7AF490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4AED70-8A18-92DA-8D34-598E45AEC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True Positive and</a:t>
            </a:r>
            <a:br>
              <a:rPr lang="en-US" noProof="0" dirty="0"/>
            </a:br>
            <a:r>
              <a:rPr lang="en-US" noProof="0" dirty="0"/>
              <a:t>True Negative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40237C-7B14-3CCC-E5AC-8CBDFFC32C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True positive</a:t>
            </a:r>
          </a:p>
          <a:p>
            <a:pPr lvl="1"/>
            <a:r>
              <a:rPr lang="en-US" dirty="0"/>
              <a:t>Vulnerability exists</a:t>
            </a:r>
          </a:p>
          <a:p>
            <a:pPr lvl="0"/>
            <a:r>
              <a:rPr lang="en-US" dirty="0"/>
              <a:t>True negative</a:t>
            </a:r>
          </a:p>
          <a:p>
            <a:pPr lvl="1"/>
            <a:r>
              <a:rPr lang="en-US" dirty="0"/>
              <a:t>No vulnerability present</a:t>
            </a:r>
          </a:p>
          <a:p>
            <a:pPr lvl="0"/>
            <a:r>
              <a:rPr lang="en-US" dirty="0"/>
              <a:t>Both are correct results</a:t>
            </a:r>
          </a:p>
          <a:p>
            <a:pPr lvl="0"/>
            <a:r>
              <a:rPr lang="en-US" dirty="0"/>
              <a:t>Validate scanner accuracy</a:t>
            </a:r>
          </a:p>
        </p:txBody>
      </p:sp>
    </p:spTree>
    <p:extLst>
      <p:ext uri="{BB962C8B-B14F-4D97-AF65-F5344CB8AC3E}">
        <p14:creationId xmlns:p14="http://schemas.microsoft.com/office/powerpoint/2010/main" val="518862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BB754-E8B7-0083-5BCA-4C26F0C10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703A50-DD7B-83A4-9326-6587462D0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False Positive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67E7A84-33BA-4658-275C-DD1EE0522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Reported vulnerability not real</a:t>
            </a:r>
          </a:p>
          <a:p>
            <a:pPr lvl="0"/>
            <a:r>
              <a:rPr lang="en-US" dirty="0"/>
              <a:t>Incorrect finding</a:t>
            </a:r>
          </a:p>
          <a:p>
            <a:pPr lvl="0"/>
            <a:r>
              <a:rPr lang="en-US" dirty="0"/>
              <a:t>Wastes time and effort</a:t>
            </a:r>
          </a:p>
          <a:p>
            <a:pPr lvl="0"/>
            <a:r>
              <a:rPr lang="en-US" dirty="0"/>
              <a:t>Leads to unnecessary work</a:t>
            </a:r>
          </a:p>
        </p:txBody>
      </p:sp>
    </p:spTree>
    <p:extLst>
      <p:ext uri="{BB962C8B-B14F-4D97-AF65-F5344CB8AC3E}">
        <p14:creationId xmlns:p14="http://schemas.microsoft.com/office/powerpoint/2010/main" val="14000539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263F9-E456-A755-7801-45B7D60C7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0549D8-4CB8-3CF7-65C1-9947D9D66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False Negative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4D8C6D-DAEC-0069-0373-EA09948B6A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Missed actual vulnerability</a:t>
            </a:r>
          </a:p>
          <a:p>
            <a:pPr lvl="0"/>
            <a:r>
              <a:rPr lang="en-US" dirty="0"/>
              <a:t>Incorrect absence of issue</a:t>
            </a:r>
          </a:p>
          <a:p>
            <a:pPr lvl="0"/>
            <a:r>
              <a:rPr lang="en-US" dirty="0"/>
              <a:t>Creates false sense of security</a:t>
            </a:r>
          </a:p>
          <a:p>
            <a:pPr lvl="0"/>
            <a:r>
              <a:rPr lang="en-US" dirty="0"/>
              <a:t>High risk outcome</a:t>
            </a:r>
          </a:p>
        </p:txBody>
      </p:sp>
    </p:spTree>
    <p:extLst>
      <p:ext uri="{BB962C8B-B14F-4D97-AF65-F5344CB8AC3E}">
        <p14:creationId xmlns:p14="http://schemas.microsoft.com/office/powerpoint/2010/main" val="10402932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92989-7E46-349F-1CBE-A3DA7540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A9AEF8-EE7E-67A4-CDCA-05CC5A5DA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Context in Scan Results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ACFB280-D267-F2A7-7E9C-BDCB4ECB3D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Meaning depends on context</a:t>
            </a:r>
          </a:p>
          <a:p>
            <a:pPr lvl="0"/>
            <a:r>
              <a:rPr lang="en-US" dirty="0"/>
              <a:t>Good vs bad varies by scenario</a:t>
            </a:r>
          </a:p>
          <a:p>
            <a:pPr lvl="0"/>
            <a:r>
              <a:rPr lang="en-US" dirty="0"/>
              <a:t>Interpret results carefully</a:t>
            </a:r>
          </a:p>
          <a:p>
            <a:pPr lvl="0"/>
            <a:r>
              <a:rPr lang="en-US" dirty="0"/>
              <a:t>Align with objective</a:t>
            </a:r>
          </a:p>
        </p:txBody>
      </p:sp>
    </p:spTree>
    <p:extLst>
      <p:ext uri="{BB962C8B-B14F-4D97-AF65-F5344CB8AC3E}">
        <p14:creationId xmlns:p14="http://schemas.microsoft.com/office/powerpoint/2010/main" val="2420397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E6A15-ACD0-F343-312C-E6944F85C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2C7EDD-750B-AE0F-5D17-C0A4F6D87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Validating Remediation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552B59-CDB7-58F2-EFBE-0701C1C83D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Confirm fixes are effective</a:t>
            </a:r>
          </a:p>
          <a:p>
            <a:pPr lvl="0"/>
            <a:r>
              <a:rPr lang="en-US" dirty="0"/>
              <a:t>Reassess vulnerabilities</a:t>
            </a:r>
          </a:p>
          <a:p>
            <a:pPr lvl="0"/>
            <a:r>
              <a:rPr lang="en-US" dirty="0"/>
              <a:t>Ensure issue resolution</a:t>
            </a:r>
          </a:p>
          <a:p>
            <a:pPr lvl="0"/>
            <a:r>
              <a:rPr lang="en-US" dirty="0"/>
              <a:t>Validate corrective actions</a:t>
            </a:r>
          </a:p>
        </p:txBody>
      </p:sp>
    </p:spTree>
    <p:extLst>
      <p:ext uri="{BB962C8B-B14F-4D97-AF65-F5344CB8AC3E}">
        <p14:creationId xmlns:p14="http://schemas.microsoft.com/office/powerpoint/2010/main" val="28973857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0DA25-81EF-A37F-DA48-95BC43608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A3922A-CBA2-3F9C-79C3-CE3A3844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Rescanning</a:t>
            </a:r>
            <a:br>
              <a:rPr lang="en-US" noProof="0" dirty="0"/>
            </a:br>
            <a:r>
              <a:rPr lang="en-US" noProof="0" dirty="0"/>
              <a:t>for Verification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EA11CE-DB68-DBEF-A35E-86084D4595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Run scan again after fixes</a:t>
            </a:r>
          </a:p>
          <a:p>
            <a:pPr lvl="0"/>
            <a:r>
              <a:rPr lang="en-US" dirty="0"/>
              <a:t>Check if issue persists</a:t>
            </a:r>
          </a:p>
          <a:p>
            <a:pPr lvl="0"/>
            <a:r>
              <a:rPr lang="en-US" dirty="0"/>
              <a:t>Repeat if unresolved</a:t>
            </a:r>
          </a:p>
          <a:p>
            <a:pPr lvl="0"/>
            <a:r>
              <a:rPr lang="en-US" dirty="0"/>
              <a:t>Confirm remediation success</a:t>
            </a:r>
          </a:p>
        </p:txBody>
      </p:sp>
    </p:spTree>
    <p:extLst>
      <p:ext uri="{BB962C8B-B14F-4D97-AF65-F5344CB8AC3E}">
        <p14:creationId xmlns:p14="http://schemas.microsoft.com/office/powerpoint/2010/main" val="33142326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3F974-1AB3-4854-CF19-53824CE7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1B70B0-93DC-EBAC-650D-26F6FEC34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Testing</a:t>
            </a:r>
            <a:br>
              <a:rPr lang="en-US" dirty="0"/>
            </a:br>
            <a:r>
              <a:rPr lang="en-US" dirty="0"/>
              <a:t>Scanner Accuracy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75251C9-4FDB-DBAD-6AB7-6889EF277C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Introduce known vulnerability</a:t>
            </a:r>
          </a:p>
          <a:p>
            <a:pPr lvl="0"/>
            <a:r>
              <a:rPr lang="en-US" dirty="0"/>
              <a:t>Verify detection capability</a:t>
            </a:r>
          </a:p>
          <a:p>
            <a:pPr lvl="0"/>
            <a:r>
              <a:rPr lang="en-US" dirty="0"/>
              <a:t>Confirm full coverage</a:t>
            </a:r>
          </a:p>
          <a:p>
            <a:pPr lvl="0"/>
            <a:r>
              <a:rPr lang="en-US" dirty="0"/>
              <a:t>Validate tool effectiveness</a:t>
            </a:r>
          </a:p>
        </p:txBody>
      </p:sp>
    </p:spTree>
    <p:extLst>
      <p:ext uri="{BB962C8B-B14F-4D97-AF65-F5344CB8AC3E}">
        <p14:creationId xmlns:p14="http://schemas.microsoft.com/office/powerpoint/2010/main" val="32153872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6B1F6-DB0C-734D-3628-3DA556CC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6F5385-DF53-9E1E-D8DD-2B18C2D6C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Vulnerability</a:t>
            </a:r>
            <a:br>
              <a:rPr lang="en-US" dirty="0"/>
            </a:br>
            <a:r>
              <a:rPr lang="en-US" dirty="0"/>
              <a:t>Scan Review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2A72DA4-9C48-64A4-9787-A0575B2231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Routine security process</a:t>
            </a:r>
          </a:p>
          <a:p>
            <a:pPr lvl="0"/>
            <a:r>
              <a:rPr lang="en-US" dirty="0"/>
              <a:t>Requires critical analysis</a:t>
            </a:r>
          </a:p>
          <a:p>
            <a:pPr lvl="0"/>
            <a:r>
              <a:rPr lang="en-US" dirty="0"/>
              <a:t>Identify false results</a:t>
            </a:r>
          </a:p>
          <a:p>
            <a:pPr lvl="0"/>
            <a:r>
              <a:rPr lang="en-US" dirty="0"/>
              <a:t>Interpret findings correctly</a:t>
            </a:r>
          </a:p>
        </p:txBody>
      </p:sp>
    </p:spTree>
    <p:extLst>
      <p:ext uri="{BB962C8B-B14F-4D97-AF65-F5344CB8AC3E}">
        <p14:creationId xmlns:p14="http://schemas.microsoft.com/office/powerpoint/2010/main" val="31368879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76027dd9-77cd-484f-b6db-8bbe1351c2b5" xsi:nil="true"/>
    <lcf76f155ced4ddcb4097134ff3c332f xmlns="76027dd9-77cd-484f-b6db-8bbe1351c2b5">
      <Terms xmlns="http://schemas.microsoft.com/office/infopath/2007/PartnerControls"/>
    </lcf76f155ced4ddcb4097134ff3c332f>
    <TaxCatchAll xmlns="1046e879-d081-4053-adba-52e34fa7725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FFD909-429B-4107-A2B1-C958B91C177D}">
  <ds:schemaRefs>
    <ds:schemaRef ds:uri="1046e879-d081-4053-adba-52e34fa7725d"/>
    <ds:schemaRef ds:uri="13a0c8d5-cff5-4140-b58f-0947a5552a6a"/>
    <ds:schemaRef ds:uri="76027dd9-77cd-484f-b6db-8bbe1351c2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925A222-F9F2-46E3-9309-DF332776EE1C}">
  <ds:schemaRefs>
    <ds:schemaRef ds:uri="1046e879-d081-4053-adba-52e34fa7725d"/>
    <ds:schemaRef ds:uri="13a0c8d5-cff5-4140-b58f-0947a5552a6a"/>
    <ds:schemaRef ds:uri="76027dd9-77cd-484f-b6db-8bbe1351c2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6265556-9F64-45B8-80A5-20FC8B6E91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627</Words>
  <Application>Microsoft Office PowerPoint</Application>
  <PresentationFormat>Widescreen</PresentationFormat>
  <Paragraphs>139</Paragraphs>
  <Slides>34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Montserrat</vt:lpstr>
      <vt:lpstr>Montserrat ExtraLight</vt:lpstr>
      <vt:lpstr>Montserrat Light</vt:lpstr>
      <vt:lpstr>Montserrat SemiBold</vt:lpstr>
      <vt:lpstr>Custom Design</vt:lpstr>
      <vt:lpstr>Vulnerability Scanning Types</vt:lpstr>
      <vt:lpstr>Internal vs  External Scanning</vt:lpstr>
      <vt:lpstr>Agent vs  Agentless Scanning</vt:lpstr>
      <vt:lpstr>Credentialed vs Non-Credentialed Scans</vt:lpstr>
      <vt:lpstr>Active vs  Passive Scanning</vt:lpstr>
      <vt:lpstr>Network Mapping and Device Fingerprinting</vt:lpstr>
      <vt:lpstr>Vulnerability Scanning Considerations</vt:lpstr>
      <vt:lpstr>Vulnerability Scanning Process</vt:lpstr>
      <vt:lpstr>Scan Planning Considerations</vt:lpstr>
      <vt:lpstr>Scan Planning</vt:lpstr>
      <vt:lpstr>Scan Scheduling</vt:lpstr>
      <vt:lpstr>Severity Thresholds</vt:lpstr>
      <vt:lpstr>Network Segmentation</vt:lpstr>
      <vt:lpstr>Regulatory Requirements</vt:lpstr>
      <vt:lpstr>Governance Frameworks</vt:lpstr>
      <vt:lpstr>What Is Governance?</vt:lpstr>
      <vt:lpstr>PCI DSS The Payment Card Industry Standard</vt:lpstr>
      <vt:lpstr>CIS Benchmarks Best Practices for Hardening</vt:lpstr>
      <vt:lpstr>ISO 27000 Series</vt:lpstr>
      <vt:lpstr>Policies and Governance</vt:lpstr>
      <vt:lpstr>Exam Prep Tips</vt:lpstr>
      <vt:lpstr>Vulnerability Scanning Response</vt:lpstr>
      <vt:lpstr>Exploitability and Threat Actviity</vt:lpstr>
      <vt:lpstr>Asset Value and Impact</vt:lpstr>
      <vt:lpstr>Remediation Availability</vt:lpstr>
      <vt:lpstr>Scan Result Accuracy Types</vt:lpstr>
      <vt:lpstr>True Positive and True Negative</vt:lpstr>
      <vt:lpstr>False Positive</vt:lpstr>
      <vt:lpstr>False Negative</vt:lpstr>
      <vt:lpstr>Context in Scan Results</vt:lpstr>
      <vt:lpstr>Validating Remediation</vt:lpstr>
      <vt:lpstr>Rescanning for Verification</vt:lpstr>
      <vt:lpstr>Testing Scanner Accuracy</vt:lpstr>
      <vt:lpstr>Vulnerability Scan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and Account Management</dc:title>
  <dc:creator>Shannon Lehmer</dc:creator>
  <cp:lastModifiedBy>Dana Barineau</cp:lastModifiedBy>
  <cp:revision>4</cp:revision>
  <dcterms:created xsi:type="dcterms:W3CDTF">2021-01-26T20:17:48Z</dcterms:created>
  <dcterms:modified xsi:type="dcterms:W3CDTF">2026-06-25T21:28:11Z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0x010100C634B67D360B774FBA94A353DF812505</vt:lpwstr>
  </property>
  <property fmtid="{D5CDD505-2E9C-101B-9397-08002B2CF9AE}" pid="3" name="MediaServiceImageTags">
    <vt:lpwstr/>
  </property>
  <property fmtid="{D5CDD505-2E9C-101B-9397-08002B2CF9AE}" pid="4" name="Reviewed">
    <vt:bool>false</vt:bool>
  </property>
  <property fmtid="{D5CDD505-2E9C-101B-9397-08002B2CF9AE}" pid="5" name="Order">
    <vt:r8>6033200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