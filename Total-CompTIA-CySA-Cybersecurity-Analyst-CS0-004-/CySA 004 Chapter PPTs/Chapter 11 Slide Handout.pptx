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394" r:id="rId6"/>
    <p:sldId id="395" r:id="rId7"/>
    <p:sldId id="396" r:id="rId8"/>
    <p:sldId id="397" r:id="rId9"/>
    <p:sldId id="398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4"/>
            <p14:sldId id="395"/>
            <p14:sldId id="396"/>
            <p14:sldId id="397"/>
            <p14:sldId id="398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1FEEF-0DCB-4C45-8D78-48D19F145106}" v="4" dt="2026-06-10T21:42:47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551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>
                <a:latin typeface="Montserrat Light"/>
              </a:rPr>
              <a:t>Vulnerability Scoring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11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6A5B-4D8A-FFF2-F140-75ECB5223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9F5EAA-31E1-5C6A-273C-78A97AF6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CVSS</a:t>
            </a:r>
            <a:r>
              <a:rPr lang="en-US" dirty="0"/>
              <a:t> Overview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11C43-0AB6-047A-B1B7-CA2E8355B9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Common Vulnerability        Scoring System</a:t>
            </a:r>
          </a:p>
          <a:p>
            <a:r>
              <a:rPr lang="en-US" dirty="0"/>
              <a:t>Measures severity                            of vulnerabilities</a:t>
            </a:r>
          </a:p>
          <a:p>
            <a:r>
              <a:rPr lang="en-US" dirty="0"/>
              <a:t>Derives for CVE data</a:t>
            </a:r>
          </a:p>
          <a:p>
            <a:r>
              <a:rPr lang="en-US" noProof="0" dirty="0"/>
              <a:t>Based </a:t>
            </a:r>
            <a:r>
              <a:rPr lang="en-US" dirty="0"/>
              <a:t>on multiple factors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683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8C7B-B8BC-3328-E1B1-7EA84FBB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69169E-A7B1-60EB-E31F-FF21C2D6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CVSS Score Range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82390C-BAE9-A944-8C6E-C0400D8BA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Scores range from 0-10</a:t>
            </a:r>
          </a:p>
          <a:p>
            <a:r>
              <a:rPr lang="en-US" dirty="0"/>
              <a:t>Higher score means a           higher severity</a:t>
            </a:r>
          </a:p>
          <a:p>
            <a:r>
              <a:rPr lang="en-US" noProof="0" dirty="0"/>
              <a:t>Represents impact if exploited</a:t>
            </a:r>
          </a:p>
          <a:p>
            <a:r>
              <a:rPr lang="en-US" dirty="0"/>
              <a:t>Used for prioritization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71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1A1D-098E-BF45-B375-8D985BFB2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407547-FA0B-AA8C-B4BC-B7BBFD66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CVSS </a:t>
            </a:r>
            <a:r>
              <a:rPr lang="en-US" dirty="0"/>
              <a:t>Metrics Evolution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E41B21-374F-808D-146A-D614C79B6B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Version 3.1 used 8 metrics</a:t>
            </a:r>
          </a:p>
          <a:p>
            <a:r>
              <a:rPr lang="en-US" dirty="0"/>
              <a:t>Version 4 uses 12 metrics</a:t>
            </a:r>
          </a:p>
          <a:p>
            <a:r>
              <a:rPr lang="en-US" noProof="0" dirty="0"/>
              <a:t>Increased precision over time</a:t>
            </a:r>
          </a:p>
          <a:p>
            <a:r>
              <a:rPr lang="en-US" noProof="0" dirty="0"/>
              <a:t>Expands evaluation factors</a:t>
            </a:r>
          </a:p>
        </p:txBody>
      </p:sp>
    </p:spTree>
    <p:extLst>
      <p:ext uri="{BB962C8B-B14F-4D97-AF65-F5344CB8AC3E}">
        <p14:creationId xmlns:p14="http://schemas.microsoft.com/office/powerpoint/2010/main" val="26085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187D-1B4A-3787-D424-9D7859C82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1D21AD-A0BC-2650-9BA0-90AA910EB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Comparing</a:t>
            </a:r>
            <a:br>
              <a:rPr lang="en-US" noProof="0" dirty="0"/>
            </a:br>
            <a:r>
              <a:rPr lang="en-US" noProof="0" dirty="0"/>
              <a:t>CVSS Scores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174529C-143B-91C7-2C6A-5F62E6EE2B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Compare severity                    across vulnerabilities</a:t>
            </a:r>
          </a:p>
          <a:p>
            <a:r>
              <a:rPr lang="en-US" dirty="0"/>
              <a:t>Identify higher risk issues</a:t>
            </a:r>
          </a:p>
          <a:p>
            <a:r>
              <a:rPr lang="en-US" noProof="0" dirty="0"/>
              <a:t>Focus on key differences</a:t>
            </a:r>
          </a:p>
          <a:p>
            <a:r>
              <a:rPr lang="en-US" dirty="0"/>
              <a:t>Supports prioritization decisions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9659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83F2D-1449-A54A-AED1-6ADF16BD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0515D7-FCFC-6DD3-BC18-3AE0C179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Attack Surface Metrics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134C41-915C-8DC8-9AC8-A578084916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Attack Vector</a:t>
            </a:r>
          </a:p>
          <a:p>
            <a:pPr lvl="1"/>
            <a:r>
              <a:rPr lang="en-US" dirty="0"/>
              <a:t>Requires privilege level</a:t>
            </a:r>
          </a:p>
          <a:p>
            <a:pPr lvl="0"/>
            <a:r>
              <a:rPr lang="en-US" dirty="0"/>
              <a:t>Attack Complexity</a:t>
            </a:r>
          </a:p>
          <a:p>
            <a:pPr lvl="1"/>
            <a:r>
              <a:rPr lang="en-US" dirty="0"/>
              <a:t>High, low, or none</a:t>
            </a:r>
          </a:p>
          <a:p>
            <a:pPr lvl="0"/>
            <a:r>
              <a:rPr lang="en-US" dirty="0"/>
              <a:t>Attack Requirements</a:t>
            </a:r>
          </a:p>
          <a:p>
            <a:pPr lvl="1"/>
            <a:r>
              <a:rPr lang="en-US" dirty="0"/>
              <a:t>Present or not on the system</a:t>
            </a:r>
          </a:p>
          <a:p>
            <a:pPr lvl="0"/>
            <a:r>
              <a:rPr lang="en-US" dirty="0"/>
              <a:t>Define access needed</a:t>
            </a:r>
          </a:p>
          <a:p>
            <a:pPr lvl="1"/>
            <a:r>
              <a:rPr lang="en-US" dirty="0"/>
              <a:t>High level of privileges, </a:t>
            </a:r>
            <a:r>
              <a:rPr lang="en-US"/>
              <a:t>low, or </a:t>
            </a:r>
            <a:r>
              <a:rPr lang="en-US" dirty="0"/>
              <a:t>none</a:t>
            </a:r>
          </a:p>
          <a:p>
            <a:pPr lvl="1"/>
            <a:r>
              <a:rPr lang="en-US" dirty="0"/>
              <a:t>Active or passive user</a:t>
            </a:r>
          </a:p>
        </p:txBody>
      </p:sp>
    </p:spTree>
    <p:extLst>
      <p:ext uri="{BB962C8B-B14F-4D97-AF65-F5344CB8AC3E}">
        <p14:creationId xmlns:p14="http://schemas.microsoft.com/office/powerpoint/2010/main" val="2423875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EFEA1-48E5-C401-DAC4-858754FB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F4DBDE-8541-713A-18A7-99B6DC32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Impact and</a:t>
            </a:r>
            <a:br>
              <a:rPr lang="en-US" noProof="0" dirty="0"/>
            </a:br>
            <a:r>
              <a:rPr lang="en-US" noProof="0" dirty="0"/>
              <a:t>Exploit Maturity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5C1F1E-7392-E62D-D7BF-7846CB2310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CIA impact on systems</a:t>
            </a:r>
          </a:p>
          <a:p>
            <a:r>
              <a:rPr lang="en-US" dirty="0"/>
              <a:t>Effects on connected systems</a:t>
            </a:r>
          </a:p>
          <a:p>
            <a:r>
              <a:rPr lang="en-US" dirty="0"/>
              <a:t>Exploit maturity level</a:t>
            </a:r>
          </a:p>
          <a:p>
            <a:r>
              <a:rPr lang="en-US" dirty="0"/>
              <a:t>Proof of concept or active use</a:t>
            </a:r>
          </a:p>
        </p:txBody>
      </p:sp>
    </p:spTree>
    <p:extLst>
      <p:ext uri="{BB962C8B-B14F-4D97-AF65-F5344CB8AC3E}">
        <p14:creationId xmlns:p14="http://schemas.microsoft.com/office/powerpoint/2010/main" val="113016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748D-89C3-761A-41DB-100DC1D1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9E141-707B-0115-D4C9-73852E73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EPSS Overview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1E9796-8306-4BC2-88E2-2CFE8B22F8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Exploit Prediction Scoring System</a:t>
            </a:r>
          </a:p>
          <a:p>
            <a:r>
              <a:rPr lang="en-US" dirty="0"/>
              <a:t>Measures likelihood                        of exploitation</a:t>
            </a:r>
          </a:p>
          <a:p>
            <a:r>
              <a:rPr lang="en-US" dirty="0"/>
              <a:t>Complements CVSS severity</a:t>
            </a:r>
          </a:p>
          <a:p>
            <a:r>
              <a:rPr lang="en-US" dirty="0"/>
              <a:t>Supports risk prioritization</a:t>
            </a:r>
          </a:p>
        </p:txBody>
      </p:sp>
    </p:spTree>
    <p:extLst>
      <p:ext uri="{BB962C8B-B14F-4D97-AF65-F5344CB8AC3E}">
        <p14:creationId xmlns:p14="http://schemas.microsoft.com/office/powerpoint/2010/main" val="83965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AD409-6A6D-8E40-8339-2D4C049C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1C254-B0ED-C9DE-0D39-1B88E7C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CVSS vs EPSS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D670D1-3A82-1A4E-0630-0DF08D296F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CVSS measures severity</a:t>
            </a:r>
          </a:p>
          <a:p>
            <a:r>
              <a:rPr lang="en-US" dirty="0"/>
              <a:t>EPSS measures likelihood</a:t>
            </a:r>
          </a:p>
          <a:p>
            <a:r>
              <a:rPr lang="en-US" dirty="0"/>
              <a:t>Combined for better analysis</a:t>
            </a:r>
          </a:p>
          <a:p>
            <a:r>
              <a:rPr lang="en-US" dirty="0"/>
              <a:t>Supports informed decisions</a:t>
            </a:r>
          </a:p>
        </p:txBody>
      </p:sp>
    </p:spTree>
    <p:extLst>
      <p:ext uri="{BB962C8B-B14F-4D97-AF65-F5344CB8AC3E}">
        <p14:creationId xmlns:p14="http://schemas.microsoft.com/office/powerpoint/2010/main" val="1858230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Vulnerability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11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6202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Attack Surface Reduction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Every entry, interaction, or data-extraction point an attacker </a:t>
            </a:r>
            <a:br>
              <a:rPr lang="en-US" noProof="0" dirty="0"/>
            </a:br>
            <a:r>
              <a:rPr lang="en-US" noProof="0" dirty="0"/>
              <a:t>can reach</a:t>
            </a:r>
          </a:p>
          <a:p>
            <a:pPr lvl="1"/>
            <a:r>
              <a:rPr lang="en-US" noProof="0" dirty="0"/>
              <a:t>Shrink it to limit </a:t>
            </a:r>
            <a:br>
              <a:rPr lang="en-US" noProof="0" dirty="0"/>
            </a:br>
            <a:r>
              <a:rPr lang="en-US" noProof="0" dirty="0"/>
              <a:t>threat-actor avenues</a:t>
            </a:r>
          </a:p>
          <a:p>
            <a:pPr lvl="1"/>
            <a:r>
              <a:rPr lang="en-US" noProof="0" dirty="0"/>
              <a:t>Fewer points = fewer channels </a:t>
            </a:r>
            <a:br>
              <a:rPr lang="en-US" noProof="0" dirty="0"/>
            </a:br>
            <a:r>
              <a:rPr lang="en-US" noProof="0" dirty="0"/>
              <a:t>to monitor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Version and Configuration Tracking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/>
              <a:t>Version numbers track systems and configs as they change</a:t>
            </a:r>
          </a:p>
          <a:p>
            <a:pPr lvl="1"/>
            <a:r>
              <a:rPr lang="en-US" noProof="0"/>
              <a:t>Trace issues to a version; identify all affected systems fast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Patching and </a:t>
            </a:r>
            <a:br>
              <a:rPr lang="en-US" noProof="0" dirty="0"/>
            </a:br>
            <a:r>
              <a:rPr lang="en-US" noProof="0" dirty="0"/>
              <a:t>Software Updates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/>
              <a:t>Software ships with hidden flaws that surface over time</a:t>
            </a:r>
          </a:p>
          <a:p>
            <a:pPr lvl="1"/>
            <a:r>
              <a:rPr lang="en-US" noProof="0"/>
              <a:t>Patch before threat actors exploit the weakness</a:t>
            </a:r>
          </a:p>
          <a:p>
            <a:pPr lvl="1"/>
            <a:r>
              <a:rPr lang="en-US" noProof="0"/>
              <a:t>Use automated updates and central patch management</a:t>
            </a:r>
          </a:p>
        </p:txBody>
      </p:sp>
    </p:spTree>
    <p:extLst>
      <p:ext uri="{BB962C8B-B14F-4D97-AF65-F5344CB8AC3E}">
        <p14:creationId xmlns:p14="http://schemas.microsoft.com/office/powerpoint/2010/main" val="333716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Security Exceptions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>
                <a:latin typeface="Montserrat"/>
                <a:cs typeface="Arial"/>
              </a:rPr>
              <a:t>Temporary deviations from policy for business or technical needs</a:t>
            </a:r>
          </a:p>
          <a:p>
            <a:pPr lvl="1"/>
            <a:r>
              <a:rPr lang="en-US" noProof="0"/>
              <a:t>E.g., adding a vulnerable system to validate scanner accuracy</a:t>
            </a:r>
          </a:p>
          <a:p>
            <a:pPr lvl="1"/>
            <a:r>
              <a:rPr lang="en-US" noProof="0"/>
              <a:t>Must be controlled, documented, and time-limited</a:t>
            </a:r>
          </a:p>
        </p:txBody>
      </p:sp>
    </p:spTree>
    <p:extLst>
      <p:ext uri="{BB962C8B-B14F-4D97-AF65-F5344CB8AC3E}">
        <p14:creationId xmlns:p14="http://schemas.microsoft.com/office/powerpoint/2010/main" val="1832713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Maintaining Security Posture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/>
              <a:t>Combine secure policies, vigilant users, and strong tools</a:t>
            </a:r>
          </a:p>
          <a:p>
            <a:pPr lvl="1"/>
            <a:r>
              <a:rPr lang="en-US" noProof="0"/>
              <a:t>Every hardening practice covered here is essential</a:t>
            </a:r>
          </a:p>
        </p:txBody>
      </p:sp>
    </p:spTree>
    <p:extLst>
      <p:ext uri="{BB962C8B-B14F-4D97-AF65-F5344CB8AC3E}">
        <p14:creationId xmlns:p14="http://schemas.microsoft.com/office/powerpoint/2010/main" val="40337487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FFD909-429B-4107-A2B1-C958B91C177D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13a0c8d5-cff5-4140-b58f-0947a5552a6a"/>
    <ds:schemaRef ds:uri="http://schemas.microsoft.com/office/infopath/2007/PartnerControls"/>
    <ds:schemaRef ds:uri="1046e879-d081-4053-adba-52e34fa7725d"/>
    <ds:schemaRef ds:uri="http://purl.org/dc/terms/"/>
    <ds:schemaRef ds:uri="76027dd9-77cd-484f-b6db-8bbe1351c2b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313</Words>
  <Application>Microsoft Office PowerPoint</Application>
  <PresentationFormat>Widescreen</PresentationFormat>
  <Paragraphs>67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Vulnerability Scoring</vt:lpstr>
      <vt:lpstr>CVSS Overview</vt:lpstr>
      <vt:lpstr>CVSS Score Range</vt:lpstr>
      <vt:lpstr>CVSS Metrics Evolution</vt:lpstr>
      <vt:lpstr>Comparing CVSS Scores</vt:lpstr>
      <vt:lpstr>Attack Surface Metrics</vt:lpstr>
      <vt:lpstr>Impact and Exploit Maturity</vt:lpstr>
      <vt:lpstr>EPSS Overview</vt:lpstr>
      <vt:lpstr>CVSS vs EPSS</vt:lpstr>
      <vt:lpstr>Vulnerability Management</vt:lpstr>
      <vt:lpstr>Attack Surface Reduction</vt:lpstr>
      <vt:lpstr>Version and Configuration Tracking</vt:lpstr>
      <vt:lpstr>Patching and  Software Updates</vt:lpstr>
      <vt:lpstr>Security Exceptions</vt:lpstr>
      <vt:lpstr>Maintaining Security Posture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5</cp:revision>
  <dcterms:created xsi:type="dcterms:W3CDTF">2021-01-26T20:17:48Z</dcterms:created>
  <dcterms:modified xsi:type="dcterms:W3CDTF">2026-06-25T21:30:38Z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