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4"/>
  </p:notesMasterIdLst>
  <p:sldIdLst>
    <p:sldId id="256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382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11" r:id="rId24"/>
    <p:sldId id="412" r:id="rId25"/>
    <p:sldId id="413" r:id="rId26"/>
    <p:sldId id="414" r:id="rId27"/>
    <p:sldId id="415" r:id="rId28"/>
    <p:sldId id="416" r:id="rId29"/>
    <p:sldId id="417" r:id="rId30"/>
    <p:sldId id="418" r:id="rId31"/>
    <p:sldId id="419" r:id="rId32"/>
    <p:sldId id="42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C1260-7E40-4364-BD07-DE7E2F3E7162}">
          <p14:sldIdLst>
            <p14:sldId id="256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382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ott" initials="S" lastIdx="5" clrIdx="0">
    <p:extLst>
      <p:ext uri="{19B8F6BF-5375-455C-9EA6-DF929625EA0E}">
        <p15:presenceInfo xmlns:p15="http://schemas.microsoft.com/office/powerpoint/2012/main" userId="Scott" providerId="None"/>
      </p:ext>
    </p:extLst>
  </p:cmAuthor>
  <p:cmAuthor id="2" name="Dana Barineau" initials="DB" lastIdx="1" clrIdx="1">
    <p:extLst>
      <p:ext uri="{19B8F6BF-5375-455C-9EA6-DF929625EA0E}">
        <p15:presenceInfo xmlns:p15="http://schemas.microsoft.com/office/powerpoint/2012/main" userId="Dana Barineau" providerId="None"/>
      </p:ext>
    </p:extLst>
  </p:cmAuthor>
  <p:cmAuthor id="3" name="Alden Drake" initials="AD" lastIdx="3" clrIdx="2">
    <p:extLst>
      <p:ext uri="{19B8F6BF-5375-455C-9EA6-DF929625EA0E}">
        <p15:presenceInfo xmlns:p15="http://schemas.microsoft.com/office/powerpoint/2012/main" userId="02a7e7fa871b3cfc" providerId="Windows Live"/>
      </p:ext>
    </p:extLst>
  </p:cmAuthor>
  <p:cmAuthor id="4" name="Paul Haines" initials="PH" lastIdx="9" clrIdx="3">
    <p:extLst>
      <p:ext uri="{19B8F6BF-5375-455C-9EA6-DF929625EA0E}">
        <p15:presenceInfo xmlns:p15="http://schemas.microsoft.com/office/powerpoint/2012/main" userId="Paul Haines" providerId="None"/>
      </p:ext>
    </p:extLst>
  </p:cmAuthor>
  <p:cmAuthor id="5" name="Shannon Lehmer" initials="SL" lastIdx="2" clrIdx="4">
    <p:extLst>
      <p:ext uri="{19B8F6BF-5375-455C-9EA6-DF929625EA0E}">
        <p15:presenceInfo xmlns:p15="http://schemas.microsoft.com/office/powerpoint/2012/main" userId="c588402909581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04C"/>
    <a:srgbClr val="07304C"/>
    <a:srgbClr val="DBDBD3"/>
    <a:srgbClr val="064973"/>
    <a:srgbClr val="FF0000"/>
    <a:srgbClr val="FFFF00"/>
    <a:srgbClr val="22B965"/>
    <a:srgbClr val="00AE4D"/>
    <a:srgbClr val="096AA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51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726E1-FD36-459F-813E-F371EC296CF1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166A4-E9D0-4AFA-9CA5-FF99D13E5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5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036" y="3973882"/>
            <a:ext cx="9543964" cy="2418014"/>
          </a:xfrm>
        </p:spPr>
        <p:txBody>
          <a:bodyPr anchor="ctr">
            <a:normAutofit/>
          </a:bodyPr>
          <a:lstStyle>
            <a:lvl1pPr>
              <a:defRPr lang="en-US" sz="5400" kern="1200" dirty="0">
                <a:solidFill>
                  <a:srgbClr val="DBDBD3"/>
                </a:solidFill>
                <a:effectLst/>
                <a:latin typeface="Montserrat Light" panose="020F05020202040302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50725" y="1785939"/>
            <a:ext cx="10893599" cy="215722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8000">
                <a:solidFill>
                  <a:srgbClr val="DBDBD3"/>
                </a:solidFill>
                <a:effectLst/>
                <a:latin typeface="Montserrat SemiBold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42055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pisod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30E6-8EDB-42B7-B27B-4CEE64C474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47549"/>
            <a:ext cx="10528300" cy="2165227"/>
          </a:xfrm>
        </p:spPr>
        <p:txBody>
          <a:bodyPr anchor="b">
            <a:normAutofit/>
          </a:bodyPr>
          <a:lstStyle>
            <a:lvl1pPr>
              <a:defRPr lang="en-US" sz="6000" kern="1200" dirty="0">
                <a:solidFill>
                  <a:srgbClr val="DBDBD3"/>
                </a:solidFill>
                <a:effectLst/>
                <a:latin typeface="Montserrat SemiBold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FBFAA-4870-4804-847C-C1818E4E25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88024" y="3926179"/>
            <a:ext cx="8572126" cy="1277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rgbClr val="DBDBD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B1BE48-3928-45FD-AC35-DC23102077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8024" y="5273714"/>
            <a:ext cx="8621504" cy="12811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rgbClr val="DBDBD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DBAD4-865A-48F1-9D57-A0A0884E5B24}"/>
              </a:ext>
            </a:extLst>
          </p:cNvPr>
          <p:cNvSpPr txBox="1"/>
          <p:nvPr userDrawn="1"/>
        </p:nvSpPr>
        <p:spPr>
          <a:xfrm>
            <a:off x="831850" y="3942015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5C9B9-B706-4569-8001-ADF6E33FC5F4}"/>
              </a:ext>
            </a:extLst>
          </p:cNvPr>
          <p:cNvSpPr txBox="1"/>
          <p:nvPr userDrawn="1"/>
        </p:nvSpPr>
        <p:spPr>
          <a:xfrm>
            <a:off x="831850" y="3926179"/>
            <a:ext cx="1956174" cy="127768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Episode title: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D5751-21D0-4756-861B-745D9EA18277}"/>
              </a:ext>
            </a:extLst>
          </p:cNvPr>
          <p:cNvSpPr txBox="1"/>
          <p:nvPr userDrawn="1"/>
        </p:nvSpPr>
        <p:spPr>
          <a:xfrm>
            <a:off x="831850" y="5280317"/>
            <a:ext cx="2027891" cy="12745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kern="1200">
                <a:solidFill>
                  <a:srgbClr val="DBDBD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Objective:</a:t>
            </a:r>
          </a:p>
        </p:txBody>
      </p:sp>
    </p:spTree>
    <p:extLst>
      <p:ext uri="{BB962C8B-B14F-4D97-AF65-F5344CB8AC3E}">
        <p14:creationId xmlns:p14="http://schemas.microsoft.com/office/powerpoint/2010/main" val="3287370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One-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9882"/>
            <a:ext cx="9845842" cy="1165455"/>
          </a:xfrm>
        </p:spPr>
        <p:txBody>
          <a:bodyPr/>
          <a:lstStyle>
            <a:lvl1pPr>
              <a:defRPr u="sng">
                <a:solidFill>
                  <a:srgbClr val="DBDBD3"/>
                </a:solidFill>
              </a:defRPr>
            </a:lvl1pPr>
          </a:lstStyle>
          <a:p>
            <a:r>
              <a:rPr lang="en-US"/>
              <a:t>Click To Edit One-Line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1433"/>
            <a:ext cx="10515600" cy="447074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50A8-5D14-44D4-9E8A-F3B912BC1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668"/>
            <a:ext cx="9630103" cy="1325563"/>
          </a:xfrm>
        </p:spPr>
        <p:txBody>
          <a:bodyPr>
            <a:normAutofit/>
          </a:bodyPr>
          <a:lstStyle>
            <a:lvl1pPr>
              <a:defRPr sz="4200" u="sng"/>
            </a:lvl1pPr>
          </a:lstStyle>
          <a:p>
            <a:r>
              <a:rPr lang="en-US"/>
              <a:t>Click to Edit Two-Line Full Slide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6235-0A8D-4E1E-9511-28AF4C4BC77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17525"/>
            <a:ext cx="10515600" cy="405112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79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One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57F8-2206-4304-B33D-58B55A3BF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583" y="548753"/>
            <a:ext cx="7067238" cy="633011"/>
          </a:xfrm>
        </p:spPr>
        <p:txBody>
          <a:bodyPr anchor="t">
            <a:noAutofit/>
          </a:bodyPr>
          <a:lstStyle>
            <a:lvl1pPr algn="l">
              <a:defRPr sz="4400" u="sng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4D5B110-EBDF-7845-ABA8-800A1AB89C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1373188"/>
            <a:ext cx="7067133" cy="45265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8925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lide Two-Line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49ED4-5ED2-92BC-C279-8DFEAD08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583" y="537393"/>
            <a:ext cx="7067238" cy="1325563"/>
          </a:xfrm>
        </p:spPr>
        <p:txBody>
          <a:bodyPr>
            <a:normAutofit/>
          </a:bodyPr>
          <a:lstStyle>
            <a:lvl1pPr>
              <a:defRPr sz="4400" u="sng">
                <a:latin typeface="Montserra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F4825-B89B-CEE8-4FA4-90A1337C09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11688" y="2070101"/>
            <a:ext cx="7067550" cy="37732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0006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41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02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77335-E9FF-4113-A0BC-8AA8EE480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984584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BB5DD-2E34-1CED-3F24-0762D9A64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861"/>
            <a:ext cx="10515600" cy="43089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9" r:id="rId2"/>
    <p:sldLayoutId id="2147483662" r:id="rId3"/>
    <p:sldLayoutId id="2147483663" r:id="rId4"/>
    <p:sldLayoutId id="2147483664" r:id="rId5"/>
    <p:sldLayoutId id="2147483665" r:id="rId6"/>
    <p:sldLayoutId id="2147483670" r:id="rId7"/>
    <p:sldLayoutId id="214748367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DBDBD3"/>
          </a:solidFill>
          <a:effectLst/>
          <a:latin typeface="Montserrat SemiBold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400"/>
        </a:spcAft>
        <a:buFont typeface="Arial" panose="020B0604020202020204" pitchFamily="34" charset="0"/>
        <a:buNone/>
        <a:defRPr sz="4000" kern="1200">
          <a:solidFill>
            <a:srgbClr val="DBDBD3"/>
          </a:solidFill>
          <a:latin typeface="Montserrat" pitchFamily="2" charset="0"/>
          <a:ea typeface="+mn-ea"/>
          <a:cs typeface="Arial" panose="020B0604020202020204" pitchFamily="34" charset="0"/>
        </a:defRPr>
      </a:lvl1pPr>
      <a:lvl2pPr marL="746125" indent="-288925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36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400"/>
        </a:spcAft>
        <a:buSzPct val="60000"/>
        <a:buFont typeface="Montserrat" pitchFamily="2" charset="0"/>
        <a:buChar char="–"/>
        <a:defRPr sz="3200" kern="1200">
          <a:solidFill>
            <a:srgbClr val="DBDBD3"/>
          </a:solidFill>
          <a:latin typeface="Montserrat ExtraLight" pitchFamily="2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Managing Third Party Risk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14</a:t>
            </a:r>
          </a:p>
        </p:txBody>
      </p:sp>
    </p:spTree>
    <p:extLst>
      <p:ext uri="{BB962C8B-B14F-4D97-AF65-F5344CB8AC3E}">
        <p14:creationId xmlns:p14="http://schemas.microsoft.com/office/powerpoint/2010/main" val="209058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61644-F016-B352-25BE-2B1DE3986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9BA9EE-9844-983E-0984-5DCBCE3F6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Third-Party</a:t>
            </a:r>
            <a:br>
              <a:rPr lang="en-US" noProof="0" dirty="0"/>
            </a:br>
            <a:r>
              <a:rPr lang="en-US" noProof="0" dirty="0"/>
              <a:t>Risk Management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7AEB31-09AE-5A33-6DC9-2F86203E32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Organizations rely on         external vendors</a:t>
            </a:r>
          </a:p>
          <a:p>
            <a:r>
              <a:rPr lang="en-US" noProof="0" dirty="0"/>
              <a:t>Third-party risk is common</a:t>
            </a:r>
          </a:p>
          <a:p>
            <a:r>
              <a:rPr lang="en-US" noProof="0" dirty="0"/>
              <a:t>Vendor security                    impacts organization</a:t>
            </a:r>
          </a:p>
          <a:p>
            <a:r>
              <a:rPr lang="en-US" noProof="0" dirty="0"/>
              <a:t>Must be actively managed</a:t>
            </a:r>
          </a:p>
        </p:txBody>
      </p:sp>
    </p:spTree>
    <p:extLst>
      <p:ext uri="{BB962C8B-B14F-4D97-AF65-F5344CB8AC3E}">
        <p14:creationId xmlns:p14="http://schemas.microsoft.com/office/powerpoint/2010/main" val="1653211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3D16-70DE-4F78-E608-1C1BED1AB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4EBCA4-2A6D-1F8E-96E3-C961726ED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Supply Chain Risk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9541E9-71D7-650B-4084-4B85137632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Includes all upstream vendors</a:t>
            </a:r>
          </a:p>
          <a:p>
            <a:r>
              <a:rPr lang="en-US" noProof="0" dirty="0"/>
              <a:t>Provides organizational inputs</a:t>
            </a:r>
          </a:p>
          <a:p>
            <a:r>
              <a:rPr lang="en-US" noProof="0" dirty="0"/>
              <a:t>Vendor compromise creates risk</a:t>
            </a:r>
          </a:p>
          <a:p>
            <a:r>
              <a:rPr lang="en-US" noProof="0" dirty="0"/>
              <a:t>Can impact dependent systems</a:t>
            </a:r>
          </a:p>
        </p:txBody>
      </p:sp>
    </p:spTree>
    <p:extLst>
      <p:ext uri="{BB962C8B-B14F-4D97-AF65-F5344CB8AC3E}">
        <p14:creationId xmlns:p14="http://schemas.microsoft.com/office/powerpoint/2010/main" val="1730628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0DB09-10BD-D648-2EE0-73DAB6A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844710-DF54-EDEE-6128-D219B0209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noProof="0" dirty="0"/>
              <a:t>Supply Chain</a:t>
            </a:r>
            <a:br>
              <a:rPr lang="en-US" sz="3600" noProof="0" dirty="0"/>
            </a:br>
            <a:r>
              <a:rPr lang="en-US" sz="3600" noProof="0" dirty="0"/>
              <a:t>Attack Example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6E7AF7-451B-4AF6-329A-DCF110BCF0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Hardware compromise scenario</a:t>
            </a:r>
          </a:p>
          <a:p>
            <a:r>
              <a:rPr lang="en-US" noProof="0" dirty="0"/>
              <a:t>Malicious                       components introduced</a:t>
            </a:r>
          </a:p>
          <a:p>
            <a:r>
              <a:rPr lang="en-US" noProof="0" dirty="0"/>
              <a:t>Affected systems deployed</a:t>
            </a:r>
          </a:p>
          <a:p>
            <a:r>
              <a:rPr lang="en-US" noProof="0" dirty="0"/>
              <a:t>Demonstrates downstream risk</a:t>
            </a:r>
          </a:p>
        </p:txBody>
      </p:sp>
    </p:spTree>
    <p:extLst>
      <p:ext uri="{BB962C8B-B14F-4D97-AF65-F5344CB8AC3E}">
        <p14:creationId xmlns:p14="http://schemas.microsoft.com/office/powerpoint/2010/main" val="2361673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26C2-4EDD-3375-31DB-B7991876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9BA809-DF12-B4FE-BF94-EC7B492A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/>
              <a:t>Software</a:t>
            </a:r>
            <a:br>
              <a:rPr lang="en-US" sz="4000" noProof="0" dirty="0"/>
            </a:br>
            <a:r>
              <a:rPr lang="en-US" sz="4000" noProof="0" dirty="0"/>
              <a:t>Composition Analysis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5BB98DF-079C-8223-FE89-EE06245C7B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Analysis third-party software</a:t>
            </a:r>
          </a:p>
          <a:p>
            <a:r>
              <a:rPr lang="en-US" noProof="0" dirty="0"/>
              <a:t>Identifies external components</a:t>
            </a:r>
          </a:p>
          <a:p>
            <a:r>
              <a:rPr lang="en-US" noProof="0" dirty="0"/>
              <a:t>Detects vulnerabilities</a:t>
            </a:r>
          </a:p>
          <a:p>
            <a:r>
              <a:rPr lang="en-US" noProof="0" dirty="0"/>
              <a:t>Supports risk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394256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00EC7-12BD-45B9-D323-CF432D2C1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0A6537-4303-9247-70D9-1531BC120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/>
              <a:t>SCA Risk Detection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D763B0-A2ED-4EE6-14D4-30D825248D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Identifies vulnerable libraries</a:t>
            </a:r>
          </a:p>
          <a:p>
            <a:r>
              <a:rPr lang="en-US" noProof="0" dirty="0"/>
              <a:t>Detects licensing issues</a:t>
            </a:r>
          </a:p>
          <a:p>
            <a:r>
              <a:rPr lang="en-US" noProof="0" dirty="0"/>
              <a:t>Finds supply chain risks</a:t>
            </a:r>
          </a:p>
          <a:p>
            <a:r>
              <a:rPr lang="en-US" noProof="0" dirty="0"/>
              <a:t>Maps components to CVEs</a:t>
            </a:r>
          </a:p>
        </p:txBody>
      </p:sp>
    </p:spTree>
    <p:extLst>
      <p:ext uri="{BB962C8B-B14F-4D97-AF65-F5344CB8AC3E}">
        <p14:creationId xmlns:p14="http://schemas.microsoft.com/office/powerpoint/2010/main" val="1589226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18D45-E766-6FD8-33A5-9B1829224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E39ADC-7F74-375D-9CF8-526BC4A5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/>
              <a:t>Software Bill of</a:t>
            </a:r>
            <a:br>
              <a:rPr lang="en-US" sz="4000" noProof="0" dirty="0"/>
            </a:br>
            <a:r>
              <a:rPr lang="en-US" sz="4000" noProof="0" dirty="0"/>
              <a:t>Materials (SBOM)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55376D-1FCD-3ECB-ABFB-519D5D1F69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Lists software components</a:t>
            </a:r>
          </a:p>
          <a:p>
            <a:r>
              <a:rPr lang="en-US" noProof="0" dirty="0"/>
              <a:t>Tracks dependencies</a:t>
            </a:r>
          </a:p>
          <a:p>
            <a:r>
              <a:rPr lang="en-US" noProof="0" dirty="0"/>
              <a:t>Supports transparency</a:t>
            </a:r>
          </a:p>
          <a:p>
            <a:r>
              <a:rPr lang="en-US" noProof="0" dirty="0"/>
              <a:t>Aids vulnerability management</a:t>
            </a:r>
          </a:p>
        </p:txBody>
      </p:sp>
    </p:spTree>
    <p:extLst>
      <p:ext uri="{BB962C8B-B14F-4D97-AF65-F5344CB8AC3E}">
        <p14:creationId xmlns:p14="http://schemas.microsoft.com/office/powerpoint/2010/main" val="2878805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CAAC8-4350-02C1-DF83-C203C0B8D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00639D-FF39-975F-7515-74C6C41D9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noProof="0" dirty="0"/>
              <a:t>SBOM Benefits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33E0727-C383-6184-0F88-FE6D707CB5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Identifies affected components</a:t>
            </a:r>
          </a:p>
          <a:p>
            <a:r>
              <a:rPr lang="en-US" noProof="0" dirty="0"/>
              <a:t>Tracks vulnerability exposure</a:t>
            </a:r>
          </a:p>
          <a:p>
            <a:r>
              <a:rPr lang="en-US" noProof="0" dirty="0"/>
              <a:t>Supports supply chain security</a:t>
            </a:r>
          </a:p>
          <a:p>
            <a:r>
              <a:rPr lang="en-US" noProof="0" dirty="0"/>
              <a:t>Improves software insight</a:t>
            </a:r>
          </a:p>
        </p:txBody>
      </p:sp>
    </p:spTree>
    <p:extLst>
      <p:ext uri="{BB962C8B-B14F-4D97-AF65-F5344CB8AC3E}">
        <p14:creationId xmlns:p14="http://schemas.microsoft.com/office/powerpoint/2010/main" val="697055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Remediation Difficulties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</a:t>
            </a:r>
            <a:r>
              <a:rPr lang="en-US" dirty="0">
                <a:latin typeface="Montserrat SemiBold"/>
                <a:cs typeface="Arial"/>
              </a:rPr>
              <a:t>14</a:t>
            </a:r>
            <a:endParaRPr lang="en-US" noProof="0" dirty="0">
              <a:latin typeface="Montserrat Semi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456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1E7684-D7DF-48C9-905F-9B0333A7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Business</a:t>
            </a:r>
            <a:br>
              <a:rPr lang="en-US" noProof="0" dirty="0"/>
            </a:br>
            <a:r>
              <a:rPr lang="en-US" noProof="0" dirty="0"/>
              <a:t>Operational Impact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113D46-B64A-0A9A-9CA6-8C65C0A4BA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Patching may disrupt operations</a:t>
            </a:r>
          </a:p>
          <a:p>
            <a:r>
              <a:rPr lang="en-US" dirty="0"/>
              <a:t>Production systems must   remain active</a:t>
            </a:r>
          </a:p>
          <a:p>
            <a:r>
              <a:rPr lang="en-US" noProof="0" dirty="0"/>
              <a:t>Security cannot                  interrupt business</a:t>
            </a:r>
          </a:p>
          <a:p>
            <a:r>
              <a:rPr lang="en-US" dirty="0"/>
              <a:t>Updates may require off-hours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72166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B4A3F-6930-A481-ABD1-0E15EB92B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B0622E-81C0-6E21-F284-5BEAFB2DE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</a:t>
            </a:r>
            <a:br>
              <a:rPr lang="en-US" dirty="0"/>
            </a:br>
            <a:r>
              <a:rPr lang="en-US" dirty="0"/>
              <a:t>Continuity </a:t>
            </a:r>
            <a:r>
              <a:rPr lang="en-US" noProof="0" dirty="0"/>
              <a:t>Constraints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05D9B91-4488-09D9-63ED-DE7BFB7852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Must maintain ongoing operations</a:t>
            </a:r>
          </a:p>
          <a:p>
            <a:r>
              <a:rPr lang="en-US" dirty="0"/>
              <a:t>Security changes can             cause downtime</a:t>
            </a:r>
          </a:p>
          <a:p>
            <a:r>
              <a:rPr lang="en-US" noProof="0" dirty="0"/>
              <a:t>Work</a:t>
            </a:r>
            <a:r>
              <a:rPr lang="en-US" dirty="0"/>
              <a:t>arounds required</a:t>
            </a:r>
          </a:p>
          <a:p>
            <a:r>
              <a:rPr lang="en-US" noProof="0" dirty="0"/>
              <a:t>Impacts remediation </a:t>
            </a:r>
            <a:r>
              <a:rPr lang="en-US" noProof="0" dirty="0" err="1"/>
              <a:t>ti</a:t>
            </a:r>
            <a:r>
              <a:rPr lang="en-US" dirty="0"/>
              <a:t>ming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3085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5A559-A254-CC01-494B-3143446D7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E09048-9D56-6CDD-403A-21E48370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Contractual and</a:t>
            </a:r>
            <a:br>
              <a:rPr lang="en-US" noProof="0" dirty="0"/>
            </a:br>
            <a:r>
              <a:rPr lang="en-US" noProof="0" dirty="0"/>
              <a:t>SLA Constraints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9F903CA-0768-53F6-9073-EF6F67A450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SLAs define uptime requirements</a:t>
            </a:r>
          </a:p>
          <a:p>
            <a:r>
              <a:rPr lang="en-US" dirty="0"/>
              <a:t>Downtime may                       violate agreements</a:t>
            </a:r>
          </a:p>
          <a:p>
            <a:r>
              <a:rPr lang="en-US" dirty="0"/>
              <a:t>Patching can interrupt services</a:t>
            </a:r>
          </a:p>
          <a:p>
            <a:r>
              <a:rPr lang="en-US" noProof="0" dirty="0"/>
              <a:t>Alternate systems may                 be required</a:t>
            </a:r>
          </a:p>
        </p:txBody>
      </p:sp>
    </p:spTree>
    <p:extLst>
      <p:ext uri="{BB962C8B-B14F-4D97-AF65-F5344CB8AC3E}">
        <p14:creationId xmlns:p14="http://schemas.microsoft.com/office/powerpoint/2010/main" val="2789213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730E9-2FEF-FD7D-CF94-9C3C4851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9C3687-BD1A-E828-B2C3-FE303B14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Organizational</a:t>
            </a:r>
            <a:br>
              <a:rPr lang="en-US" noProof="0" dirty="0"/>
            </a:br>
            <a:r>
              <a:rPr lang="en-US" noProof="0" dirty="0"/>
              <a:t>Structure Limitations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5CE6EE-0DD5-6D4D-5A8C-C1AC0C831B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Departments manage              own systems</a:t>
            </a:r>
          </a:p>
          <a:p>
            <a:r>
              <a:rPr lang="en-US" noProof="0" dirty="0"/>
              <a:t>Central teams lack control</a:t>
            </a:r>
          </a:p>
          <a:p>
            <a:r>
              <a:rPr lang="en-US" dirty="0"/>
              <a:t>Limited oversight across units</a:t>
            </a:r>
          </a:p>
          <a:p>
            <a:r>
              <a:rPr lang="en-US" noProof="0" dirty="0"/>
              <a:t>Response may be delayed</a:t>
            </a:r>
          </a:p>
        </p:txBody>
      </p:sp>
    </p:spTree>
    <p:extLst>
      <p:ext uri="{BB962C8B-B14F-4D97-AF65-F5344CB8AC3E}">
        <p14:creationId xmlns:p14="http://schemas.microsoft.com/office/powerpoint/2010/main" val="4115744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17B07-4F19-3C6A-5DA1-689DFA9C0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021B9F-211B-7FAA-8AF4-9597BEA2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Technical Constraints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8531A94-CEE0-2472-8668-F06A5EC93C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Degraded system performance</a:t>
            </a:r>
          </a:p>
          <a:p>
            <a:r>
              <a:rPr lang="en-US" dirty="0"/>
              <a:t>Patch availability issues</a:t>
            </a:r>
          </a:p>
          <a:p>
            <a:r>
              <a:rPr lang="en-US" noProof="0" dirty="0"/>
              <a:t>Legacy systems limitations</a:t>
            </a:r>
          </a:p>
          <a:p>
            <a:r>
              <a:rPr lang="en-US" dirty="0"/>
              <a:t>Proprietary system challenges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7139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D3B05-C5BB-D7C5-331E-4397FBCE7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5105EF-D4DA-D87C-5CD2-F342A1CFC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Patch Impact Risks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FD4990-7C8A-0A52-49B5-67AEC30941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Patches may                           reduce performance</a:t>
            </a:r>
          </a:p>
          <a:p>
            <a:r>
              <a:rPr lang="en-US" dirty="0"/>
              <a:t>System slowdowns can occur</a:t>
            </a:r>
          </a:p>
          <a:p>
            <a:r>
              <a:rPr lang="en-US" dirty="0"/>
              <a:t>May affect operations</a:t>
            </a:r>
          </a:p>
          <a:p>
            <a:r>
              <a:rPr lang="en-US" dirty="0"/>
              <a:t>Alternate actions may be needed</a:t>
            </a:r>
          </a:p>
        </p:txBody>
      </p:sp>
    </p:spTree>
    <p:extLst>
      <p:ext uri="{BB962C8B-B14F-4D97-AF65-F5344CB8AC3E}">
        <p14:creationId xmlns:p14="http://schemas.microsoft.com/office/powerpoint/2010/main" val="3464866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F7CAD-8B4B-DA01-E337-01BE417F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D837C3-9285-CC8E-D736-A4F3E4F23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Lack of</a:t>
            </a:r>
            <a:br>
              <a:rPr lang="en-US" noProof="0" dirty="0"/>
            </a:br>
            <a:r>
              <a:rPr lang="en-US" noProof="0" dirty="0"/>
              <a:t>Available Patches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24FB85-74ED-664F-048A-599E0F741C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No solution available</a:t>
            </a:r>
          </a:p>
          <a:p>
            <a:r>
              <a:rPr lang="en-US" dirty="0"/>
              <a:t>Vender may not be aware</a:t>
            </a:r>
          </a:p>
          <a:p>
            <a:r>
              <a:rPr lang="en-US" dirty="0"/>
              <a:t>Zero-day vulnerabilities exist</a:t>
            </a:r>
          </a:p>
          <a:p>
            <a:r>
              <a:rPr lang="en-US" dirty="0"/>
              <a:t>Patch release may take time</a:t>
            </a:r>
          </a:p>
        </p:txBody>
      </p:sp>
    </p:spTree>
    <p:extLst>
      <p:ext uri="{BB962C8B-B14F-4D97-AF65-F5344CB8AC3E}">
        <p14:creationId xmlns:p14="http://schemas.microsoft.com/office/powerpoint/2010/main" val="1351353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00B8-0123-1A91-0FAA-B868B20FB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C6606C-04FF-A936-F3F7-C43B96FC1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Unsupported and Legacy Systems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0CBEEAA-AD63-4E2F-36BF-89F3F50C77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Software no longer supported</a:t>
            </a:r>
          </a:p>
          <a:p>
            <a:r>
              <a:rPr lang="en-US" dirty="0"/>
              <a:t>Vendors may be unavailable</a:t>
            </a:r>
          </a:p>
          <a:p>
            <a:r>
              <a:rPr lang="en-US" dirty="0"/>
              <a:t>No updates of fixes provided</a:t>
            </a:r>
          </a:p>
          <a:p>
            <a:r>
              <a:rPr lang="en-US" dirty="0"/>
              <a:t>Systems remain vulnerable</a:t>
            </a:r>
          </a:p>
        </p:txBody>
      </p:sp>
    </p:spTree>
    <p:extLst>
      <p:ext uri="{BB962C8B-B14F-4D97-AF65-F5344CB8AC3E}">
        <p14:creationId xmlns:p14="http://schemas.microsoft.com/office/powerpoint/2010/main" val="776843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81587-0462-E672-88F8-6E2A86D9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25AEA4-AF36-A50B-8F7F-27B17A7F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Vendor</a:t>
            </a:r>
            <a:br>
              <a:rPr lang="en-US" noProof="0" dirty="0"/>
            </a:br>
            <a:r>
              <a:rPr lang="en-US" noProof="0" dirty="0"/>
              <a:t>Response Limitations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C995BA-F2A0-1F88-89C8-2CCDA43984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Vendors may delay fixes</a:t>
            </a:r>
          </a:p>
          <a:p>
            <a:r>
              <a:rPr lang="en-US" dirty="0"/>
              <a:t>Even known issues may not       be resolved</a:t>
            </a:r>
          </a:p>
          <a:p>
            <a:r>
              <a:rPr lang="en-US" dirty="0"/>
              <a:t>External control limits response</a:t>
            </a:r>
          </a:p>
          <a:p>
            <a:r>
              <a:rPr lang="en-US" dirty="0"/>
              <a:t>Systems may require isolation</a:t>
            </a:r>
          </a:p>
        </p:txBody>
      </p:sp>
    </p:spTree>
    <p:extLst>
      <p:ext uri="{BB962C8B-B14F-4D97-AF65-F5344CB8AC3E}">
        <p14:creationId xmlns:p14="http://schemas.microsoft.com/office/powerpoint/2010/main" val="3291930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0EC45-BE71-4B50-8B09-B178E73D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36" y="3973882"/>
            <a:ext cx="9543964" cy="2418014"/>
          </a:xfrm>
        </p:spPr>
        <p:txBody>
          <a:bodyPr/>
          <a:lstStyle/>
          <a:p>
            <a:r>
              <a:rPr lang="en-US" noProof="0" dirty="0"/>
              <a:t>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54536-976D-4065-8ED9-5B79B2B3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725" y="1785939"/>
            <a:ext cx="10893599" cy="2157220"/>
          </a:xfrm>
        </p:spPr>
        <p:txBody>
          <a:bodyPr/>
          <a:lstStyle/>
          <a:p>
            <a:r>
              <a:rPr lang="en-US" noProof="0" dirty="0">
                <a:latin typeface="Montserrat SemiBold"/>
                <a:cs typeface="Arial"/>
              </a:rPr>
              <a:t>Chapter 14</a:t>
            </a:r>
          </a:p>
        </p:txBody>
      </p:sp>
    </p:spTree>
    <p:extLst>
      <p:ext uri="{BB962C8B-B14F-4D97-AF65-F5344CB8AC3E}">
        <p14:creationId xmlns:p14="http://schemas.microsoft.com/office/powerpoint/2010/main" val="3640534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6019E-7B67-29E9-C042-CE6FDDCE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EEFA59-7EA2-D2C9-B05A-5E4E2E18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KPIs and Trends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513CC91-AFB7-BB29-38DF-B27B895718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KPIs measure performance</a:t>
            </a:r>
          </a:p>
          <a:p>
            <a:r>
              <a:rPr lang="en-US" noProof="0" dirty="0"/>
              <a:t>High-level operational indicators</a:t>
            </a:r>
          </a:p>
          <a:p>
            <a:r>
              <a:rPr lang="en-US" noProof="0" dirty="0"/>
              <a:t>Trends show growth or decline</a:t>
            </a:r>
          </a:p>
          <a:p>
            <a:r>
              <a:rPr lang="en-US" noProof="0" dirty="0"/>
              <a:t>Support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461862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1EE79-705E-9436-B043-866EC9AE6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6AD435-0720-4EB2-403E-5AD7F216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Risk Tracking Metrics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D6D7341-413B-8FE0-3150-B7DC91F97A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Identify top organizational risks</a:t>
            </a:r>
          </a:p>
          <a:p>
            <a:r>
              <a:rPr lang="en-US" noProof="0" dirty="0"/>
              <a:t>Used in assessments</a:t>
            </a:r>
          </a:p>
          <a:p>
            <a:r>
              <a:rPr lang="en-US" noProof="0" dirty="0"/>
              <a:t>Highlight critical issues</a:t>
            </a:r>
          </a:p>
          <a:p>
            <a:r>
              <a:rPr lang="en-US" noProof="0" dirty="0"/>
              <a:t>Support risk awareness</a:t>
            </a:r>
          </a:p>
        </p:txBody>
      </p:sp>
    </p:spTree>
    <p:extLst>
      <p:ext uri="{BB962C8B-B14F-4D97-AF65-F5344CB8AC3E}">
        <p14:creationId xmlns:p14="http://schemas.microsoft.com/office/powerpoint/2010/main" val="1146280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10FBA-C5E3-FD53-4979-273339A4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B17D50-E6EB-309F-9580-B6B832E5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Service Level Agreements (SLA)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0338C15-5985-EEC6-D356-42A8646882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Defines service expectations</a:t>
            </a:r>
          </a:p>
          <a:p>
            <a:r>
              <a:rPr lang="en-US" noProof="0" dirty="0"/>
              <a:t>Sets performance metrics</a:t>
            </a:r>
          </a:p>
          <a:p>
            <a:r>
              <a:rPr lang="en-US" noProof="0" dirty="0"/>
              <a:t>Includes uptime requirements</a:t>
            </a:r>
          </a:p>
          <a:p>
            <a:r>
              <a:rPr lang="en-US" noProof="0" dirty="0"/>
              <a:t>Defines response expectations</a:t>
            </a:r>
          </a:p>
        </p:txBody>
      </p:sp>
    </p:spTree>
    <p:extLst>
      <p:ext uri="{BB962C8B-B14F-4D97-AF65-F5344CB8AC3E}">
        <p14:creationId xmlns:p14="http://schemas.microsoft.com/office/powerpoint/2010/main" val="1319835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44DD-90C4-7211-ADB7-40F2B788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6CB8C7-5A53-1BDF-DCB1-C1145AA18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High Volume Metrics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387F589-E7C8-3D70-8407-2C451068BE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Tracks number of alerts</a:t>
            </a:r>
          </a:p>
          <a:p>
            <a:r>
              <a:rPr lang="en-US" noProof="0" dirty="0"/>
              <a:t>Includes notifications                 and warnings</a:t>
            </a:r>
          </a:p>
          <a:p>
            <a:r>
              <a:rPr lang="en-US" noProof="0" dirty="0"/>
              <a:t>Covers incident reports</a:t>
            </a:r>
          </a:p>
          <a:p>
            <a:r>
              <a:rPr lang="en-US" noProof="0" dirty="0"/>
              <a:t>Measures security workload</a:t>
            </a:r>
          </a:p>
        </p:txBody>
      </p:sp>
    </p:spTree>
    <p:extLst>
      <p:ext uri="{BB962C8B-B14F-4D97-AF65-F5344CB8AC3E}">
        <p14:creationId xmlns:p14="http://schemas.microsoft.com/office/powerpoint/2010/main" val="3275861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B84B-196C-B3E0-5034-BF249893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5EF6DE-2399-7DF0-586E-2BFBD176E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False and</a:t>
            </a:r>
            <a:br>
              <a:rPr lang="en-US" noProof="0" dirty="0"/>
            </a:br>
            <a:r>
              <a:rPr lang="en-US" noProof="0" dirty="0"/>
              <a:t>True Positives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66F345-632D-55F6-F220-DADEB33F08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True positives indicate real issues</a:t>
            </a:r>
          </a:p>
          <a:p>
            <a:r>
              <a:rPr lang="en-US" noProof="0" dirty="0"/>
              <a:t>False positives are incorrect alerts</a:t>
            </a:r>
          </a:p>
          <a:p>
            <a:r>
              <a:rPr lang="en-US" noProof="0" dirty="0"/>
              <a:t>High false positive impact teams</a:t>
            </a:r>
          </a:p>
          <a:p>
            <a:r>
              <a:rPr lang="en-US" noProof="0" dirty="0"/>
              <a:t>Affects efficiency and morale</a:t>
            </a:r>
          </a:p>
        </p:txBody>
      </p:sp>
    </p:spTree>
    <p:extLst>
      <p:ext uri="{BB962C8B-B14F-4D97-AF65-F5344CB8AC3E}">
        <p14:creationId xmlns:p14="http://schemas.microsoft.com/office/powerpoint/2010/main" val="2276676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E2DBB-A74E-BB7F-A366-1312B16A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C190A1-2CB9-8824-9C6E-CEC17E30B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Mean Time to Detect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A9370CD-6D8F-367C-4F68-5817F4947F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Time to identify issue</a:t>
            </a:r>
          </a:p>
          <a:p>
            <a:r>
              <a:rPr lang="en-US" noProof="0" dirty="0"/>
              <a:t>Measures detection speed</a:t>
            </a:r>
          </a:p>
          <a:p>
            <a:r>
              <a:rPr lang="en-US" noProof="0" dirty="0"/>
              <a:t>Indicates visibility capability</a:t>
            </a:r>
          </a:p>
          <a:p>
            <a:r>
              <a:rPr lang="en-US" noProof="0" dirty="0"/>
              <a:t>Impacts response readiness</a:t>
            </a:r>
          </a:p>
        </p:txBody>
      </p:sp>
    </p:spTree>
    <p:extLst>
      <p:ext uri="{BB962C8B-B14F-4D97-AF65-F5344CB8AC3E}">
        <p14:creationId xmlns:p14="http://schemas.microsoft.com/office/powerpoint/2010/main" val="2080785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F5C4E-4E72-7E53-00B7-188073C0B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AE20E1-FB5D-4EDE-2F32-30CC0978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Mean Time to Respond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9E8017-B5CE-65DB-6D41-7FDE87B20C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Time from detection to action</a:t>
            </a:r>
          </a:p>
          <a:p>
            <a:r>
              <a:rPr lang="en-US" noProof="0" dirty="0"/>
              <a:t>Measures response speed</a:t>
            </a:r>
          </a:p>
          <a:p>
            <a:r>
              <a:rPr lang="en-US" noProof="0" dirty="0"/>
              <a:t>Tracks reaction time</a:t>
            </a:r>
          </a:p>
          <a:p>
            <a:r>
              <a:rPr lang="en-US" noProof="0" dirty="0"/>
              <a:t>Impacts incident handling</a:t>
            </a:r>
          </a:p>
        </p:txBody>
      </p:sp>
    </p:spTree>
    <p:extLst>
      <p:ext uri="{BB962C8B-B14F-4D97-AF65-F5344CB8AC3E}">
        <p14:creationId xmlns:p14="http://schemas.microsoft.com/office/powerpoint/2010/main" val="2897840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EC7DB-D066-D7BC-4011-470DD534A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21A500-94A8-4F4B-7B37-02512183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Mean Time to Close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C16CE86-231F-ABD9-F0E4-609BCA1EA0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Tracks ticket lifecycle</a:t>
            </a:r>
          </a:p>
          <a:p>
            <a:r>
              <a:rPr lang="en-US" noProof="0" dirty="0"/>
              <a:t>Measures issue duration</a:t>
            </a:r>
          </a:p>
          <a:p>
            <a:r>
              <a:rPr lang="en-US" noProof="0" dirty="0"/>
              <a:t>Follows work order timeline</a:t>
            </a:r>
          </a:p>
          <a:p>
            <a:r>
              <a:rPr lang="en-US" noProof="0" dirty="0"/>
              <a:t>Ends at closure</a:t>
            </a:r>
          </a:p>
        </p:txBody>
      </p:sp>
    </p:spTree>
    <p:extLst>
      <p:ext uri="{BB962C8B-B14F-4D97-AF65-F5344CB8AC3E}">
        <p14:creationId xmlns:p14="http://schemas.microsoft.com/office/powerpoint/2010/main" val="525436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ECEDB-5943-3449-A655-052B8582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E1661F-8875-A98E-191B-E79EDFD6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Mean Time</a:t>
            </a:r>
            <a:br>
              <a:rPr lang="en-US" noProof="0" dirty="0"/>
            </a:br>
            <a:r>
              <a:rPr lang="en-US" noProof="0" dirty="0"/>
              <a:t>to Remediate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3C37D5-3DC3-095F-6E97-1CB2BBB477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Time to fix issue</a:t>
            </a:r>
          </a:p>
          <a:p>
            <a:r>
              <a:rPr lang="en-US" noProof="0" dirty="0"/>
              <a:t>Measures technical resolution</a:t>
            </a:r>
          </a:p>
          <a:p>
            <a:r>
              <a:rPr lang="en-US" noProof="0" dirty="0"/>
              <a:t>Separate from ticket closure</a:t>
            </a:r>
          </a:p>
          <a:p>
            <a:r>
              <a:rPr lang="en-US" noProof="0" dirty="0"/>
              <a:t>Focuses on remediation</a:t>
            </a:r>
          </a:p>
        </p:txBody>
      </p:sp>
    </p:spTree>
    <p:extLst>
      <p:ext uri="{BB962C8B-B14F-4D97-AF65-F5344CB8AC3E}">
        <p14:creationId xmlns:p14="http://schemas.microsoft.com/office/powerpoint/2010/main" val="1160562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2390-A714-6DD9-3D1A-E753EFDCC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FAD206-28A4-92EF-1D99-B07179211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Phishing</a:t>
            </a:r>
            <a:br>
              <a:rPr lang="en-US" noProof="0" dirty="0"/>
            </a:br>
            <a:r>
              <a:rPr lang="en-US" noProof="0" dirty="0"/>
              <a:t>Campaign Metrics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C26539C-D296-7EC5-E686-355040D2A4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Tracks click rates</a:t>
            </a:r>
          </a:p>
          <a:p>
            <a:r>
              <a:rPr lang="en-US" noProof="0" dirty="0"/>
              <a:t>Measures user susceptibility</a:t>
            </a:r>
          </a:p>
          <a:p>
            <a:r>
              <a:rPr lang="en-US" noProof="0" dirty="0"/>
              <a:t>Identifies training needs</a:t>
            </a:r>
          </a:p>
          <a:p>
            <a:r>
              <a:rPr lang="en-US" noProof="0" dirty="0"/>
              <a:t>Evaluates awareness levels</a:t>
            </a:r>
          </a:p>
        </p:txBody>
      </p:sp>
    </p:spTree>
    <p:extLst>
      <p:ext uri="{BB962C8B-B14F-4D97-AF65-F5344CB8AC3E}">
        <p14:creationId xmlns:p14="http://schemas.microsoft.com/office/powerpoint/2010/main" val="122677786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76027dd9-77cd-484f-b6db-8bbe1351c2b5" xsi:nil="true"/>
    <lcf76f155ced4ddcb4097134ff3c332f xmlns="76027dd9-77cd-484f-b6db-8bbe1351c2b5">
      <Terms xmlns="http://schemas.microsoft.com/office/infopath/2007/PartnerControls"/>
    </lcf76f155ced4ddcb4097134ff3c332f>
    <TaxCatchAll xmlns="1046e879-d081-4053-adba-52e34fa7725d" xsi:nil="true"/>
  </documentManagement>
</p:properties>
</file>

<file path=customXml/itemProps1.xml><?xml version="1.0" encoding="utf-8"?>
<ds:datastoreItem xmlns:ds="http://schemas.openxmlformats.org/officeDocument/2006/customXml" ds:itemID="{D925A222-F9F2-46E3-9309-DF332776EE1C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6265556-9F64-45B8-80A5-20FC8B6E91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FFD909-429B-4107-A2B1-C958B91C177D}">
  <ds:schemaRefs>
    <ds:schemaRef ds:uri="1046e879-d081-4053-adba-52e34fa7725d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13a0c8d5-cff5-4140-b58f-0947a5552a6a"/>
    <ds:schemaRef ds:uri="76027dd9-77cd-484f-b6db-8bbe1351c2b5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491</Words>
  <Application>Microsoft Office PowerPoint</Application>
  <PresentationFormat>Widescreen</PresentationFormat>
  <Paragraphs>136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Montserrat</vt:lpstr>
      <vt:lpstr>Montserrat ExtraLight</vt:lpstr>
      <vt:lpstr>Montserrat Light</vt:lpstr>
      <vt:lpstr>Montserrat SemiBold</vt:lpstr>
      <vt:lpstr>Custom Design</vt:lpstr>
      <vt:lpstr>Managing Third Party Risk</vt:lpstr>
      <vt:lpstr>Third-Party Risk Management</vt:lpstr>
      <vt:lpstr>Supply Chain Risk</vt:lpstr>
      <vt:lpstr>Supply Chain Attack Example</vt:lpstr>
      <vt:lpstr>Software Composition Analysis</vt:lpstr>
      <vt:lpstr>SCA Risk Detection</vt:lpstr>
      <vt:lpstr>Software Bill of Materials (SBOM)</vt:lpstr>
      <vt:lpstr>SBOM Benefits</vt:lpstr>
      <vt:lpstr>Remediation Difficulties</vt:lpstr>
      <vt:lpstr>Business Operational Impact</vt:lpstr>
      <vt:lpstr>Business Continuity Constraints </vt:lpstr>
      <vt:lpstr>Contractual and SLA Constraints</vt:lpstr>
      <vt:lpstr>Organizational Structure Limitations</vt:lpstr>
      <vt:lpstr>Technical Constraints</vt:lpstr>
      <vt:lpstr>Patch Impact Risks</vt:lpstr>
      <vt:lpstr>Lack of Available Patches</vt:lpstr>
      <vt:lpstr>Unsupported and Legacy Systems</vt:lpstr>
      <vt:lpstr>Vendor Response Limitations</vt:lpstr>
      <vt:lpstr>Metrics</vt:lpstr>
      <vt:lpstr>KPIs and Trends</vt:lpstr>
      <vt:lpstr>Risk Tracking Metrics</vt:lpstr>
      <vt:lpstr>Service Level Agreements (SLA)</vt:lpstr>
      <vt:lpstr>High Volume Metrics</vt:lpstr>
      <vt:lpstr>False and True Positives</vt:lpstr>
      <vt:lpstr>Mean Time to Detect</vt:lpstr>
      <vt:lpstr>Mean Time to Respond</vt:lpstr>
      <vt:lpstr>Mean Time to Close</vt:lpstr>
      <vt:lpstr>Mean Time to Remediate</vt:lpstr>
      <vt:lpstr>Phishing Campaign Metrics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 and Account Management</dc:title>
  <dc:creator>Shannon Lehmer</dc:creator>
  <cp:lastModifiedBy>Dana Barineau</cp:lastModifiedBy>
  <cp:revision>3</cp:revision>
  <dcterms:created xsi:type="dcterms:W3CDTF">2021-01-26T20:17:48Z</dcterms:created>
  <dcterms:modified xsi:type="dcterms:W3CDTF">2026-06-25T21:34:26Z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0x010100C634B67D360B774FBA94A353DF812505</vt:lpwstr>
  </property>
  <property fmtid="{D5CDD505-2E9C-101B-9397-08002B2CF9AE}" pid="3" name="MediaServiceImageTags">
    <vt:lpwstr/>
  </property>
  <property fmtid="{D5CDD505-2E9C-101B-9397-08002B2CF9AE}" pid="4" name="Reviewed">
    <vt:bool>false</vt:bool>
  </property>
  <property fmtid="{D5CDD505-2E9C-101B-9397-08002B2CF9AE}" pid="5" name="Order">
    <vt:r8>6033200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