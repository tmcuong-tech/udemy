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3"/>
  </p:notesMasterIdLst>
  <p:sldIdLst>
    <p:sldId id="256" r:id="rId5"/>
    <p:sldId id="381" r:id="rId6"/>
    <p:sldId id="382" r:id="rId7"/>
    <p:sldId id="395" r:id="rId8"/>
    <p:sldId id="396" r:id="rId9"/>
    <p:sldId id="397" r:id="rId10"/>
    <p:sldId id="398" r:id="rId11"/>
    <p:sldId id="39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F1C1260-7E40-4364-BD07-DE7E2F3E7162}">
          <p14:sldIdLst>
            <p14:sldId id="256"/>
            <p14:sldId id="381"/>
            <p14:sldId id="382"/>
            <p14:sldId id="395"/>
            <p14:sldId id="396"/>
            <p14:sldId id="397"/>
            <p14:sldId id="398"/>
            <p14:sldId id="39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cott" initials="S" lastIdx="5" clrIdx="0">
    <p:extLst>
      <p:ext uri="{19B8F6BF-5375-455C-9EA6-DF929625EA0E}">
        <p15:presenceInfo xmlns:p15="http://schemas.microsoft.com/office/powerpoint/2012/main" userId="Scott" providerId="None"/>
      </p:ext>
    </p:extLst>
  </p:cmAuthor>
  <p:cmAuthor id="2" name="Dana Barineau" initials="DB" lastIdx="1" clrIdx="1">
    <p:extLst>
      <p:ext uri="{19B8F6BF-5375-455C-9EA6-DF929625EA0E}">
        <p15:presenceInfo xmlns:p15="http://schemas.microsoft.com/office/powerpoint/2012/main" userId="Dana Barineau" providerId="None"/>
      </p:ext>
    </p:extLst>
  </p:cmAuthor>
  <p:cmAuthor id="3" name="Alden Drake" initials="AD" lastIdx="3" clrIdx="2">
    <p:extLst>
      <p:ext uri="{19B8F6BF-5375-455C-9EA6-DF929625EA0E}">
        <p15:presenceInfo xmlns:p15="http://schemas.microsoft.com/office/powerpoint/2012/main" userId="02a7e7fa871b3cfc" providerId="Windows Live"/>
      </p:ext>
    </p:extLst>
  </p:cmAuthor>
  <p:cmAuthor id="4" name="Paul Haines" initials="PH" lastIdx="9" clrIdx="3">
    <p:extLst>
      <p:ext uri="{19B8F6BF-5375-455C-9EA6-DF929625EA0E}">
        <p15:presenceInfo xmlns:p15="http://schemas.microsoft.com/office/powerpoint/2012/main" userId="Paul Haines" providerId="None"/>
      </p:ext>
    </p:extLst>
  </p:cmAuthor>
  <p:cmAuthor id="5" name="Shannon Lehmer" initials="SL" lastIdx="2" clrIdx="4">
    <p:extLst>
      <p:ext uri="{19B8F6BF-5375-455C-9EA6-DF929625EA0E}">
        <p15:presenceInfo xmlns:p15="http://schemas.microsoft.com/office/powerpoint/2012/main" userId="c588402909581d7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6304C"/>
    <a:srgbClr val="07304C"/>
    <a:srgbClr val="DBDBD3"/>
    <a:srgbClr val="064973"/>
    <a:srgbClr val="FF0000"/>
    <a:srgbClr val="FFFF00"/>
    <a:srgbClr val="22B965"/>
    <a:srgbClr val="00AE4D"/>
    <a:srgbClr val="096AA6"/>
    <a:srgbClr val="3D3D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/>
    <p:restoredTop sz="94712"/>
  </p:normalViewPr>
  <p:slideViewPr>
    <p:cSldViewPr snapToGrid="0">
      <p:cViewPr varScale="1">
        <p:scale>
          <a:sx n="69" d="100"/>
          <a:sy n="69" d="100"/>
        </p:scale>
        <p:origin x="9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2726E1-FD36-459F-813E-F371EC296CF1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8166A4-E9D0-4AFA-9CA5-FF99D13E5D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856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A30E6-8EDB-42B7-B27B-4CEE64C474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48036" y="3973882"/>
            <a:ext cx="9543964" cy="2418014"/>
          </a:xfrm>
        </p:spPr>
        <p:txBody>
          <a:bodyPr anchor="ctr">
            <a:normAutofit/>
          </a:bodyPr>
          <a:lstStyle>
            <a:lvl1pPr>
              <a:defRPr lang="en-US" sz="5400" kern="1200" dirty="0">
                <a:solidFill>
                  <a:srgbClr val="DBDBD3"/>
                </a:solidFill>
                <a:effectLst/>
                <a:latin typeface="Montserrat Light" panose="020F0502020204030204" pitchFamily="2" charset="0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FFBFAA-4870-4804-847C-C1818E4E250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50725" y="1785939"/>
            <a:ext cx="10893599" cy="215722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8000">
                <a:solidFill>
                  <a:srgbClr val="DBDBD3"/>
                </a:solidFill>
                <a:effectLst/>
                <a:latin typeface="Montserrat SemiBold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420552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pisode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A30E6-8EDB-42B7-B27B-4CEE64C474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447549"/>
            <a:ext cx="10528300" cy="2165227"/>
          </a:xfrm>
        </p:spPr>
        <p:txBody>
          <a:bodyPr anchor="b">
            <a:normAutofit/>
          </a:bodyPr>
          <a:lstStyle>
            <a:lvl1pPr>
              <a:defRPr lang="en-US" sz="6000" kern="1200" dirty="0">
                <a:solidFill>
                  <a:srgbClr val="DBDBD3"/>
                </a:solidFill>
                <a:effectLst/>
                <a:latin typeface="Montserrat SemiBold" pitchFamily="2" charset="0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FFBFAA-4870-4804-847C-C1818E4E250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788024" y="3926179"/>
            <a:ext cx="8572126" cy="127768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="1">
                <a:solidFill>
                  <a:srgbClr val="DBDBD3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5B1BE48-3928-45FD-AC35-DC231020773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788024" y="5273714"/>
            <a:ext cx="8621504" cy="12811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0">
                <a:solidFill>
                  <a:srgbClr val="DBDBD3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F2DBAD4-865A-48F1-9D57-A0A0884E5B24}"/>
              </a:ext>
            </a:extLst>
          </p:cNvPr>
          <p:cNvSpPr txBox="1"/>
          <p:nvPr userDrawn="1"/>
        </p:nvSpPr>
        <p:spPr>
          <a:xfrm>
            <a:off x="831850" y="3942015"/>
            <a:ext cx="1956174" cy="1277686"/>
          </a:xfrm>
          <a:prstGeom prst="rect">
            <a:avLst/>
          </a:prstGeom>
        </p:spPr>
        <p:txBody>
          <a:bodyPr vert="horz" wrap="square" lIns="91440" tIns="45720" rIns="91440" bIns="45720" rtlCol="0" anchor="b">
            <a:normAutofit/>
          </a:bodyPr>
          <a:lstStyle/>
          <a:p>
            <a:pPr algn="l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AB5C9B9-B706-4569-8001-ADF6E33FC5F4}"/>
              </a:ext>
            </a:extLst>
          </p:cNvPr>
          <p:cNvSpPr txBox="1"/>
          <p:nvPr userDrawn="1"/>
        </p:nvSpPr>
        <p:spPr>
          <a:xfrm>
            <a:off x="831850" y="3926179"/>
            <a:ext cx="1956174" cy="1277686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sz="3600" kern="1200">
                <a:solidFill>
                  <a:srgbClr val="DBDBD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Episode title: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A9D5751-21D0-4756-861B-745D9EA18277}"/>
              </a:ext>
            </a:extLst>
          </p:cNvPr>
          <p:cNvSpPr txBox="1"/>
          <p:nvPr userDrawn="1"/>
        </p:nvSpPr>
        <p:spPr>
          <a:xfrm>
            <a:off x="831850" y="5280317"/>
            <a:ext cx="2027891" cy="12745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sz="2800" kern="1200">
                <a:solidFill>
                  <a:srgbClr val="DBDBD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Objective:</a:t>
            </a:r>
          </a:p>
        </p:txBody>
      </p:sp>
    </p:spTree>
    <p:extLst>
      <p:ext uri="{BB962C8B-B14F-4D97-AF65-F5344CB8AC3E}">
        <p14:creationId xmlns:p14="http://schemas.microsoft.com/office/powerpoint/2010/main" val="32873706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ull Slide One-Lin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C50A8-5D14-44D4-9E8A-F3B912BC13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99882"/>
            <a:ext cx="9845842" cy="1165455"/>
          </a:xfrm>
        </p:spPr>
        <p:txBody>
          <a:bodyPr/>
          <a:lstStyle>
            <a:lvl1pPr>
              <a:defRPr u="sng">
                <a:solidFill>
                  <a:srgbClr val="DBDBD3"/>
                </a:solidFill>
              </a:defRPr>
            </a:lvl1pPr>
          </a:lstStyle>
          <a:p>
            <a:r>
              <a:rPr lang="en-US"/>
              <a:t>Click To Edit One-Line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C86235-0A8D-4E1E-9511-28AF4C4BC77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391433"/>
            <a:ext cx="10515600" cy="4470748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716816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ull Slide Two-Line 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C50A8-5D14-44D4-9E8A-F3B912BC13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37668"/>
            <a:ext cx="9630103" cy="1325563"/>
          </a:xfrm>
        </p:spPr>
        <p:txBody>
          <a:bodyPr>
            <a:normAutofit/>
          </a:bodyPr>
          <a:lstStyle>
            <a:lvl1pPr>
              <a:defRPr sz="4200" u="sng"/>
            </a:lvl1pPr>
          </a:lstStyle>
          <a:p>
            <a:r>
              <a:rPr lang="en-US"/>
              <a:t>Click to Edit Two-Line Full Slide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C86235-0A8D-4E1E-9511-28AF4C4BC77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917525"/>
            <a:ext cx="10515600" cy="4051127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977955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Slide One-Line 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357F8-2206-4304-B33D-58B55A3BF2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11583" y="548753"/>
            <a:ext cx="7067238" cy="633011"/>
          </a:xfrm>
        </p:spPr>
        <p:txBody>
          <a:bodyPr anchor="t">
            <a:noAutofit/>
          </a:bodyPr>
          <a:lstStyle>
            <a:lvl1pPr algn="l">
              <a:defRPr sz="4400" u="sng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4D5B110-EBDF-7845-ABA8-800A1AB89C7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11688" y="1373188"/>
            <a:ext cx="7067133" cy="452657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6892574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Slide Two-Line 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0749ED4-5ED2-92BC-C279-8DFEAD08A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1583" y="537393"/>
            <a:ext cx="7067238" cy="1325563"/>
          </a:xfrm>
        </p:spPr>
        <p:txBody>
          <a:bodyPr>
            <a:normAutofit/>
          </a:bodyPr>
          <a:lstStyle>
            <a:lvl1pPr>
              <a:defRPr sz="4400" u="sng">
                <a:latin typeface="Montserrat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6F4825-B89B-CEE8-4FA4-90A1337C097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11688" y="2070101"/>
            <a:ext cx="7067550" cy="37732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3000632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lain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34188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Backgroun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00272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0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C77335-E9FF-4113-A0BC-8AA8EE480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984584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CBB5DD-2E34-1CED-3F24-0762D9A646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96861"/>
            <a:ext cx="10515600" cy="43089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2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093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9" r:id="rId2"/>
    <p:sldLayoutId id="2147483662" r:id="rId3"/>
    <p:sldLayoutId id="2147483663" r:id="rId4"/>
    <p:sldLayoutId id="2147483664" r:id="rId5"/>
    <p:sldLayoutId id="2147483665" r:id="rId6"/>
    <p:sldLayoutId id="2147483670" r:id="rId7"/>
    <p:sldLayoutId id="2147483671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>
          <a:solidFill>
            <a:srgbClr val="DBDBD3"/>
          </a:solidFill>
          <a:effectLst/>
          <a:latin typeface="Montserrat SemiBold" pitchFamily="2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spcAft>
          <a:spcPts val="400"/>
        </a:spcAft>
        <a:buFont typeface="Arial" panose="020B0604020202020204" pitchFamily="34" charset="0"/>
        <a:buNone/>
        <a:defRPr sz="4000" kern="1200">
          <a:solidFill>
            <a:srgbClr val="DBDBD3"/>
          </a:solidFill>
          <a:latin typeface="Montserrat" pitchFamily="2" charset="0"/>
          <a:ea typeface="+mn-ea"/>
          <a:cs typeface="Arial" panose="020B0604020202020204" pitchFamily="34" charset="0"/>
        </a:defRPr>
      </a:lvl1pPr>
      <a:lvl2pPr marL="746125" indent="-288925" algn="l" defTabSz="914400" rtl="0" eaLnBrk="1" latinLnBrk="0" hangingPunct="1">
        <a:lnSpc>
          <a:spcPct val="100000"/>
        </a:lnSpc>
        <a:spcBef>
          <a:spcPts val="500"/>
        </a:spcBef>
        <a:spcAft>
          <a:spcPts val="400"/>
        </a:spcAft>
        <a:buFont typeface="Arial" panose="020B0604020202020204" pitchFamily="34" charset="0"/>
        <a:buChar char="•"/>
        <a:defRPr sz="3600" kern="1200">
          <a:solidFill>
            <a:srgbClr val="DBDBD3"/>
          </a:solidFill>
          <a:latin typeface="Montserrat ExtraLight" pitchFamily="2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400"/>
        </a:spcAft>
        <a:buSzPct val="60000"/>
        <a:buFont typeface="Montserrat" pitchFamily="2" charset="0"/>
        <a:buChar char="–"/>
        <a:defRPr sz="3200" kern="1200">
          <a:solidFill>
            <a:srgbClr val="DBDBD3"/>
          </a:solidFill>
          <a:latin typeface="Montserrat ExtraLight" pitchFamily="2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0EC45-BE71-4B50-8B09-B178E73D0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8036" y="3973882"/>
            <a:ext cx="9543964" cy="2418014"/>
          </a:xfrm>
        </p:spPr>
        <p:txBody>
          <a:bodyPr/>
          <a:lstStyle/>
          <a:p>
            <a:r>
              <a:rPr lang="en-US" noProof="0" dirty="0"/>
              <a:t>Evidence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754536-976D-4065-8ED9-5B79B2B391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0725" y="1785939"/>
            <a:ext cx="10893599" cy="2157220"/>
          </a:xfrm>
        </p:spPr>
        <p:txBody>
          <a:bodyPr/>
          <a:lstStyle/>
          <a:p>
            <a:r>
              <a:rPr lang="en-US" noProof="0" dirty="0">
                <a:latin typeface="Montserrat SemiBold"/>
                <a:cs typeface="Arial"/>
              </a:rPr>
              <a:t>Chapter 15</a:t>
            </a:r>
          </a:p>
        </p:txBody>
      </p:sp>
    </p:spTree>
    <p:extLst>
      <p:ext uri="{BB962C8B-B14F-4D97-AF65-F5344CB8AC3E}">
        <p14:creationId xmlns:p14="http://schemas.microsoft.com/office/powerpoint/2010/main" val="20905883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81E7684-D7DF-48C9-905F-9B0333A73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1583" y="548753"/>
            <a:ext cx="7067238" cy="633011"/>
          </a:xfrm>
        </p:spPr>
        <p:txBody>
          <a:bodyPr/>
          <a:lstStyle/>
          <a:p>
            <a:r>
              <a:rPr lang="en-US" noProof="0" dirty="0"/>
              <a:t>Chain of Custody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B113D46-B64A-0A9A-9CA6-8C65C0A4BA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11688" y="1373188"/>
            <a:ext cx="7067550" cy="45259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noProof="0" dirty="0">
                <a:latin typeface="Montserrat"/>
                <a:cs typeface="Arial"/>
              </a:rPr>
              <a:t>Tracks access to evidence</a:t>
            </a:r>
          </a:p>
          <a:p>
            <a:r>
              <a:rPr lang="en-US" noProof="0" dirty="0">
                <a:latin typeface="Montserrat"/>
                <a:cs typeface="Arial"/>
              </a:rPr>
              <a:t>Records who handled data      and when</a:t>
            </a:r>
          </a:p>
          <a:p>
            <a:r>
              <a:rPr lang="en-US" noProof="0" dirty="0">
                <a:latin typeface="Montserrat"/>
                <a:cs typeface="Arial"/>
              </a:rPr>
              <a:t>Maintains control of evidence</a:t>
            </a:r>
          </a:p>
          <a:p>
            <a:r>
              <a:rPr lang="en-US" noProof="0" dirty="0">
                <a:latin typeface="Montserrat"/>
                <a:cs typeface="Arial"/>
              </a:rPr>
              <a:t>Prevents unauthorized access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679166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81E7684-D7DF-48C9-905F-9B0333A73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Evidence</a:t>
            </a:r>
            <a:br>
              <a:rPr lang="en-US" noProof="0" dirty="0"/>
            </a:br>
            <a:r>
              <a:rPr lang="en-US" noProof="0" dirty="0"/>
              <a:t>Handling Process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B113D46-B64A-0A9A-9CA6-8C65C0A4BA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lnSpcReduction="10000"/>
          </a:bodyPr>
          <a:lstStyle/>
          <a:p>
            <a:r>
              <a:rPr lang="en-US" noProof="0" dirty="0"/>
              <a:t>Evidence collected in     controlled manner</a:t>
            </a:r>
          </a:p>
          <a:p>
            <a:r>
              <a:rPr lang="en-US" noProof="0" dirty="0"/>
              <a:t>Stored in collection containers</a:t>
            </a:r>
          </a:p>
          <a:p>
            <a:r>
              <a:rPr lang="en-US" noProof="0" dirty="0"/>
              <a:t>Access restricted to       authorized personnel</a:t>
            </a:r>
          </a:p>
          <a:p>
            <a:r>
              <a:rPr lang="en-US" noProof="0" dirty="0"/>
              <a:t>Documentation             maintained throughout</a:t>
            </a:r>
          </a:p>
        </p:txBody>
      </p:sp>
    </p:spTree>
    <p:extLst>
      <p:ext uri="{BB962C8B-B14F-4D97-AF65-F5344CB8AC3E}">
        <p14:creationId xmlns:p14="http://schemas.microsoft.com/office/powerpoint/2010/main" val="29721662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93442-D085-8692-950F-62C70213A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D39CB10-D7C4-00EF-C7DC-4F09B6E2A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Data Integrity</a:t>
            </a:r>
            <a:br>
              <a:rPr lang="en-US" noProof="0" dirty="0"/>
            </a:br>
            <a:r>
              <a:rPr lang="en-US" noProof="0" dirty="0"/>
              <a:t>and Hashing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CFCCBDDF-BBF9-D96C-6394-B3E10408C91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noProof="0" dirty="0"/>
              <a:t>Integrity ensures                         data unchanged</a:t>
            </a:r>
          </a:p>
          <a:p>
            <a:r>
              <a:rPr lang="en-US" noProof="0" dirty="0"/>
              <a:t>Hashing validates data integrity</a:t>
            </a:r>
          </a:p>
          <a:p>
            <a:r>
              <a:rPr lang="en-US" noProof="0" dirty="0"/>
              <a:t>Detects any alteration</a:t>
            </a:r>
          </a:p>
          <a:p>
            <a:r>
              <a:rPr lang="en-US" noProof="0" dirty="0"/>
              <a:t>Used in digital forensics</a:t>
            </a:r>
          </a:p>
        </p:txBody>
      </p:sp>
    </p:spTree>
    <p:extLst>
      <p:ext uri="{BB962C8B-B14F-4D97-AF65-F5344CB8AC3E}">
        <p14:creationId xmlns:p14="http://schemas.microsoft.com/office/powerpoint/2010/main" val="22398247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016FEF-223C-F0A1-2F3E-7DA204201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9D68113-5DA3-2C7D-3AB1-095D184E4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Hashing Behavior</a:t>
            </a:r>
            <a:br>
              <a:rPr lang="en-US" noProof="0" dirty="0"/>
            </a:br>
            <a:r>
              <a:rPr lang="en-US" noProof="0" dirty="0"/>
              <a:t>and Digest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270FE47-6146-1F74-6486-BB9EA066FF6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noProof="0" dirty="0"/>
              <a:t>Input produces unique            hash digest</a:t>
            </a:r>
          </a:p>
          <a:p>
            <a:r>
              <a:rPr lang="en-US" dirty="0"/>
              <a:t>Any change creates new digest</a:t>
            </a:r>
          </a:p>
          <a:p>
            <a:r>
              <a:rPr lang="en-US" noProof="0" dirty="0"/>
              <a:t>Even single-bit change           alters output</a:t>
            </a:r>
          </a:p>
          <a:p>
            <a:r>
              <a:rPr lang="en-US" dirty="0"/>
              <a:t>Acts as data fingerprint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5234047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FBAA81-5C3F-EE50-AD89-B7515D6CE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F665F40-9BCF-798A-F766-9BED59BE8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Forensic Hash Usage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D39E4D5-03D6-35BF-13A8-0DE47631994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11271" y="1752601"/>
            <a:ext cx="7067550" cy="3773292"/>
          </a:xfrm>
        </p:spPr>
        <p:txBody>
          <a:bodyPr/>
          <a:lstStyle/>
          <a:p>
            <a:r>
              <a:rPr lang="en-US" noProof="0" dirty="0"/>
              <a:t>Created at investigation start</a:t>
            </a:r>
          </a:p>
          <a:p>
            <a:r>
              <a:rPr lang="en-US" dirty="0"/>
              <a:t>Used to verify data integrity later</a:t>
            </a:r>
          </a:p>
          <a:p>
            <a:r>
              <a:rPr lang="en-US" noProof="0" dirty="0"/>
              <a:t>Detects any modifications</a:t>
            </a:r>
          </a:p>
          <a:p>
            <a:r>
              <a:rPr lang="en-US" dirty="0"/>
              <a:t>Preserve original state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446884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DD0DCB-0181-7A4F-7F33-49DBD76C5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847FA1B-86CA-109C-61E2-ADF95C859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Legal Hold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07D8B98-52AB-A435-3808-E7A274554F1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11271" y="1752601"/>
            <a:ext cx="7067550" cy="3773292"/>
          </a:xfrm>
        </p:spPr>
        <p:txBody>
          <a:bodyPr/>
          <a:lstStyle/>
          <a:p>
            <a:r>
              <a:rPr lang="en-US" noProof="0" dirty="0"/>
              <a:t>Prevents deletion of data</a:t>
            </a:r>
          </a:p>
          <a:p>
            <a:r>
              <a:rPr lang="en-US" dirty="0"/>
              <a:t>Applies during legal cases</a:t>
            </a:r>
          </a:p>
          <a:p>
            <a:r>
              <a:rPr lang="en-US" noProof="0" dirty="0"/>
              <a:t>Ensures evidence retention</a:t>
            </a:r>
          </a:p>
          <a:p>
            <a:r>
              <a:rPr lang="en-US" dirty="0"/>
              <a:t>Protects relevant information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063598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315325-8F96-98BC-9119-1CE9CF1CF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80457EF-10A8-3367-E82B-895FD8EDB8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Data Retention</a:t>
            </a:r>
            <a:br>
              <a:rPr lang="en-US" noProof="0" dirty="0"/>
            </a:br>
            <a:r>
              <a:rPr lang="en-US" noProof="0" dirty="0"/>
              <a:t>and Preservation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416B0AF-362E-771E-4774-7EB71261C67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11271" y="1981201"/>
            <a:ext cx="7067550" cy="3773292"/>
          </a:xfrm>
        </p:spPr>
        <p:txBody>
          <a:bodyPr/>
          <a:lstStyle/>
          <a:p>
            <a:r>
              <a:rPr lang="en-US" noProof="0" dirty="0"/>
              <a:t>Data retained for required time</a:t>
            </a:r>
          </a:p>
          <a:p>
            <a:r>
              <a:rPr lang="en-US" dirty="0"/>
              <a:t>Driven by                         compliance requirements</a:t>
            </a:r>
          </a:p>
          <a:p>
            <a:r>
              <a:rPr lang="en-US" noProof="0" dirty="0"/>
              <a:t>Includes storage format decisions</a:t>
            </a:r>
          </a:p>
          <a:p>
            <a:r>
              <a:rPr lang="en-US" noProof="0" dirty="0"/>
              <a:t>Part </a:t>
            </a:r>
            <a:r>
              <a:rPr lang="en-US" dirty="0"/>
              <a:t>of data preservation process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8775088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 anchor="b">
        <a:normAutofit/>
      </a:bodyPr>
      <a:lstStyle>
        <a:defPPr algn="l"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634B67D360B774FBA94A353DF812505" ma:contentTypeVersion="22" ma:contentTypeDescription="Create a new document." ma:contentTypeScope="" ma:versionID="36ad41d1389f7dc8fcbb5d4285216769">
  <xsd:schema xmlns:xsd="http://www.w3.org/2001/XMLSchema" xmlns:xs="http://www.w3.org/2001/XMLSchema" xmlns:p="http://schemas.microsoft.com/office/2006/metadata/properties" xmlns:ns2="76027dd9-77cd-484f-b6db-8bbe1351c2b5" xmlns:ns3="1046e879-d081-4053-adba-52e34fa7725d" xmlns:ns4="13a0c8d5-cff5-4140-b58f-0947a5552a6a" targetNamespace="http://schemas.microsoft.com/office/2006/metadata/properties" ma:root="true" ma:fieldsID="f2fb244498141b944b4dbc5f58037586" ns2:_="" ns3:_="" ns4:_="">
    <xsd:import namespace="76027dd9-77cd-484f-b6db-8bbe1351c2b5"/>
    <xsd:import namespace="1046e879-d081-4053-adba-52e34fa7725d"/>
    <xsd:import namespace="13a0c8d5-cff5-4140-b58f-0947a5552a6a"/>
    <xsd:element name="properties">
      <xsd:complexType>
        <xsd:sequence>
          <xsd:element name="documentManagement">
            <xsd:complexType>
              <xsd:all>
                <xsd:element ref="ns2:MediaServiceAutoTags" minOccurs="0"/>
                <xsd:element ref="ns2:MediaServiceOCR" minOccurs="0"/>
                <xsd:element ref="ns2:MediaServiceKeyPoints" minOccurs="0"/>
                <xsd:element ref="ns2:MediaLengthInSeconds" minOccurs="0"/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KeyPoints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4:SharedWithUsers" minOccurs="0"/>
                <xsd:element ref="ns4:SharedWithDetails" minOccurs="0"/>
                <xsd:element ref="ns2:Comments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027dd9-77cd-484f-b6db-8bbe1351c2b5" elementFormDefault="qualified">
    <xsd:import namespace="http://schemas.microsoft.com/office/2006/documentManagement/types"/>
    <xsd:import namespace="http://schemas.microsoft.com/office/infopath/2007/PartnerControls"/>
    <xsd:element name="MediaServiceAutoTags" ma:index="8" nillable="true" ma:displayName="Tags" ma:description="" ma:internalName="MediaServiceAutoTags" ma:readOnly="true">
      <xsd:simpleType>
        <xsd:restriction base="dms:Text"/>
      </xsd:simpleType>
    </xsd:element>
    <xsd:element name="MediaServiceOCR" ma:index="9" nillable="true" ma:displayName="Extracted Text" ma:description="" ma:internalName="MediaServiceOCR" ma:readOnly="true">
      <xsd:simpleType>
        <xsd:restriction base="dms:Note">
          <xsd:maxLength value="255"/>
        </xsd:restriction>
      </xsd:simpleType>
    </xsd:element>
    <xsd:element name="MediaServiceKeyPoints" ma:index="10" nillable="true" ma:displayName="KeyPoints" ma:description="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1" nillable="true" ma:displayName="Length (seconds)" ma:internalName="MediaLengthInSeconds" ma:readOnly="true">
      <xsd:simpleType>
        <xsd:restriction base="dms:Unknown"/>
      </xsd:simple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33815b79-2db2-4fbd-a0c4-bf2740f263d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Comments" ma:index="24" nillable="true" ma:displayName="Comments" ma:format="Dropdown" ma:internalName="Comments">
      <xsd:simpleType>
        <xsd:restriction base="dms:Note">
          <xsd:maxLength value="255"/>
        </xsd:restriction>
      </xsd:simple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046e879-d081-4053-adba-52e34fa7725d" elementFormDefault="qualified">
    <xsd:import namespace="http://schemas.microsoft.com/office/2006/documentManagement/types"/>
    <xsd:import namespace="http://schemas.microsoft.com/office/infopath/2007/PartnerControls"/>
    <xsd:element name="TaxCatchAll" ma:index="20" nillable="true" ma:displayName="Taxonomy Catch All Column" ma:hidden="true" ma:list="{d854264f-763b-4eb6-a464-f18878f8c660}" ma:internalName="TaxCatchAll" ma:showField="CatchAllData" ma:web="1046e879-d081-4053-adba-52e34fa7725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3a0c8d5-cff5-4140-b58f-0947a5552a6a" elementFormDefault="qualified">
    <xsd:import namespace="http://schemas.microsoft.com/office/2006/documentManagement/types"/>
    <xsd:import namespace="http://schemas.microsoft.com/office/infopath/2007/PartnerControls"/>
    <xsd:element name="SharedWithUsers" ma:index="2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Comments xmlns="76027dd9-77cd-484f-b6db-8bbe1351c2b5" xsi:nil="true"/>
    <lcf76f155ced4ddcb4097134ff3c332f xmlns="76027dd9-77cd-484f-b6db-8bbe1351c2b5">
      <Terms xmlns="http://schemas.microsoft.com/office/infopath/2007/PartnerControls"/>
    </lcf76f155ced4ddcb4097134ff3c332f>
    <TaxCatchAll xmlns="1046e879-d081-4053-adba-52e34fa7725d" xsi:nil="true"/>
  </documentManagement>
</p:properties>
</file>

<file path=customXml/itemProps1.xml><?xml version="1.0" encoding="utf-8"?>
<ds:datastoreItem xmlns:ds="http://schemas.openxmlformats.org/officeDocument/2006/customXml" ds:itemID="{56265556-9F64-45B8-80A5-20FC8B6E91C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925A222-F9F2-46E3-9309-DF332776EE1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6027dd9-77cd-484f-b6db-8bbe1351c2b5"/>
    <ds:schemaRef ds:uri="1046e879-d081-4053-adba-52e34fa7725d"/>
    <ds:schemaRef ds:uri="13a0c8d5-cff5-4140-b58f-0947a5552a6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8FFD909-429B-4107-A2B1-C958B91C177D}">
  <ds:schemaRefs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13a0c8d5-cff5-4140-b58f-0947a5552a6a"/>
    <ds:schemaRef ds:uri="http://purl.org/dc/dcmitype/"/>
    <ds:schemaRef ds:uri="http://www.w3.org/XML/1998/namespace"/>
    <ds:schemaRef ds:uri="http://schemas.microsoft.com/office/2006/documentManagement/types"/>
    <ds:schemaRef ds:uri="1046e879-d081-4053-adba-52e34fa7725d"/>
    <ds:schemaRef ds:uri="76027dd9-77cd-484f-b6db-8bbe1351c2b5"/>
    <ds:schemaRef ds:uri="http://schemas.microsoft.com/office/2006/metadata/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146</Words>
  <Application>Microsoft Office PowerPoint</Application>
  <PresentationFormat>Widescreen</PresentationFormat>
  <Paragraphs>37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Calibri</vt:lpstr>
      <vt:lpstr>Montserrat</vt:lpstr>
      <vt:lpstr>Montserrat ExtraLight</vt:lpstr>
      <vt:lpstr>Montserrat Light</vt:lpstr>
      <vt:lpstr>Montserrat SemiBold</vt:lpstr>
      <vt:lpstr>Custom Design</vt:lpstr>
      <vt:lpstr>Evidence</vt:lpstr>
      <vt:lpstr>Chain of Custody</vt:lpstr>
      <vt:lpstr>Evidence Handling Process</vt:lpstr>
      <vt:lpstr>Data Integrity and Hashing</vt:lpstr>
      <vt:lpstr>Hashing Behavior and Digest</vt:lpstr>
      <vt:lpstr>Forensic Hash Usage</vt:lpstr>
      <vt:lpstr>Legal Hold</vt:lpstr>
      <vt:lpstr>Data Retention and Preservation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Identity and Account Management</dc:title>
  <dc:creator>Shannon Lehmer</dc:creator>
  <cp:lastModifiedBy>Dana Barineau</cp:lastModifiedBy>
  <cp:revision>10</cp:revision>
  <dcterms:created xsi:type="dcterms:W3CDTF">2021-01-26T20:17:48Z</dcterms:created>
  <dcterms:modified xsi:type="dcterms:W3CDTF">2026-06-25T21:35:47Z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0x010100C634B67D360B774FBA94A353DF812505</vt:lpwstr>
  </property>
  <property fmtid="{D5CDD505-2E9C-101B-9397-08002B2CF9AE}" pid="3" name="MediaServiceImageTags">
    <vt:lpwstr/>
  </property>
  <property fmtid="{D5CDD505-2E9C-101B-9397-08002B2CF9AE}" pid="4" name="Reviewed">
    <vt:bool>false</vt:bool>
  </property>
  <property fmtid="{D5CDD505-2E9C-101B-9397-08002B2CF9AE}" pid="5" name="Order">
    <vt:r8>6033200</vt:r8>
  </property>
  <property fmtid="{D5CDD505-2E9C-101B-9397-08002B2CF9AE}" pid="6" name="xd_Signature">
    <vt:bool>false</vt:bool>
  </property>
  <property fmtid="{D5CDD505-2E9C-101B-9397-08002B2CF9AE}" pid="7" name="xd_ProgID">
    <vt:lpwstr/>
  </property>
  <property fmtid="{D5CDD505-2E9C-101B-9397-08002B2CF9AE}" pid="8" name="TriggerFlowInfo">
    <vt:lpwstr/>
  </property>
  <property fmtid="{D5CDD505-2E9C-101B-9397-08002B2CF9AE}" pid="9" name="_SourceUrl">
    <vt:lpwstr/>
  </property>
  <property fmtid="{D5CDD505-2E9C-101B-9397-08002B2CF9AE}" pid="10" name="_SharedFileIndex">
    <vt:lpwstr/>
  </property>
  <property fmtid="{D5CDD505-2E9C-101B-9397-08002B2CF9AE}" pid="11" name="ComplianceAssetId">
    <vt:lpwstr/>
  </property>
  <property fmtid="{D5CDD505-2E9C-101B-9397-08002B2CF9AE}" pid="12" name="TemplateUrl">
    <vt:lpwstr/>
  </property>
  <property fmtid="{D5CDD505-2E9C-101B-9397-08002B2CF9AE}" pid="13" name="_ExtendedDescription">
    <vt:lpwstr/>
  </property>
</Properties>
</file>