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56" r:id="rId5"/>
    <p:sldId id="382" r:id="rId6"/>
    <p:sldId id="381" r:id="rId7"/>
    <p:sldId id="395" r:id="rId8"/>
    <p:sldId id="394" r:id="rId9"/>
    <p:sldId id="396" r:id="rId10"/>
    <p:sldId id="397" r:id="rId11"/>
    <p:sldId id="398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82"/>
            <p14:sldId id="381"/>
            <p14:sldId id="395"/>
            <p14:sldId id="394"/>
            <p14:sldId id="396"/>
            <p14:sldId id="397"/>
            <p14:sldId id="398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712"/>
  </p:normalViewPr>
  <p:slideViewPr>
    <p:cSldViewPr snapToGrid="0">
      <p:cViewPr varScale="1">
        <p:scale>
          <a:sx n="58" d="100"/>
          <a:sy n="58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IAM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03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Identity and</a:t>
            </a:r>
            <a:br>
              <a:rPr lang="en-US" noProof="0" dirty="0"/>
            </a:br>
            <a:r>
              <a:rPr lang="en-US" noProof="0" dirty="0"/>
              <a:t>Access</a:t>
            </a:r>
            <a:r>
              <a:rPr lang="en-US" dirty="0"/>
              <a:t> Management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IAM authenticates users</a:t>
            </a:r>
          </a:p>
          <a:p>
            <a:r>
              <a:rPr lang="en-US" dirty="0"/>
              <a:t>Protects account access</a:t>
            </a:r>
          </a:p>
          <a:p>
            <a:r>
              <a:rPr lang="en-US" noProof="0" dirty="0"/>
              <a:t>Prevents unauthorized use</a:t>
            </a:r>
          </a:p>
          <a:p>
            <a:r>
              <a:rPr lang="en-US" noProof="0" dirty="0"/>
              <a:t>Controls system access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Authentication Factors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Something you know</a:t>
            </a:r>
          </a:p>
          <a:p>
            <a:r>
              <a:rPr lang="en-US" dirty="0">
                <a:latin typeface="Montserrat"/>
                <a:cs typeface="Arial"/>
              </a:rPr>
              <a:t>Something you have</a:t>
            </a:r>
          </a:p>
          <a:p>
            <a:r>
              <a:rPr lang="en-US" noProof="0" dirty="0">
                <a:latin typeface="Montserrat"/>
                <a:cs typeface="Arial"/>
              </a:rPr>
              <a:t>Something you are</a:t>
            </a:r>
          </a:p>
          <a:p>
            <a:r>
              <a:rPr lang="en-US" dirty="0">
                <a:latin typeface="Montserrat"/>
                <a:cs typeface="Arial"/>
              </a:rPr>
              <a:t>Something you do</a:t>
            </a:r>
          </a:p>
          <a:p>
            <a:r>
              <a:rPr lang="en-US" dirty="0">
                <a:latin typeface="Montserrat"/>
                <a:cs typeface="Arial"/>
              </a:rPr>
              <a:t>Somewhere you are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2AF6A-2042-4418-0B35-F24505D74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C37FAD-6002-55B2-D127-B5CE1B4F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Multi-Factor Authentication (MFA)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1327B5-179A-48A8-124F-8AB4BD9BC9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2159001"/>
            <a:ext cx="7067550" cy="3773292"/>
          </a:xfrm>
        </p:spPr>
        <p:txBody>
          <a:bodyPr/>
          <a:lstStyle/>
          <a:p>
            <a:r>
              <a:rPr lang="en-US" noProof="0" dirty="0"/>
              <a:t>Uses multiple           authentication factors</a:t>
            </a:r>
          </a:p>
          <a:p>
            <a:r>
              <a:rPr lang="en-US" dirty="0"/>
              <a:t>Stronger than single factor</a:t>
            </a:r>
          </a:p>
          <a:p>
            <a:r>
              <a:rPr lang="en-US" noProof="0" dirty="0"/>
              <a:t>Reduces spoofing risk</a:t>
            </a:r>
          </a:p>
          <a:p>
            <a:r>
              <a:rPr lang="en-US" dirty="0"/>
              <a:t>Increases attacker difficulty</a:t>
            </a:r>
          </a:p>
        </p:txBody>
      </p:sp>
    </p:spTree>
    <p:extLst>
      <p:ext uri="{BB962C8B-B14F-4D97-AF65-F5344CB8AC3E}">
        <p14:creationId xmlns:p14="http://schemas.microsoft.com/office/powerpoint/2010/main" val="1860792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9701-091E-6AC3-4456-FA97365B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912086-FF1C-5C62-CCBB-E372330C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Two-Step Verification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9514297-0C93-2729-CCE5-24E89804D8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862956"/>
            <a:ext cx="7067550" cy="3773292"/>
          </a:xfrm>
        </p:spPr>
        <p:txBody>
          <a:bodyPr>
            <a:normAutofit/>
          </a:bodyPr>
          <a:lstStyle/>
          <a:p>
            <a:r>
              <a:rPr lang="en-US" noProof="0" dirty="0"/>
              <a:t>Requires two            authentication steps</a:t>
            </a:r>
          </a:p>
          <a:p>
            <a:r>
              <a:rPr lang="en-US" dirty="0"/>
              <a:t>Often uses mobile device</a:t>
            </a:r>
          </a:p>
          <a:p>
            <a:pPr lvl="1"/>
            <a:r>
              <a:rPr lang="en-US" dirty="0"/>
              <a:t>Text code entry</a:t>
            </a:r>
          </a:p>
          <a:p>
            <a:pPr lvl="0"/>
            <a:r>
              <a:rPr lang="en-US" dirty="0"/>
              <a:t>Additional verification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75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E181F-A88D-BD10-6806-8F1F54261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DCE639-BE9D-FE49-10F0-8B25F7EA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 err="1"/>
              <a:t>Passwordless</a:t>
            </a:r>
            <a:r>
              <a:rPr lang="en-US" noProof="0" dirty="0"/>
              <a:t> Authentication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D169C2-EE32-1366-0291-8A26A55EC3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Does not use passwords</a:t>
            </a:r>
          </a:p>
          <a:p>
            <a:r>
              <a:rPr lang="en-US" dirty="0"/>
              <a:t>Uses alternative factors</a:t>
            </a:r>
          </a:p>
          <a:p>
            <a:r>
              <a:rPr lang="en-US" dirty="0"/>
              <a:t>Based on possession or </a:t>
            </a:r>
            <a:r>
              <a:rPr lang="en-US" dirty="0" err="1"/>
              <a:t>biometics</a:t>
            </a:r>
            <a:endParaRPr lang="en-US" dirty="0"/>
          </a:p>
          <a:p>
            <a:r>
              <a:rPr lang="en-US" dirty="0"/>
              <a:t>Reduces password risks</a:t>
            </a:r>
          </a:p>
        </p:txBody>
      </p:sp>
    </p:spTree>
    <p:extLst>
      <p:ext uri="{BB962C8B-B14F-4D97-AF65-F5344CB8AC3E}">
        <p14:creationId xmlns:p14="http://schemas.microsoft.com/office/powerpoint/2010/main" val="12007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C7ED-8A5B-D2DF-F645-90196F9F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EDF6F5-8DD1-63C2-0C78-F9F2BF76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Single Sign-On (SSO)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D4DBE9-612B-08BF-A9A2-D04A5623B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One login for multiple systems</a:t>
            </a:r>
          </a:p>
          <a:p>
            <a:r>
              <a:rPr lang="en-US" dirty="0"/>
              <a:t>Reduces number of credentials</a:t>
            </a:r>
          </a:p>
          <a:p>
            <a:r>
              <a:rPr lang="en-US" dirty="0"/>
              <a:t>Simplifies authentication</a:t>
            </a:r>
          </a:p>
          <a:p>
            <a:r>
              <a:rPr lang="en-US" dirty="0"/>
              <a:t>Reduces password fatigue</a:t>
            </a:r>
          </a:p>
        </p:txBody>
      </p:sp>
    </p:spTree>
    <p:extLst>
      <p:ext uri="{BB962C8B-B14F-4D97-AF65-F5344CB8AC3E}">
        <p14:creationId xmlns:p14="http://schemas.microsoft.com/office/powerpoint/2010/main" val="353532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9AA5-824C-3FBF-AE71-3371641C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8D3CE-45AE-313D-986A-FF0040A3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Federated</a:t>
            </a:r>
            <a:br>
              <a:rPr lang="en-US" noProof="0" dirty="0"/>
            </a:br>
            <a:r>
              <a:rPr lang="en-US" noProof="0" dirty="0"/>
              <a:t>Identity Management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B93ACD-15D2-F6D6-5727-683DF1FE45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Third-party                authentication provider</a:t>
            </a:r>
          </a:p>
          <a:p>
            <a:r>
              <a:rPr lang="en-US" dirty="0"/>
              <a:t>Centralized                        credential management</a:t>
            </a:r>
          </a:p>
          <a:p>
            <a:r>
              <a:rPr lang="en-US" dirty="0"/>
              <a:t>Used across organizations</a:t>
            </a:r>
          </a:p>
          <a:p>
            <a:r>
              <a:rPr lang="en-US" dirty="0"/>
              <a:t>Authentication                    handled externally</a:t>
            </a:r>
          </a:p>
        </p:txBody>
      </p:sp>
    </p:spTree>
    <p:extLst>
      <p:ext uri="{BB962C8B-B14F-4D97-AF65-F5344CB8AC3E}">
        <p14:creationId xmlns:p14="http://schemas.microsoft.com/office/powerpoint/2010/main" val="336041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9F71-2516-ADA3-44E1-61594838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E2CBBA-F608-38D2-B621-793DFEF2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Federated</a:t>
            </a:r>
            <a:br>
              <a:rPr lang="en-US" noProof="0" dirty="0"/>
            </a:br>
            <a:r>
              <a:rPr lang="en-US" noProof="0" dirty="0"/>
              <a:t>Identity </a:t>
            </a:r>
            <a:r>
              <a:rPr lang="en-US" dirty="0"/>
              <a:t>Example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2921196-7149-1F33-70FD-FC6A2F68A6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Users authenticate with        home system</a:t>
            </a:r>
          </a:p>
          <a:p>
            <a:r>
              <a:rPr lang="en-US" dirty="0"/>
              <a:t>Access external systems</a:t>
            </a:r>
          </a:p>
          <a:p>
            <a:r>
              <a:rPr lang="en-US" dirty="0"/>
              <a:t>Common in universities</a:t>
            </a:r>
          </a:p>
          <a:p>
            <a:r>
              <a:rPr lang="en-US" dirty="0"/>
              <a:t>Shared identity across domains</a:t>
            </a:r>
          </a:p>
        </p:txBody>
      </p:sp>
    </p:spTree>
    <p:extLst>
      <p:ext uri="{BB962C8B-B14F-4D97-AF65-F5344CB8AC3E}">
        <p14:creationId xmlns:p14="http://schemas.microsoft.com/office/powerpoint/2010/main" val="253866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7E46-47F9-C1A0-28F2-559AEF51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4B1340-CC51-AF8B-EFF0-FCA13FCF8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OpenID and SAML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1136ED-E586-23E9-A285-C9FCA03D92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OpenID supports federated login</a:t>
            </a:r>
          </a:p>
          <a:p>
            <a:r>
              <a:rPr lang="en-US" dirty="0"/>
              <a:t>Used by major platforms</a:t>
            </a:r>
          </a:p>
          <a:p>
            <a:r>
              <a:rPr lang="en-US" dirty="0"/>
              <a:t>SAML transmits       authentication data</a:t>
            </a:r>
          </a:p>
          <a:p>
            <a:r>
              <a:rPr lang="en-US" dirty="0"/>
              <a:t>XML-based assertion format</a:t>
            </a:r>
          </a:p>
        </p:txBody>
      </p:sp>
    </p:spTree>
    <p:extLst>
      <p:ext uri="{BB962C8B-B14F-4D97-AF65-F5344CB8AC3E}">
        <p14:creationId xmlns:p14="http://schemas.microsoft.com/office/powerpoint/2010/main" val="33292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6B26-0499-F1EC-B84B-C360CB46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EFAC1-9741-56D6-D66B-9E7AA810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Privileged</a:t>
            </a:r>
            <a:br>
              <a:rPr lang="en-US" noProof="0" dirty="0"/>
            </a:br>
            <a:r>
              <a:rPr lang="en-US" noProof="0" dirty="0"/>
              <a:t>Access Management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7A9034-4D29-7205-86D6-3A6217B95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Protects high-level accounts</a:t>
            </a:r>
          </a:p>
          <a:p>
            <a:r>
              <a:rPr lang="en-US" dirty="0"/>
              <a:t>Admin and root                  accounts secured</a:t>
            </a:r>
          </a:p>
          <a:p>
            <a:r>
              <a:rPr lang="en-US" dirty="0"/>
              <a:t>Controls privileged access</a:t>
            </a:r>
          </a:p>
          <a:p>
            <a:r>
              <a:rPr lang="en-US" dirty="0"/>
              <a:t>Reduces misuse risk</a:t>
            </a:r>
          </a:p>
        </p:txBody>
      </p:sp>
    </p:spTree>
    <p:extLst>
      <p:ext uri="{BB962C8B-B14F-4D97-AF65-F5344CB8AC3E}">
        <p14:creationId xmlns:p14="http://schemas.microsoft.com/office/powerpoint/2010/main" val="2098096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4E882-90F4-2F00-EFC8-EF317B46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AD9BF4-8E2B-7C8B-44B4-125B8091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Least Privilege</a:t>
            </a:r>
            <a:br>
              <a:rPr lang="en-US" noProof="0" dirty="0"/>
            </a:br>
            <a:r>
              <a:rPr lang="en-US" noProof="0" dirty="0"/>
              <a:t>and Just-in-time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2582FD-4B79-BEB2-7A29-6C3C9FD3F4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Least privilege</a:t>
            </a:r>
          </a:p>
          <a:p>
            <a:pPr lvl="1"/>
            <a:r>
              <a:rPr lang="en-US" dirty="0"/>
              <a:t>Only required access</a:t>
            </a:r>
          </a:p>
          <a:p>
            <a:pPr lvl="0"/>
            <a:r>
              <a:rPr lang="en-US" dirty="0"/>
              <a:t>Just-in-time access</a:t>
            </a:r>
          </a:p>
          <a:p>
            <a:pPr lvl="1"/>
            <a:r>
              <a:rPr lang="en-US" dirty="0"/>
              <a:t>Temporary elevated access</a:t>
            </a:r>
          </a:p>
          <a:p>
            <a:pPr lvl="0"/>
            <a:r>
              <a:rPr lang="en-US" dirty="0"/>
              <a:t>Limits exposure duration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94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1C5-D2AB-57C3-6651-42026A1B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CB825-22E9-ED10-8751-2B2DF689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Credential Vaulting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83A5D0-C18C-C904-0236-24E71C33DB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Stores privileged            credentials securely</a:t>
            </a:r>
          </a:p>
          <a:p>
            <a:pPr lvl="0"/>
            <a:r>
              <a:rPr lang="en-US" dirty="0"/>
              <a:t>Centralized account vault</a:t>
            </a:r>
          </a:p>
          <a:p>
            <a:pPr lvl="0"/>
            <a:r>
              <a:rPr lang="en-US" dirty="0"/>
              <a:t>Users check out access</a:t>
            </a:r>
          </a:p>
          <a:p>
            <a:pPr lvl="0"/>
            <a:r>
              <a:rPr lang="en-US" dirty="0"/>
              <a:t>Time-limited credential usage</a:t>
            </a:r>
          </a:p>
        </p:txBody>
      </p:sp>
    </p:spTree>
    <p:extLst>
      <p:ext uri="{BB962C8B-B14F-4D97-AF65-F5344CB8AC3E}">
        <p14:creationId xmlns:p14="http://schemas.microsoft.com/office/powerpoint/2010/main" val="1928098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AE77-D7B1-D339-242E-6BF911A22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FADF9-E97F-F1EC-6A52-6780A1E8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Secrets Management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8B6C8E-1B59-79AC-2912-CC7485E27D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Protects sensitive   authentication data</a:t>
            </a:r>
          </a:p>
          <a:p>
            <a:pPr lvl="0"/>
            <a:r>
              <a:rPr lang="en-US" dirty="0"/>
              <a:t>Includes keys and tokens</a:t>
            </a:r>
          </a:p>
          <a:p>
            <a:pPr lvl="0"/>
            <a:r>
              <a:rPr lang="en-US" dirty="0"/>
              <a:t>Secures admin credentials</a:t>
            </a:r>
          </a:p>
          <a:p>
            <a:pPr lvl="0"/>
            <a:r>
              <a:rPr lang="en-US" dirty="0"/>
              <a:t>Maintains confidentiality</a:t>
            </a:r>
          </a:p>
        </p:txBody>
      </p:sp>
    </p:spTree>
    <p:extLst>
      <p:ext uri="{BB962C8B-B14F-4D97-AF65-F5344CB8AC3E}">
        <p14:creationId xmlns:p14="http://schemas.microsoft.com/office/powerpoint/2010/main" val="322464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Data Protection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03</a:t>
            </a:r>
          </a:p>
        </p:txBody>
      </p:sp>
    </p:spTree>
    <p:extLst>
      <p:ext uri="{BB962C8B-B14F-4D97-AF65-F5344CB8AC3E}">
        <p14:creationId xmlns:p14="http://schemas.microsoft.com/office/powerpoint/2010/main" val="192446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100000"/>
          </a:xfrm>
        </p:spPr>
        <p:txBody>
          <a:bodyPr/>
          <a:lstStyle/>
          <a:p>
            <a:r>
              <a:rPr lang="da-DK" sz="4000" dirty="0"/>
              <a:t>Synchronous vs. Asynchronous Encryption</a:t>
            </a:r>
            <a:endParaRPr lang="en-US" sz="40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b="1" dirty="0"/>
              <a:t>Synchronous </a:t>
            </a:r>
            <a:r>
              <a:rPr lang="en-US" b="1" dirty="0">
                <a:latin typeface="Montserrat"/>
                <a:cs typeface="Arial"/>
              </a:rPr>
              <a:t>: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one key encrypts and decrypts</a:t>
            </a:r>
          </a:p>
          <a:p>
            <a:pPr lvl="1"/>
            <a:r>
              <a:rPr lang="en-US" dirty="0"/>
              <a:t>Fast, but secure key delivery is </a:t>
            </a:r>
            <a:br>
              <a:rPr lang="en-US" dirty="0"/>
            </a:br>
            <a:r>
              <a:rPr lang="en-US" dirty="0"/>
              <a:t>the challenge</a:t>
            </a:r>
          </a:p>
          <a:p>
            <a:r>
              <a:rPr lang="en-US" b="1" dirty="0">
                <a:latin typeface="Montserrat"/>
                <a:cs typeface="Arial"/>
              </a:rPr>
              <a:t>Asynchronous :</a:t>
            </a:r>
            <a:r>
              <a:rPr lang="en-US" dirty="0">
                <a:latin typeface="Montserrat"/>
                <a:cs typeface="Arial"/>
              </a:rPr>
              <a:t>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uses a public/private key pair</a:t>
            </a:r>
          </a:p>
          <a:p>
            <a:pPr lvl="1"/>
            <a:r>
              <a:rPr lang="en-US" dirty="0"/>
              <a:t>Slower, but no key-sharing risk</a:t>
            </a:r>
          </a:p>
        </p:txBody>
      </p:sp>
    </p:spTree>
    <p:extLst>
      <p:ext uri="{BB962C8B-B14F-4D97-AF65-F5344CB8AC3E}">
        <p14:creationId xmlns:p14="http://schemas.microsoft.com/office/powerpoint/2010/main" val="364512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100000"/>
          </a:xfrm>
        </p:spPr>
        <p:txBody>
          <a:bodyPr/>
          <a:lstStyle/>
          <a:p>
            <a:r>
              <a:rPr lang="da-DK" dirty="0"/>
              <a:t>How </a:t>
            </a:r>
            <a:r>
              <a:rPr lang="da-DK" dirty="0" err="1"/>
              <a:t>Asymmetric</a:t>
            </a:r>
            <a:r>
              <a:rPr lang="da-DK" dirty="0"/>
              <a:t> Encryption Works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latin typeface="Montserrat"/>
                <a:cs typeface="Arial"/>
              </a:rPr>
              <a:t>Based on Diffie-Hellman and large prime numbers</a:t>
            </a:r>
          </a:p>
          <a:p>
            <a:pPr lvl="1"/>
            <a:r>
              <a:rPr lang="en-US" dirty="0"/>
              <a:t>Private key stays with the</a:t>
            </a:r>
            <a:br>
              <a:rPr lang="en-US" dirty="0"/>
            </a:br>
            <a:r>
              <a:rPr lang="en-US" dirty="0"/>
              <a:t> recipient — always</a:t>
            </a:r>
          </a:p>
          <a:p>
            <a:r>
              <a:rPr lang="en-US" b="1" dirty="0">
                <a:latin typeface="Montserrat"/>
                <a:cs typeface="Arial"/>
              </a:rPr>
              <a:t>Public key encrypts; only the private key decrypts</a:t>
            </a:r>
          </a:p>
          <a:p>
            <a:pPr lvl="1"/>
            <a:r>
              <a:rPr lang="en-US" dirty="0"/>
              <a:t>Cracking it takes far longer than the exchange itself</a:t>
            </a:r>
          </a:p>
        </p:txBody>
      </p:sp>
    </p:spTree>
    <p:extLst>
      <p:ext uri="{BB962C8B-B14F-4D97-AF65-F5344CB8AC3E}">
        <p14:creationId xmlns:p14="http://schemas.microsoft.com/office/powerpoint/2010/main" val="1373901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1100000"/>
          </a:xfrm>
        </p:spPr>
        <p:txBody>
          <a:bodyPr/>
          <a:lstStyle/>
          <a:p>
            <a:r>
              <a:rPr lang="da-DK" dirty="0"/>
              <a:t>Why </a:t>
            </a:r>
            <a:r>
              <a:rPr lang="da-DK" dirty="0" err="1"/>
              <a:t>We</a:t>
            </a:r>
            <a:r>
              <a:rPr lang="da-DK" dirty="0"/>
              <a:t> Use </a:t>
            </a:r>
            <a:br>
              <a:rPr lang="da-DK" dirty="0"/>
            </a:b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Together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Montserrat"/>
                <a:cs typeface="Arial"/>
              </a:rPr>
              <a:t>Asymmetric sets up the connection and shares a key</a:t>
            </a:r>
          </a:p>
          <a:p>
            <a:pPr lvl="1"/>
            <a:r>
              <a:rPr lang="en-US" dirty="0"/>
              <a:t>Solves the A-to-B key </a:t>
            </a:r>
            <a:br>
              <a:rPr lang="en-US" dirty="0"/>
            </a:br>
            <a:r>
              <a:rPr lang="en-US" dirty="0"/>
              <a:t>delivery problem</a:t>
            </a:r>
          </a:p>
          <a:p>
            <a:r>
              <a:rPr lang="en-US" dirty="0">
                <a:latin typeface="Montserrat"/>
                <a:cs typeface="Arial"/>
              </a:rPr>
              <a:t>Then systems switch to symmetric for speed</a:t>
            </a:r>
          </a:p>
          <a:p>
            <a:pPr lvl="1"/>
            <a:r>
              <a:rPr lang="en-US" dirty="0"/>
              <a:t>Enables secure communication between total strangers</a:t>
            </a:r>
          </a:p>
        </p:txBody>
      </p:sp>
    </p:spTree>
    <p:extLst>
      <p:ext uri="{BB962C8B-B14F-4D97-AF65-F5344CB8AC3E}">
        <p14:creationId xmlns:p14="http://schemas.microsoft.com/office/powerpoint/2010/main" val="772844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da-DK"/>
              <a:t>Tokenization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Temporarily replaces sensitive values with placeholders</a:t>
            </a:r>
          </a:p>
          <a:p>
            <a:pPr lvl="1"/>
            <a:r>
              <a:rPr lang="en-US" dirty="0"/>
              <a:t>Like arcade tokens hiding </a:t>
            </a:r>
            <a:br>
              <a:rPr lang="en-US" dirty="0"/>
            </a:br>
            <a:r>
              <a:rPr lang="en-US" dirty="0"/>
              <a:t>what’s underneath</a:t>
            </a:r>
          </a:p>
          <a:p>
            <a:r>
              <a:rPr lang="en-US" dirty="0">
                <a:latin typeface="Montserrat"/>
                <a:cs typeface="Arial"/>
              </a:rPr>
              <a:t>Reversible — original data can be retrieved when needed</a:t>
            </a:r>
          </a:p>
          <a:p>
            <a:pPr lvl="1"/>
            <a:r>
              <a:rPr lang="en-US" dirty="0"/>
              <a:t>Used in password fields, payment forms, and call centers</a:t>
            </a:r>
          </a:p>
        </p:txBody>
      </p:sp>
    </p:spTree>
    <p:extLst>
      <p:ext uri="{BB962C8B-B14F-4D97-AF65-F5344CB8AC3E}">
        <p14:creationId xmlns:p14="http://schemas.microsoft.com/office/powerpoint/2010/main" val="948911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da-DK"/>
              <a:t>Masking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Permanently replaces sensitive characters — irreversible</a:t>
            </a:r>
          </a:p>
          <a:p>
            <a:pPr lvl="1"/>
            <a:r>
              <a:rPr lang="en-US" dirty="0"/>
              <a:t>Also called </a:t>
            </a:r>
            <a:br>
              <a:rPr lang="en-US" dirty="0"/>
            </a:br>
            <a:r>
              <a:rPr lang="en-US" dirty="0"/>
              <a:t>permanent tokenization</a:t>
            </a:r>
          </a:p>
          <a:p>
            <a:r>
              <a:rPr lang="en-US" dirty="0">
                <a:latin typeface="Montserrat"/>
                <a:cs typeface="Arial"/>
              </a:rPr>
              <a:t>Keeps original format so the data type is recognizable</a:t>
            </a:r>
          </a:p>
          <a:p>
            <a:pPr lvl="1"/>
            <a:r>
              <a:rPr lang="en-US" dirty="0"/>
              <a:t>Example: ****-****-****-1234 confirms identity without exposure</a:t>
            </a:r>
          </a:p>
        </p:txBody>
      </p:sp>
    </p:spTree>
    <p:extLst>
      <p:ext uri="{BB962C8B-B14F-4D97-AF65-F5344CB8AC3E}">
        <p14:creationId xmlns:p14="http://schemas.microsoft.com/office/powerpoint/2010/main" val="18927950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FFD909-429B-4107-A2B1-C958B91C177D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1046e879-d081-4053-adba-52e34fa7725d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13a0c8d5-cff5-4140-b58f-0947a5552a6a"/>
    <ds:schemaRef ds:uri="76027dd9-77cd-484f-b6db-8bbe1351c2b5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27dd9-77cd-484f-b6db-8bbe1351c2b5"/>
    <ds:schemaRef ds:uri="1046e879-d081-4053-adba-52e34fa7725d"/>
    <ds:schemaRef ds:uri="13a0c8d5-cff5-4140-b58f-0947a5552a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408</Words>
  <Application>Microsoft Office PowerPoint</Application>
  <PresentationFormat>Widescreen</PresentationFormat>
  <Paragraphs>96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IAM</vt:lpstr>
      <vt:lpstr>Identity and Access Management</vt:lpstr>
      <vt:lpstr>Authentication Factors</vt:lpstr>
      <vt:lpstr>Multi-Factor Authentication (MFA)</vt:lpstr>
      <vt:lpstr>Two-Step Verification</vt:lpstr>
      <vt:lpstr>Passwordless Authentication</vt:lpstr>
      <vt:lpstr>Single Sign-On (SSO)</vt:lpstr>
      <vt:lpstr>Federated Identity Management</vt:lpstr>
      <vt:lpstr>Federated Identity Example</vt:lpstr>
      <vt:lpstr>OpenID and SAML</vt:lpstr>
      <vt:lpstr>Privileged Access Management</vt:lpstr>
      <vt:lpstr>Least Privilege and Just-in-time</vt:lpstr>
      <vt:lpstr>Credential Vaulting</vt:lpstr>
      <vt:lpstr>Secrets Management</vt:lpstr>
      <vt:lpstr>Data Protection</vt:lpstr>
      <vt:lpstr>Synchronous vs. Asynchronous Encryption</vt:lpstr>
      <vt:lpstr>How Asymmetric Encryption Works</vt:lpstr>
      <vt:lpstr>Why We Use  Both Together</vt:lpstr>
      <vt:lpstr>Tokenization</vt:lpstr>
      <vt:lpstr>Masking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10</cp:revision>
  <dcterms:created xsi:type="dcterms:W3CDTF">2021-01-26T20:17:48Z</dcterms:created>
  <dcterms:modified xsi:type="dcterms:W3CDTF">2026-06-25T19:59:59Z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