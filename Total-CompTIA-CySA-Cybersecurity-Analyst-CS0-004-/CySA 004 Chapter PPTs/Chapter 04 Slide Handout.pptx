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6"/>
  </p:notesMasterIdLst>
  <p:sldIdLst>
    <p:sldId id="394" r:id="rId5"/>
    <p:sldId id="397" r:id="rId6"/>
    <p:sldId id="404" r:id="rId7"/>
    <p:sldId id="399" r:id="rId8"/>
    <p:sldId id="403" r:id="rId9"/>
    <p:sldId id="402" r:id="rId10"/>
    <p:sldId id="256" r:id="rId11"/>
    <p:sldId id="381" r:id="rId12"/>
    <p:sldId id="405" r:id="rId13"/>
    <p:sldId id="395" r:id="rId14"/>
    <p:sldId id="382" r:id="rId15"/>
    <p:sldId id="406" r:id="rId16"/>
    <p:sldId id="407" r:id="rId17"/>
    <p:sldId id="408" r:id="rId18"/>
    <p:sldId id="409" r:id="rId19"/>
    <p:sldId id="410" r:id="rId20"/>
    <p:sldId id="411" r:id="rId21"/>
    <p:sldId id="396" r:id="rId22"/>
    <p:sldId id="412" r:id="rId23"/>
    <p:sldId id="413" r:id="rId24"/>
    <p:sldId id="414" r:id="rId25"/>
    <p:sldId id="415" r:id="rId26"/>
    <p:sldId id="416" r:id="rId27"/>
    <p:sldId id="398" r:id="rId28"/>
    <p:sldId id="417" r:id="rId29"/>
    <p:sldId id="418" r:id="rId30"/>
    <p:sldId id="419" r:id="rId31"/>
    <p:sldId id="400" r:id="rId32"/>
    <p:sldId id="420" r:id="rId33"/>
    <p:sldId id="421" r:id="rId34"/>
    <p:sldId id="422" r:id="rId35"/>
    <p:sldId id="423" r:id="rId36"/>
    <p:sldId id="424" r:id="rId37"/>
    <p:sldId id="425" r:id="rId38"/>
    <p:sldId id="426" r:id="rId39"/>
    <p:sldId id="427" r:id="rId40"/>
    <p:sldId id="428" r:id="rId41"/>
    <p:sldId id="429" r:id="rId42"/>
    <p:sldId id="430" r:id="rId43"/>
    <p:sldId id="431" r:id="rId44"/>
    <p:sldId id="43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394"/>
            <p14:sldId id="397"/>
            <p14:sldId id="404"/>
            <p14:sldId id="399"/>
            <p14:sldId id="403"/>
            <p14:sldId id="402"/>
            <p14:sldId id="256"/>
            <p14:sldId id="381"/>
            <p14:sldId id="405"/>
            <p14:sldId id="395"/>
            <p14:sldId id="382"/>
            <p14:sldId id="406"/>
            <p14:sldId id="407"/>
            <p14:sldId id="408"/>
            <p14:sldId id="409"/>
            <p14:sldId id="410"/>
            <p14:sldId id="411"/>
            <p14:sldId id="396"/>
            <p14:sldId id="412"/>
            <p14:sldId id="413"/>
            <p14:sldId id="414"/>
            <p14:sldId id="415"/>
            <p14:sldId id="416"/>
            <p14:sldId id="398"/>
            <p14:sldId id="417"/>
            <p14:sldId id="418"/>
            <p14:sldId id="419"/>
            <p14:sldId id="400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12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33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8166A4-E9D0-4AFA-9CA5-FF99D13E5D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35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Governance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04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AI </a:t>
            </a:r>
            <a:br>
              <a:rPr lang="en-US" dirty="0"/>
            </a:br>
            <a:r>
              <a:rPr lang="en-US" dirty="0"/>
              <a:t>Governance Matters?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Rapid adoption of AI tools        and agents</a:t>
            </a:r>
          </a:p>
          <a:p>
            <a:r>
              <a:rPr lang="en-US" dirty="0"/>
              <a:t>Increased legal and     compliance exposure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392A-9D2A-07FC-86E4-81E0F7CFD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0117B-A948-7615-F707-2C412CF4A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and Compliance Considerations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C1EFD-D12A-0348-75FE-2B64E91FBA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AI use may be regulated               or restricted</a:t>
            </a:r>
          </a:p>
          <a:p>
            <a:r>
              <a:rPr lang="en-US" dirty="0"/>
              <a:t>Requirements vary by organization and industry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23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Documenting How</a:t>
            </a:r>
            <a:br>
              <a:rPr lang="en-US" dirty="0"/>
            </a:br>
            <a:r>
              <a:rPr lang="en-US" dirty="0"/>
              <a:t>AI is Used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Some organizations             require disclosure</a:t>
            </a:r>
          </a:p>
          <a:p>
            <a:r>
              <a:rPr lang="en-US" dirty="0"/>
              <a:t>Identifies AI tools used and for what purpose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0E4E-EEFA-CFE4-F738-E12F5EE3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EF061-570F-B5A7-4581-90E3BAFA2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Restrictions and Polices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52EBC-CFFF-FF64-D1A4-DC1DFDC038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AI use may be restricted by industry regulations</a:t>
            </a:r>
          </a:p>
          <a:p>
            <a:r>
              <a:rPr lang="en-US" dirty="0"/>
              <a:t>Organizations define acceptable AI use through policy</a:t>
            </a:r>
          </a:p>
          <a:p>
            <a:r>
              <a:rPr lang="en-US" dirty="0"/>
              <a:t>Policies specify approved tools and prohibited uses</a:t>
            </a:r>
          </a:p>
        </p:txBody>
      </p:sp>
    </p:spTree>
    <p:extLst>
      <p:ext uri="{BB962C8B-B14F-4D97-AF65-F5344CB8AC3E}">
        <p14:creationId xmlns:p14="http://schemas.microsoft.com/office/powerpoint/2010/main" val="3860464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Sensitive Data Risks and AI Data Leakage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Sensitive data may be submitted </a:t>
            </a:r>
            <a:r>
              <a:rPr lang="en-US"/>
              <a:t>to AI </a:t>
            </a:r>
            <a:r>
              <a:rPr lang="en-US" dirty="0"/>
              <a:t>systems</a:t>
            </a:r>
          </a:p>
          <a:p>
            <a:r>
              <a:rPr lang="en-US" dirty="0"/>
              <a:t>Data can become part of the      AI model</a:t>
            </a:r>
          </a:p>
          <a:p>
            <a:r>
              <a:rPr lang="en-US" dirty="0"/>
              <a:t>Other users or organizations may retrieve it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AI Risk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04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Risk of Using AI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AI introduces accuracy, security, and trust risks</a:t>
            </a:r>
          </a:p>
          <a:p>
            <a:r>
              <a:rPr lang="en-US" noProof="0" dirty="0">
                <a:latin typeface="Montserrat"/>
                <a:cs typeface="Arial"/>
              </a:rPr>
              <a:t>Risks must be understood    before adoption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791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AE651-D96A-398E-BE3F-DD67B3062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7CAEF2-0E0E-F0CC-54B2-26E694D9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Common AI Risks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DAB355-1AD4-1498-7468-C282944A86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Hallucinations</a:t>
            </a:r>
          </a:p>
          <a:p>
            <a:r>
              <a:rPr lang="en-US" noProof="0" dirty="0">
                <a:latin typeface="Montserrat"/>
                <a:cs typeface="Arial"/>
              </a:rPr>
              <a:t>Data exposure</a:t>
            </a:r>
          </a:p>
          <a:p>
            <a:r>
              <a:rPr lang="en-US" noProof="0" dirty="0">
                <a:latin typeface="Montserrat"/>
                <a:cs typeface="Arial"/>
              </a:rPr>
              <a:t>Model poisoning</a:t>
            </a:r>
          </a:p>
          <a:p>
            <a:r>
              <a:rPr lang="en-US" noProof="0" dirty="0">
                <a:latin typeface="Montserrat"/>
                <a:cs typeface="Arial"/>
              </a:rPr>
              <a:t>Malicious prompts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79694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7F080-4D73-7583-53F3-C501230B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D2E753-4533-5D74-2CEA-9EC431763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AI Hallucinations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BD0A13-9A84-C08F-5B66-79211294A1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AI presents false information      as fact</a:t>
            </a:r>
          </a:p>
          <a:p>
            <a:r>
              <a:rPr lang="en-US" noProof="0" dirty="0">
                <a:latin typeface="Montserrat"/>
                <a:cs typeface="Arial"/>
              </a:rPr>
              <a:t>No supporting evidence for      the output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1118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Exposure Risks and AI Data Leakage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Data submitted to AI may become part of the model</a:t>
            </a:r>
          </a:p>
          <a:p>
            <a:r>
              <a:rPr lang="en-US" noProof="0" dirty="0"/>
              <a:t>Sensitive information may be exposed to others</a:t>
            </a:r>
          </a:p>
        </p:txBody>
      </p:sp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5B71E-186D-E9F2-CD7D-F40CE5434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266AAA-01FA-A7B9-59E7-0E56F9EA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Model Poisoning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379C19-91BC-A43F-AEC7-8CFAF073FA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Attackers manipulate training data or behavior</a:t>
            </a:r>
          </a:p>
          <a:p>
            <a:r>
              <a:rPr lang="en-US" noProof="0" dirty="0"/>
              <a:t>Produces biased, incorrect, or attacker-controlled results</a:t>
            </a:r>
          </a:p>
        </p:txBody>
      </p:sp>
    </p:spTree>
    <p:extLst>
      <p:ext uri="{BB962C8B-B14F-4D97-AF65-F5344CB8AC3E}">
        <p14:creationId xmlns:p14="http://schemas.microsoft.com/office/powerpoint/2010/main" val="1336161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D03A4-D087-FA3B-F27A-408684595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1046D6-8213-8748-8AA1-D463A382D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Malicious Prompts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98BE1B-956C-6E12-074A-3DEAD0C555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Inputs designed to bypass           AI safeguards</a:t>
            </a:r>
          </a:p>
          <a:p>
            <a:r>
              <a:rPr lang="en-US" noProof="0" dirty="0"/>
              <a:t>Can leak data or trigger       unsafe actions</a:t>
            </a:r>
          </a:p>
        </p:txBody>
      </p:sp>
    </p:spTree>
    <p:extLst>
      <p:ext uri="{BB962C8B-B14F-4D97-AF65-F5344CB8AC3E}">
        <p14:creationId xmlns:p14="http://schemas.microsoft.com/office/powerpoint/2010/main" val="2519599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AI Use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04</a:t>
            </a:r>
          </a:p>
        </p:txBody>
      </p:sp>
    </p:spTree>
    <p:extLst>
      <p:ext uri="{BB962C8B-B14F-4D97-AF65-F5344CB8AC3E}">
        <p14:creationId xmlns:p14="http://schemas.microsoft.com/office/powerpoint/2010/main" val="1303789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Common AI Use Cases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Data comparison and analysis</a:t>
            </a:r>
          </a:p>
          <a:p>
            <a:r>
              <a:rPr lang="en-US" noProof="0" dirty="0">
                <a:latin typeface="Montserrat"/>
                <a:cs typeface="Arial"/>
              </a:rPr>
              <a:t>Log file analysis</a:t>
            </a:r>
          </a:p>
          <a:p>
            <a:r>
              <a:rPr lang="en-US" noProof="0" dirty="0">
                <a:latin typeface="Montserrat"/>
                <a:cs typeface="Arial"/>
              </a:rPr>
              <a:t>Document creation</a:t>
            </a:r>
          </a:p>
          <a:p>
            <a:r>
              <a:rPr lang="en-US" noProof="0" dirty="0">
                <a:latin typeface="Montserrat"/>
                <a:cs typeface="Arial"/>
              </a:rPr>
              <a:t>Incident investigation</a:t>
            </a:r>
          </a:p>
          <a:p>
            <a:r>
              <a:rPr lang="en-US" noProof="0" dirty="0">
                <a:latin typeface="Montserrat"/>
                <a:cs typeface="Arial"/>
              </a:rPr>
              <a:t>Automation and orchestration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6019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Analysis and Log File Analysis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AI quickly analyzes large data sets</a:t>
            </a:r>
          </a:p>
          <a:p>
            <a:r>
              <a:rPr lang="en-US" noProof="0" dirty="0"/>
              <a:t>Converts complex logs into human-readable summaries</a:t>
            </a:r>
          </a:p>
        </p:txBody>
      </p:sp>
    </p:spTree>
    <p:extLst>
      <p:ext uri="{BB962C8B-B14F-4D97-AF65-F5344CB8AC3E}">
        <p14:creationId xmlns:p14="http://schemas.microsoft.com/office/powerpoint/2010/main" val="1732316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0A309-19AE-E3F6-8198-287DA00C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F4D547-BF5C-754C-BDCC-F2681EF2E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Document Creation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F072723-5535-E235-D9DF-7A0086FA52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Provides a starting point             for documentation</a:t>
            </a:r>
          </a:p>
          <a:p>
            <a:r>
              <a:rPr lang="en-US" noProof="0" dirty="0">
                <a:latin typeface="Montserrat"/>
                <a:cs typeface="Arial"/>
              </a:rPr>
              <a:t>Assists with routine reports      and summaries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6529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13A99-09CF-4602-79E3-50FC53656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537A6C-10AE-4A68-0546-2E03804D9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Incident Investigation and Event Correlation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87C83A-7FA1-B185-9944-97B41165EF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Ingests multiple data sources</a:t>
            </a:r>
          </a:p>
          <a:p>
            <a:r>
              <a:rPr lang="en-US" noProof="0" dirty="0"/>
              <a:t>Identifies suspicious or malicious activity across systems</a:t>
            </a:r>
          </a:p>
        </p:txBody>
      </p:sp>
    </p:spTree>
    <p:extLst>
      <p:ext uri="{BB962C8B-B14F-4D97-AF65-F5344CB8AC3E}">
        <p14:creationId xmlns:p14="http://schemas.microsoft.com/office/powerpoint/2010/main" val="523721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F37E-8894-0CF2-F2D4-DE904A68F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05249-1AFD-85EF-A14F-0BCFBBC45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Automation</a:t>
            </a:r>
            <a:br>
              <a:rPr lang="en-US" noProof="0" dirty="0"/>
            </a:br>
            <a:r>
              <a:rPr lang="en-US" noProof="0" dirty="0"/>
              <a:t>and Orchestration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6023989-4B30-6045-8C90-04C4A87C06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Automatically responds                to incidents</a:t>
            </a:r>
          </a:p>
          <a:p>
            <a:r>
              <a:rPr lang="en-US" noProof="0" dirty="0"/>
              <a:t>Executes predefined response actions and scripts</a:t>
            </a:r>
          </a:p>
        </p:txBody>
      </p:sp>
    </p:spTree>
    <p:extLst>
      <p:ext uri="{BB962C8B-B14F-4D97-AF65-F5344CB8AC3E}">
        <p14:creationId xmlns:p14="http://schemas.microsoft.com/office/powerpoint/2010/main" val="2887671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Automation -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04</a:t>
            </a:r>
          </a:p>
        </p:txBody>
      </p:sp>
    </p:spTree>
    <p:extLst>
      <p:ext uri="{BB962C8B-B14F-4D97-AF65-F5344CB8AC3E}">
        <p14:creationId xmlns:p14="http://schemas.microsoft.com/office/powerpoint/2010/main" val="3407686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2943D-8DB7-9D42-50D0-9CC155D6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3C0F6D-42A7-FC03-9712-8D545666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Automation and APIs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91A924-22FD-7413-F67A-8AF55704AC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Automation increases               with complexity</a:t>
            </a:r>
          </a:p>
          <a:p>
            <a:r>
              <a:rPr lang="en-US" noProof="0" dirty="0"/>
              <a:t>APIs enable system interaction</a:t>
            </a:r>
          </a:p>
          <a:p>
            <a:r>
              <a:rPr lang="en-US" noProof="0" dirty="0"/>
              <a:t>Interface for predefined actions</a:t>
            </a:r>
          </a:p>
        </p:txBody>
      </p:sp>
    </p:spTree>
    <p:extLst>
      <p:ext uri="{BB962C8B-B14F-4D97-AF65-F5344CB8AC3E}">
        <p14:creationId xmlns:p14="http://schemas.microsoft.com/office/powerpoint/2010/main" val="1303055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57068-AA05-9C33-6831-2CEE0B50F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C5D4FA-B0A7-7B4D-A6B4-666834A7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697807"/>
          </a:xfrm>
        </p:spPr>
        <p:txBody>
          <a:bodyPr>
            <a:normAutofit/>
          </a:bodyPr>
          <a:lstStyle/>
          <a:p>
            <a:r>
              <a:rPr lang="en-US" noProof="0" dirty="0"/>
              <a:t>AI Concept Example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4FEF672-DFB6-6516-87FC-76C29ECF1A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2235200"/>
            <a:ext cx="7067550" cy="3773292"/>
          </a:xfrm>
        </p:spPr>
        <p:txBody>
          <a:bodyPr/>
          <a:lstStyle/>
          <a:p>
            <a:r>
              <a:rPr lang="en-US" noProof="0" dirty="0"/>
              <a:t>Structured interface for tasks</a:t>
            </a:r>
          </a:p>
          <a:p>
            <a:r>
              <a:rPr lang="en-US" dirty="0"/>
              <a:t>Limited predefined operations</a:t>
            </a:r>
          </a:p>
          <a:p>
            <a:r>
              <a:rPr lang="en-US" noProof="0" dirty="0"/>
              <a:t>Not full system access</a:t>
            </a:r>
          </a:p>
        </p:txBody>
      </p:sp>
    </p:spTree>
    <p:extLst>
      <p:ext uri="{BB962C8B-B14F-4D97-AF65-F5344CB8AC3E}">
        <p14:creationId xmlns:p14="http://schemas.microsoft.com/office/powerpoint/2010/main" val="4251526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532708"/>
          </a:xfrm>
        </p:spPr>
        <p:txBody>
          <a:bodyPr>
            <a:normAutofit/>
          </a:bodyPr>
          <a:lstStyle/>
          <a:p>
            <a:r>
              <a:rPr lang="en-US" noProof="0" dirty="0"/>
              <a:t>APIs in</a:t>
            </a:r>
            <a:br>
              <a:rPr lang="en-US" noProof="0" dirty="0"/>
            </a:br>
            <a:r>
              <a:rPr lang="en-US" noProof="0" dirty="0"/>
              <a:t>Modern Platforms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2260601"/>
            <a:ext cx="7067550" cy="3773292"/>
          </a:xfrm>
        </p:spPr>
        <p:txBody>
          <a:bodyPr/>
          <a:lstStyle/>
          <a:p>
            <a:r>
              <a:rPr lang="en-US" noProof="0" dirty="0"/>
              <a:t>Programmable interfaces           for applications</a:t>
            </a:r>
          </a:p>
          <a:p>
            <a:r>
              <a:rPr lang="en-US" dirty="0"/>
              <a:t>Enable automation                     and integration</a:t>
            </a:r>
          </a:p>
          <a:p>
            <a:r>
              <a:rPr lang="en-US" noProof="0" dirty="0"/>
              <a:t>Common in web platforms</a:t>
            </a:r>
          </a:p>
        </p:txBody>
      </p:sp>
    </p:spTree>
    <p:extLst>
      <p:ext uri="{BB962C8B-B14F-4D97-AF65-F5344CB8AC3E}">
        <p14:creationId xmlns:p14="http://schemas.microsoft.com/office/powerpoint/2010/main" val="1238528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4A195-92C5-ED40-B01B-A3C0A62E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9E3674-E187-45C5-0903-76FF8EBC4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532708"/>
          </a:xfrm>
        </p:spPr>
        <p:txBody>
          <a:bodyPr>
            <a:normAutofit/>
          </a:bodyPr>
          <a:lstStyle/>
          <a:p>
            <a:r>
              <a:rPr lang="en-US" noProof="0" dirty="0"/>
              <a:t>Webhooks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4B60B7-E7B0-812E-B048-7146904A39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2260601"/>
            <a:ext cx="7067550" cy="3773292"/>
          </a:xfrm>
        </p:spPr>
        <p:txBody>
          <a:bodyPr/>
          <a:lstStyle/>
          <a:p>
            <a:r>
              <a:rPr lang="en-US" noProof="0" dirty="0"/>
              <a:t>Automated HyperText Transfer Protocol (HTTP) messages</a:t>
            </a:r>
          </a:p>
          <a:p>
            <a:r>
              <a:rPr lang="en-US" dirty="0"/>
              <a:t>Notify clients of changes</a:t>
            </a:r>
          </a:p>
          <a:p>
            <a:r>
              <a:rPr lang="en-US" noProof="0" dirty="0"/>
              <a:t>Browser call</a:t>
            </a:r>
            <a:r>
              <a:rPr lang="en-US" dirty="0"/>
              <a:t>back behavior</a:t>
            </a:r>
          </a:p>
        </p:txBody>
      </p:sp>
    </p:spTree>
    <p:extLst>
      <p:ext uri="{BB962C8B-B14F-4D97-AF65-F5344CB8AC3E}">
        <p14:creationId xmlns:p14="http://schemas.microsoft.com/office/powerpoint/2010/main" val="3150452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32B5-019F-656C-13C9-439CF091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DA704F-677E-D4BB-228C-DA0742DD9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532708"/>
          </a:xfrm>
        </p:spPr>
        <p:txBody>
          <a:bodyPr>
            <a:normAutofit/>
          </a:bodyPr>
          <a:lstStyle/>
          <a:p>
            <a:r>
              <a:rPr lang="en-US" noProof="0" dirty="0"/>
              <a:t>The Polling Model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6BF32CD-52F2-8086-1A72-E30536618E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2260601"/>
            <a:ext cx="7067550" cy="3773292"/>
          </a:xfrm>
        </p:spPr>
        <p:txBody>
          <a:bodyPr/>
          <a:lstStyle/>
          <a:p>
            <a:r>
              <a:rPr lang="en-US" noProof="0" dirty="0"/>
              <a:t>Repeated update requests</a:t>
            </a:r>
          </a:p>
          <a:p>
            <a:r>
              <a:rPr lang="en-US" dirty="0"/>
              <a:t>Continuous change checking</a:t>
            </a:r>
          </a:p>
          <a:p>
            <a:r>
              <a:rPr lang="en-US" noProof="0" dirty="0"/>
              <a:t>High overhead</a:t>
            </a:r>
          </a:p>
        </p:txBody>
      </p:sp>
    </p:spTree>
    <p:extLst>
      <p:ext uri="{BB962C8B-B14F-4D97-AF65-F5344CB8AC3E}">
        <p14:creationId xmlns:p14="http://schemas.microsoft.com/office/powerpoint/2010/main" val="3329067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48CD3-39E1-45C1-1AD0-EDA2C89AC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7EF08D-DFB8-8C46-28A7-C0D7188D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532708"/>
          </a:xfrm>
        </p:spPr>
        <p:txBody>
          <a:bodyPr>
            <a:normAutofit/>
          </a:bodyPr>
          <a:lstStyle/>
          <a:p>
            <a:r>
              <a:rPr lang="en-US" noProof="0" dirty="0"/>
              <a:t>Webhooks vs Polling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B40EEC-20C5-B2CA-895C-7A2892B6CA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2260601"/>
            <a:ext cx="7067550" cy="3773292"/>
          </a:xfrm>
        </p:spPr>
        <p:txBody>
          <a:bodyPr/>
          <a:lstStyle/>
          <a:p>
            <a:pPr lvl="0"/>
            <a:r>
              <a:rPr lang="en-US" dirty="0"/>
              <a:t>Webhooks</a:t>
            </a:r>
          </a:p>
          <a:p>
            <a:pPr lvl="1"/>
            <a:r>
              <a:rPr lang="en-US" dirty="0"/>
              <a:t>Push updates on change</a:t>
            </a:r>
          </a:p>
          <a:p>
            <a:pPr lvl="0"/>
            <a:r>
              <a:rPr lang="en-US" dirty="0"/>
              <a:t>Polling</a:t>
            </a:r>
          </a:p>
          <a:p>
            <a:pPr lvl="1"/>
            <a:r>
              <a:rPr lang="en-US" dirty="0"/>
              <a:t>Constant pull requests</a:t>
            </a:r>
          </a:p>
          <a:p>
            <a:pPr lvl="0"/>
            <a:r>
              <a:rPr lang="en-US" dirty="0"/>
              <a:t>Reduced overhead                     with webhooks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124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2926D-C3D1-C648-277E-F3CBB5FC6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4F4DCB-8CCD-9C3B-7677-02731D6B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532708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Plugins</a:t>
            </a:r>
            <a:br>
              <a:rPr lang="en-US" noProof="0" dirty="0"/>
            </a:br>
            <a:r>
              <a:rPr lang="en-US" noProof="0" dirty="0"/>
              <a:t>Extending Functionality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2344AA7-6AA4-35D6-90F1-ECFADA22BD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2260601"/>
            <a:ext cx="7067550" cy="3773292"/>
          </a:xfrm>
        </p:spPr>
        <p:txBody>
          <a:bodyPr/>
          <a:lstStyle/>
          <a:p>
            <a:pPr lvl="0"/>
            <a:r>
              <a:rPr lang="en-US" dirty="0"/>
              <a:t>Add features to tools</a:t>
            </a:r>
          </a:p>
          <a:p>
            <a:pPr lvl="0"/>
            <a:r>
              <a:rPr lang="en-US" dirty="0"/>
              <a:t>Extend base product</a:t>
            </a:r>
          </a:p>
          <a:p>
            <a:pPr lvl="0"/>
            <a:r>
              <a:rPr lang="en-US" dirty="0"/>
              <a:t>Not included by default</a:t>
            </a:r>
          </a:p>
        </p:txBody>
      </p:sp>
    </p:spTree>
    <p:extLst>
      <p:ext uri="{BB962C8B-B14F-4D97-AF65-F5344CB8AC3E}">
        <p14:creationId xmlns:p14="http://schemas.microsoft.com/office/powerpoint/2010/main" val="180246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4116-BE4F-2C12-6542-59790EEAE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CFBA6E-869C-664B-11AB-0EAA95B73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532708"/>
          </a:xfrm>
        </p:spPr>
        <p:txBody>
          <a:bodyPr>
            <a:normAutofit/>
          </a:bodyPr>
          <a:lstStyle/>
          <a:p>
            <a:r>
              <a:rPr lang="en-US" noProof="0" dirty="0"/>
              <a:t>Plugin Integration</a:t>
            </a:r>
            <a:br>
              <a:rPr lang="en-US" noProof="0" dirty="0"/>
            </a:br>
            <a:r>
              <a:rPr lang="en-US" noProof="0" dirty="0"/>
              <a:t>and Licensing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493582-844B-D05A-FCA1-3B9D9F233F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271" y="2260601"/>
            <a:ext cx="7067550" cy="3773292"/>
          </a:xfrm>
        </p:spPr>
        <p:txBody>
          <a:bodyPr/>
          <a:lstStyle/>
          <a:p>
            <a:pPr lvl="0"/>
            <a:r>
              <a:rPr lang="en-US" dirty="0"/>
              <a:t>Use APIs for interaction</a:t>
            </a:r>
          </a:p>
          <a:p>
            <a:pPr lvl="0"/>
            <a:r>
              <a:rPr lang="en-US" dirty="0"/>
              <a:t>Free or pain options</a:t>
            </a:r>
          </a:p>
          <a:p>
            <a:pPr lvl="0"/>
            <a:r>
              <a:rPr lang="en-US" dirty="0"/>
              <a:t>Separate </a:t>
            </a:r>
            <a:r>
              <a:rPr lang="en-US"/>
              <a:t>licensing possible</a:t>
            </a:r>
          </a:p>
        </p:txBody>
      </p:sp>
    </p:spTree>
    <p:extLst>
      <p:ext uri="{BB962C8B-B14F-4D97-AF65-F5344CB8AC3E}">
        <p14:creationId xmlns:p14="http://schemas.microsoft.com/office/powerpoint/2010/main" val="1405277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Automation - Scripting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04</a:t>
            </a:r>
          </a:p>
        </p:txBody>
      </p:sp>
    </p:spTree>
    <p:extLst>
      <p:ext uri="{BB962C8B-B14F-4D97-AF65-F5344CB8AC3E}">
        <p14:creationId xmlns:p14="http://schemas.microsoft.com/office/powerpoint/2010/main" val="4921590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Shell</a:t>
            </a:r>
            <a:br>
              <a:rPr lang="en-US" noProof="0" dirty="0"/>
            </a:br>
            <a:r>
              <a:rPr lang="en-US" noProof="0" dirty="0"/>
              <a:t>Scripting Overview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935685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Oldest scripting type</a:t>
            </a:r>
          </a:p>
          <a:p>
            <a:r>
              <a:rPr lang="en-US" noProof="0" dirty="0">
                <a:latin typeface="Montserrat"/>
                <a:cs typeface="Arial"/>
              </a:rPr>
              <a:t>Built into Linux and Unix</a:t>
            </a:r>
          </a:p>
          <a:p>
            <a:r>
              <a:rPr lang="en-US" noProof="0" dirty="0">
                <a:latin typeface="Montserrat"/>
                <a:cs typeface="Arial"/>
              </a:rPr>
              <a:t>Executes ordered or     conditional commands</a:t>
            </a:r>
          </a:p>
          <a:p>
            <a:r>
              <a:rPr lang="en-US" noProof="0" dirty="0">
                <a:latin typeface="Montserrat"/>
                <a:cs typeface="Arial"/>
              </a:rPr>
              <a:t>Supports branching based         on input</a:t>
            </a:r>
          </a:p>
        </p:txBody>
      </p:sp>
    </p:spTree>
    <p:extLst>
      <p:ext uri="{BB962C8B-B14F-4D97-AF65-F5344CB8AC3E}">
        <p14:creationId xmlns:p14="http://schemas.microsoft.com/office/powerpoint/2010/main" val="754681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Identifying a</a:t>
            </a:r>
            <a:br>
              <a:rPr lang="en-US" noProof="0" dirty="0"/>
            </a:br>
            <a:r>
              <a:rPr lang="en-US" noProof="0" dirty="0"/>
              <a:t>Shell Script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Begins with a shebang (#!)</a:t>
            </a:r>
          </a:p>
          <a:p>
            <a:pPr lvl="0"/>
            <a:r>
              <a:rPr lang="en-US" noProof="0" dirty="0"/>
              <a:t>Points to interpreter</a:t>
            </a:r>
          </a:p>
          <a:p>
            <a:pPr lvl="1"/>
            <a:r>
              <a:rPr lang="en-US" noProof="0" dirty="0"/>
              <a:t>Example: /bin/bash</a:t>
            </a:r>
          </a:p>
          <a:p>
            <a:pPr lvl="0"/>
            <a:r>
              <a:rPr lang="en-US" noProof="0" dirty="0"/>
              <a:t>Variables often uppercase</a:t>
            </a:r>
          </a:p>
          <a:p>
            <a:pPr lvl="0"/>
            <a:endParaRPr lang="en-US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BEA6DE-8B86-FDE6-A1E4-29D733F2D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577" y="4546163"/>
            <a:ext cx="4349524" cy="202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36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35FB9-AAD6-05A3-C9A5-A509D1580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2C704E-FA66-D48A-A996-EB24683F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Python Scripting </a:t>
            </a:r>
            <a:r>
              <a:rPr lang="en-US" noProof="0" dirty="0" err="1"/>
              <a:t>Characteristicis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27FEFF-9599-A5FC-021F-78336117FB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95103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Widely used in organizations</a:t>
            </a:r>
          </a:p>
          <a:p>
            <a:r>
              <a:rPr lang="en-US" noProof="0" dirty="0">
                <a:latin typeface="Montserrat"/>
                <a:cs typeface="Arial"/>
              </a:rPr>
              <a:t>Easy to read syntax</a:t>
            </a:r>
          </a:p>
          <a:p>
            <a:r>
              <a:rPr lang="en-US" noProof="0" dirty="0">
                <a:latin typeface="Montserrat"/>
                <a:cs typeface="Arial"/>
              </a:rPr>
              <a:t>Large library ecosystem</a:t>
            </a:r>
          </a:p>
          <a:p>
            <a:r>
              <a:rPr lang="en-US" noProof="0" dirty="0">
                <a:latin typeface="Montserrat"/>
                <a:cs typeface="Arial"/>
              </a:rPr>
              <a:t>No semicolons</a:t>
            </a:r>
          </a:p>
        </p:txBody>
      </p:sp>
    </p:spTree>
    <p:extLst>
      <p:ext uri="{BB962C8B-B14F-4D97-AF65-F5344CB8AC3E}">
        <p14:creationId xmlns:p14="http://schemas.microsoft.com/office/powerpoint/2010/main" val="24912847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5CC1D-1505-8F50-8B5C-2F19F8718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07BB1E-2DC3-9E48-04A9-7A2316E97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48753"/>
            <a:ext cx="7067238" cy="633011"/>
          </a:xfrm>
        </p:spPr>
        <p:txBody>
          <a:bodyPr/>
          <a:lstStyle/>
          <a:p>
            <a:r>
              <a:rPr lang="en-US" noProof="0" dirty="0"/>
              <a:t>Python Formatting</a:t>
            </a:r>
            <a:br>
              <a:rPr lang="en-US" noProof="0" dirty="0"/>
            </a:br>
            <a:r>
              <a:rPr lang="en-US" noProof="0" dirty="0"/>
              <a:t>and Readability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109533-A88B-34FE-FACE-BF470941A3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583" y="1951038"/>
            <a:ext cx="7067550" cy="45259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dirty="0">
                <a:latin typeface="Montserrat"/>
                <a:cs typeface="Arial"/>
              </a:rPr>
              <a:t>Uses whitespace formatting</a:t>
            </a:r>
          </a:p>
          <a:p>
            <a:r>
              <a:rPr lang="en-US" noProof="0" dirty="0">
                <a:latin typeface="Montserrat"/>
                <a:cs typeface="Arial"/>
              </a:rPr>
              <a:t>Structure based on indentation</a:t>
            </a:r>
          </a:p>
          <a:p>
            <a:r>
              <a:rPr lang="en-US" noProof="0" dirty="0">
                <a:latin typeface="Montserrat"/>
                <a:cs typeface="Arial"/>
              </a:rPr>
              <a:t>Reduces syntax errors</a:t>
            </a:r>
          </a:p>
          <a:p>
            <a:r>
              <a:rPr lang="en-US" noProof="0" dirty="0">
                <a:latin typeface="Montserrat"/>
                <a:cs typeface="Arial"/>
              </a:rPr>
              <a:t>Improves readability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A6794B-9716-81BA-697D-2E24D0372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983" y="4517392"/>
            <a:ext cx="3986317" cy="209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60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3AF79-D4C4-5117-7A78-92C03E85D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970F7B-8291-EEC5-3D15-F3AD119D5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PowerShell Overview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C0B9981-0038-C6CB-A789-5693DB7851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165076"/>
          </a:xfrm>
        </p:spPr>
        <p:txBody>
          <a:bodyPr>
            <a:normAutofit/>
          </a:bodyPr>
          <a:lstStyle/>
          <a:p>
            <a:r>
              <a:rPr lang="en-US" sz="2800" noProof="0" dirty="0">
                <a:latin typeface="Montserrat"/>
                <a:cs typeface="Arial"/>
              </a:rPr>
              <a:t>Built into Windows</a:t>
            </a:r>
          </a:p>
          <a:p>
            <a:r>
              <a:rPr lang="en-US" sz="2800" noProof="0" dirty="0">
                <a:latin typeface="Montserrat"/>
                <a:cs typeface="Arial"/>
              </a:rPr>
              <a:t>Command-line automation tool</a:t>
            </a:r>
          </a:p>
          <a:p>
            <a:r>
              <a:rPr lang="en-US" sz="2800" noProof="0" dirty="0">
                <a:latin typeface="Montserrat"/>
                <a:cs typeface="Arial"/>
              </a:rPr>
              <a:t>Similar to shell scripting</a:t>
            </a:r>
          </a:p>
          <a:p>
            <a:r>
              <a:rPr lang="en-US" sz="2800" noProof="0" dirty="0">
                <a:latin typeface="Montserrat"/>
                <a:cs typeface="Arial"/>
              </a:rPr>
              <a:t>Used for system management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17945E-1141-8D34-8DC4-927F9BF55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478" y="4432300"/>
            <a:ext cx="485062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526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55F74-3FFE-B875-FB55-D0B17B7F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B4FDAA-37D2-784A-BD86-C31AEBC3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PowerShell</a:t>
            </a:r>
            <a:br>
              <a:rPr lang="en-US" noProof="0" dirty="0"/>
            </a:br>
            <a:r>
              <a:rPr lang="en-US" noProof="0" dirty="0"/>
              <a:t>Verb-Noun Syntax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B7F88D-9DF6-57DE-0FDC-71D62DB110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0"/>
            <a:ext cx="7067550" cy="4343399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noProof="0" dirty="0"/>
              <a:t>Commands use verb-noun format</a:t>
            </a:r>
          </a:p>
          <a:p>
            <a:pPr lvl="1"/>
            <a:r>
              <a:rPr lang="en-US" noProof="0" dirty="0"/>
              <a:t>Verb</a:t>
            </a:r>
          </a:p>
          <a:p>
            <a:pPr lvl="2"/>
            <a:r>
              <a:rPr lang="en-US" noProof="0" dirty="0"/>
              <a:t>Get, add, set</a:t>
            </a:r>
          </a:p>
          <a:p>
            <a:pPr lvl="1"/>
            <a:r>
              <a:rPr lang="en-US" noProof="0" dirty="0"/>
              <a:t>Noun</a:t>
            </a:r>
          </a:p>
          <a:p>
            <a:pPr lvl="2"/>
            <a:r>
              <a:rPr lang="en-US" noProof="0" dirty="0"/>
              <a:t>User, content, group</a:t>
            </a:r>
          </a:p>
          <a:p>
            <a:pPr lvl="0"/>
            <a:r>
              <a:rPr lang="en-US" noProof="0" dirty="0"/>
              <a:t>Example commands</a:t>
            </a:r>
          </a:p>
          <a:p>
            <a:pPr lvl="1"/>
            <a:r>
              <a:rPr lang="en-US" noProof="0" dirty="0"/>
              <a:t>get-content</a:t>
            </a:r>
          </a:p>
          <a:p>
            <a:pPr lvl="1"/>
            <a:r>
              <a:rPr lang="en-US" noProof="0" dirty="0"/>
              <a:t>add-user</a:t>
            </a:r>
          </a:p>
          <a:p>
            <a:pPr lvl="0"/>
            <a:r>
              <a:rPr lang="en-US" noProof="0" dirty="0"/>
              <a:t>Identifies PowerShell scripts</a:t>
            </a:r>
          </a:p>
        </p:txBody>
      </p:sp>
    </p:spTree>
    <p:extLst>
      <p:ext uri="{BB962C8B-B14F-4D97-AF65-F5344CB8AC3E}">
        <p14:creationId xmlns:p14="http://schemas.microsoft.com/office/powerpoint/2010/main" val="36843126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Response Standards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04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7748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F72ED-E609-F260-9FBC-C25C58426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225934-CD60-5458-8D82-6C1BBF2F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Consistency in</a:t>
            </a:r>
            <a:br>
              <a:rPr lang="en-US" noProof="0" dirty="0"/>
            </a:br>
            <a:r>
              <a:rPr lang="en-US" noProof="0" dirty="0"/>
              <a:t>Incident Response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E55F0B-B62B-7D58-939D-983BEF0BD6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Consistency </a:t>
            </a:r>
            <a:r>
              <a:rPr lang="en-US" dirty="0"/>
              <a:t>ensures              secure systems</a:t>
            </a:r>
            <a:endParaRPr lang="en-US" noProof="0" dirty="0"/>
          </a:p>
          <a:p>
            <a:r>
              <a:rPr lang="en-US" noProof="0" dirty="0"/>
              <a:t>Prevents gasps in protection</a:t>
            </a:r>
            <a:endParaRPr lang="en-US" dirty="0"/>
          </a:p>
          <a:p>
            <a:r>
              <a:rPr lang="en-US" noProof="0" dirty="0"/>
              <a:t>Standardizes response          across teams</a:t>
            </a:r>
          </a:p>
          <a:p>
            <a:r>
              <a:rPr lang="en-US" dirty="0"/>
              <a:t>Ensures incidents are        handled correctly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1879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Standardized</a:t>
            </a:r>
            <a:br>
              <a:rPr lang="en-US" noProof="0" dirty="0"/>
            </a:br>
            <a:r>
              <a:rPr lang="en-US" noProof="0" dirty="0"/>
              <a:t>Response Processes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Standard process guide actions</a:t>
            </a:r>
          </a:p>
          <a:p>
            <a:r>
              <a:rPr lang="en-US" dirty="0"/>
              <a:t>Enable coordination across teams</a:t>
            </a:r>
          </a:p>
          <a:p>
            <a:r>
              <a:rPr lang="en-US" noProof="0" dirty="0"/>
              <a:t>Apply regardless of responder</a:t>
            </a:r>
          </a:p>
          <a:p>
            <a:r>
              <a:rPr lang="en-US" dirty="0"/>
              <a:t>Ensure consistent outcomes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21525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5B2F0-D677-06B9-CA45-08553E401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F5A4E1-5397-914D-48E2-F2807A38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Operating Procedures (SOPs)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490862-A832-CAA0-0934-2F02C2C7A9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Define how situations                  are handled</a:t>
            </a:r>
          </a:p>
          <a:p>
            <a:r>
              <a:rPr lang="en-US" dirty="0"/>
              <a:t>Provide structured            response steps</a:t>
            </a:r>
          </a:p>
          <a:p>
            <a:r>
              <a:rPr lang="en-US" noProof="0" dirty="0"/>
              <a:t>Support team coordination</a:t>
            </a:r>
          </a:p>
          <a:p>
            <a:r>
              <a:rPr lang="en-US" dirty="0"/>
              <a:t>Ensure consistent execution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5308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EFC74-FE19-2ECF-3A0C-086A51C7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407789-2F51-E901-B3EF-BDAC064C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Guardrails in </a:t>
            </a:r>
            <a:r>
              <a:rPr lang="en-US" noProof="0" dirty="0" err="1"/>
              <a:t>Reponse</a:t>
            </a:r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230F32-4E3B-1BF6-2227-1B3B647FB9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Guide employee actions</a:t>
            </a:r>
          </a:p>
          <a:p>
            <a:r>
              <a:rPr lang="en-US" dirty="0"/>
              <a:t>Allow flexibility in execution</a:t>
            </a:r>
          </a:p>
          <a:p>
            <a:r>
              <a:rPr lang="en-US" dirty="0"/>
              <a:t>Define boundaries for decisions</a:t>
            </a:r>
          </a:p>
          <a:p>
            <a:r>
              <a:rPr lang="en-US" dirty="0"/>
              <a:t>Balance control and autonomy</a:t>
            </a:r>
          </a:p>
        </p:txBody>
      </p:sp>
    </p:spTree>
    <p:extLst>
      <p:ext uri="{BB962C8B-B14F-4D97-AF65-F5344CB8AC3E}">
        <p14:creationId xmlns:p14="http://schemas.microsoft.com/office/powerpoint/2010/main" val="32099390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5254-8FFB-7112-C3E1-C8FBF20E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9E44EA-7060-29D3-79FD-721617743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Playbooks vs Runbooks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2F14E2-2FA8-EA7B-E546-9830B57B31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Playbooks</a:t>
            </a:r>
          </a:p>
          <a:p>
            <a:pPr lvl="1"/>
            <a:r>
              <a:rPr lang="en-US" dirty="0"/>
              <a:t>Team response procedures</a:t>
            </a:r>
          </a:p>
          <a:p>
            <a:pPr lvl="0"/>
            <a:r>
              <a:rPr lang="en-US" dirty="0"/>
              <a:t>Runbooks</a:t>
            </a:r>
          </a:p>
          <a:p>
            <a:pPr lvl="1"/>
            <a:r>
              <a:rPr lang="en-US" dirty="0"/>
              <a:t>Individual task guidance</a:t>
            </a:r>
          </a:p>
          <a:p>
            <a:pPr lvl="0"/>
            <a:r>
              <a:rPr lang="en-US" dirty="0"/>
              <a:t>Both provide                                   step-by-step actions</a:t>
            </a:r>
          </a:p>
          <a:p>
            <a:pPr lvl="0"/>
            <a:r>
              <a:rPr lang="en-US" dirty="0"/>
              <a:t>Support coordinated response</a:t>
            </a:r>
          </a:p>
        </p:txBody>
      </p:sp>
    </p:spTree>
    <p:extLst>
      <p:ext uri="{BB962C8B-B14F-4D97-AF65-F5344CB8AC3E}">
        <p14:creationId xmlns:p14="http://schemas.microsoft.com/office/powerpoint/2010/main" val="34158626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25A222-F9F2-46E3-9309-DF332776EE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027dd9-77cd-484f-b6db-8bbe1351c2b5"/>
    <ds:schemaRef ds:uri="1046e879-d081-4053-adba-52e34fa7725d"/>
    <ds:schemaRef ds:uri="13a0c8d5-cff5-4140-b58f-0947a5552a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8FFD909-429B-4107-A2B1-C958B91C177D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13a0c8d5-cff5-4140-b58f-0947a5552a6a"/>
    <ds:schemaRef ds:uri="http://schemas.microsoft.com/office/infopath/2007/PartnerControls"/>
    <ds:schemaRef ds:uri="1046e879-d081-4053-adba-52e34fa7725d"/>
    <ds:schemaRef ds:uri="http://purl.org/dc/elements/1.1/"/>
    <ds:schemaRef ds:uri="76027dd9-77cd-484f-b6db-8bbe1351c2b5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654</Words>
  <Application>Microsoft Office PowerPoint</Application>
  <PresentationFormat>Widescreen</PresentationFormat>
  <Paragraphs>165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AI Governance</vt:lpstr>
      <vt:lpstr>Why AI  Governance Matters?</vt:lpstr>
      <vt:lpstr>Legal and Compliance Considerations</vt:lpstr>
      <vt:lpstr>Documenting How AI is Used</vt:lpstr>
      <vt:lpstr>AI Usage Restrictions and Polices</vt:lpstr>
      <vt:lpstr>Sensitive Data Risks and AI Data Leakage</vt:lpstr>
      <vt:lpstr>AI Risk</vt:lpstr>
      <vt:lpstr>Risk of Using AI</vt:lpstr>
      <vt:lpstr>Common AI Risks</vt:lpstr>
      <vt:lpstr>AI Hallucinations</vt:lpstr>
      <vt:lpstr>Data Exposure Risks and AI Data Leakage</vt:lpstr>
      <vt:lpstr>Model Poisoning</vt:lpstr>
      <vt:lpstr>Malicious Prompts</vt:lpstr>
      <vt:lpstr>AI Use</vt:lpstr>
      <vt:lpstr>Common AI Use Cases</vt:lpstr>
      <vt:lpstr>Data Analysis and Log File Analysis</vt:lpstr>
      <vt:lpstr>Document Creation</vt:lpstr>
      <vt:lpstr>Incident Investigation and Event Correlation</vt:lpstr>
      <vt:lpstr>Automation and Orchestration</vt:lpstr>
      <vt:lpstr>Automation - Integration</vt:lpstr>
      <vt:lpstr>Automation and APIs</vt:lpstr>
      <vt:lpstr>AI Concept Example</vt:lpstr>
      <vt:lpstr>APIs in Modern Platforms</vt:lpstr>
      <vt:lpstr>Webhooks</vt:lpstr>
      <vt:lpstr>The Polling Model</vt:lpstr>
      <vt:lpstr>Webhooks vs Polling</vt:lpstr>
      <vt:lpstr>Plugins Extending Functionality</vt:lpstr>
      <vt:lpstr>Plugin Integration and Licensing</vt:lpstr>
      <vt:lpstr>Automation - Scripting</vt:lpstr>
      <vt:lpstr>Shell Scripting Overview</vt:lpstr>
      <vt:lpstr>Identifying a Shell Script</vt:lpstr>
      <vt:lpstr>Python Scripting Characteristicis</vt:lpstr>
      <vt:lpstr>Python Formatting and Readability</vt:lpstr>
      <vt:lpstr>PowerShell Overview</vt:lpstr>
      <vt:lpstr>PowerShell Verb-Noun Syntax</vt:lpstr>
      <vt:lpstr>Response Standards</vt:lpstr>
      <vt:lpstr>Consistency in Incident Response</vt:lpstr>
      <vt:lpstr>Standardized Response Processes </vt:lpstr>
      <vt:lpstr>Standard Operating Procedures (SOPs)</vt:lpstr>
      <vt:lpstr>Guardrails in Reponse</vt:lpstr>
      <vt:lpstr>Playbooks vs Runbooks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12</cp:revision>
  <dcterms:created xsi:type="dcterms:W3CDTF">2021-01-26T20:17:48Z</dcterms:created>
  <dcterms:modified xsi:type="dcterms:W3CDTF">2026-06-25T20:36:07Z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