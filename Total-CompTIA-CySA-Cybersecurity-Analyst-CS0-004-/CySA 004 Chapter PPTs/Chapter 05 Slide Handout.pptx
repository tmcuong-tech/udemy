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sldIdLst>
    <p:sldId id="256" r:id="rId5"/>
    <p:sldId id="395" r:id="rId6"/>
    <p:sldId id="396" r:id="rId7"/>
    <p:sldId id="397" r:id="rId8"/>
    <p:sldId id="398" r:id="rId9"/>
    <p:sldId id="399" r:id="rId10"/>
    <p:sldId id="401" r:id="rId11"/>
    <p:sldId id="400" r:id="rId12"/>
    <p:sldId id="272" r:id="rId13"/>
    <p:sldId id="385" r:id="rId14"/>
    <p:sldId id="381" r:id="rId15"/>
    <p:sldId id="382" r:id="rId16"/>
    <p:sldId id="383" r:id="rId17"/>
    <p:sldId id="384" r:id="rId18"/>
    <p:sldId id="386" r:id="rId19"/>
    <p:sldId id="387" r:id="rId20"/>
    <p:sldId id="391" r:id="rId21"/>
    <p:sldId id="392" r:id="rId22"/>
    <p:sldId id="389" r:id="rId23"/>
    <p:sldId id="390" r:id="rId24"/>
    <p:sldId id="388" r:id="rId25"/>
    <p:sldId id="39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C1260-7E40-4364-BD07-DE7E2F3E7162}">
          <p14:sldIdLst>
            <p14:sldId id="256"/>
            <p14:sldId id="395"/>
            <p14:sldId id="396"/>
            <p14:sldId id="397"/>
            <p14:sldId id="398"/>
            <p14:sldId id="399"/>
            <p14:sldId id="401"/>
            <p14:sldId id="400"/>
            <p14:sldId id="272"/>
            <p14:sldId id="385"/>
            <p14:sldId id="381"/>
            <p14:sldId id="382"/>
            <p14:sldId id="383"/>
            <p14:sldId id="384"/>
            <p14:sldId id="386"/>
            <p14:sldId id="387"/>
            <p14:sldId id="391"/>
            <p14:sldId id="392"/>
            <p14:sldId id="389"/>
            <p14:sldId id="390"/>
            <p14:sldId id="388"/>
            <p14:sldId id="3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" initials="S" lastIdx="5" clrIdx="0">
    <p:extLst>
      <p:ext uri="{19B8F6BF-5375-455C-9EA6-DF929625EA0E}">
        <p15:presenceInfo xmlns:p15="http://schemas.microsoft.com/office/powerpoint/2012/main" userId="Scott" providerId="None"/>
      </p:ext>
    </p:extLst>
  </p:cmAuthor>
  <p:cmAuthor id="2" name="Dana Barineau" initials="DB" lastIdx="1" clrIdx="1">
    <p:extLst>
      <p:ext uri="{19B8F6BF-5375-455C-9EA6-DF929625EA0E}">
        <p15:presenceInfo xmlns:p15="http://schemas.microsoft.com/office/powerpoint/2012/main" userId="Dana Barineau" providerId="None"/>
      </p:ext>
    </p:extLst>
  </p:cmAuthor>
  <p:cmAuthor id="3" name="Alden Drake" initials="AD" lastIdx="3" clrIdx="2">
    <p:extLst>
      <p:ext uri="{19B8F6BF-5375-455C-9EA6-DF929625EA0E}">
        <p15:presenceInfo xmlns:p15="http://schemas.microsoft.com/office/powerpoint/2012/main" userId="02a7e7fa871b3cfc" providerId="Windows Live"/>
      </p:ext>
    </p:extLst>
  </p:cmAuthor>
  <p:cmAuthor id="4" name="Paul Haines" initials="PH" lastIdx="9" clrIdx="3">
    <p:extLst>
      <p:ext uri="{19B8F6BF-5375-455C-9EA6-DF929625EA0E}">
        <p15:presenceInfo xmlns:p15="http://schemas.microsoft.com/office/powerpoint/2012/main" userId="Paul Haines" providerId="None"/>
      </p:ext>
    </p:extLst>
  </p:cmAuthor>
  <p:cmAuthor id="5" name="Shannon Lehmer" initials="SL" lastIdx="2" clrIdx="4">
    <p:extLst>
      <p:ext uri="{19B8F6BF-5375-455C-9EA6-DF929625EA0E}">
        <p15:presenceInfo xmlns:p15="http://schemas.microsoft.com/office/powerpoint/2012/main" userId="c588402909581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04C"/>
    <a:srgbClr val="07304C"/>
    <a:srgbClr val="DBDBD3"/>
    <a:srgbClr val="064973"/>
    <a:srgbClr val="FF0000"/>
    <a:srgbClr val="FFFF00"/>
    <a:srgbClr val="22B965"/>
    <a:srgbClr val="00AE4D"/>
    <a:srgbClr val="096AA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4"/>
    <p:restoredTop sz="81209"/>
  </p:normalViewPr>
  <p:slideViewPr>
    <p:cSldViewPr snapToGrid="0">
      <p:cViewPr varScale="1">
        <p:scale>
          <a:sx n="90" d="100"/>
          <a:sy n="90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726E1-FD36-459F-813E-F371EC296CF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66A4-E9D0-4AFA-9CA5-FF99D13E5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B-ROLL / GRAPHIC SUGGESTIONS:</a:t>
            </a:r>
          </a:p>
          <a:p>
            <a:r>
              <a:rPr lang="en-US"/>
              <a:t>- Screenshot or screen recording scrolling through the MITRE ATT&amp;CK Navigator matrix</a:t>
            </a:r>
          </a:p>
          <a:p>
            <a:r>
              <a:rPr lang="en-US"/>
              <a:t>- Graphic showing TTPs as a hierarchical tree: Tactics &gt; Techniques &gt; Procedures</a:t>
            </a:r>
          </a:p>
          <a:p>
            <a:r>
              <a:rPr lang="en-US"/>
              <a:t>- Comparison table graphic showing Kill Chain vs. Diamond Model vs. MITRE ATT&amp;CK side by side</a:t>
            </a:r>
          </a:p>
          <a:p>
            <a:r>
              <a:rPr lang="en-US"/>
              <a:t>- Closing graphic: the three framework logos/icons together with a unifying banner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036" y="3973882"/>
            <a:ext cx="9543964" cy="2418014"/>
          </a:xfrm>
        </p:spPr>
        <p:txBody>
          <a:bodyPr anchor="ctr">
            <a:normAutofit/>
          </a:bodyPr>
          <a:lstStyle>
            <a:lvl1pPr>
              <a:defRPr lang="en-US" sz="5400" kern="1200" dirty="0">
                <a:solidFill>
                  <a:srgbClr val="DBDBD3"/>
                </a:solidFill>
                <a:effectLst/>
                <a:latin typeface="Montserrat Light" panose="020F05020202040302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50725" y="1785939"/>
            <a:ext cx="10893599" cy="21572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0">
                <a:solidFill>
                  <a:srgbClr val="DBDBD3"/>
                </a:solidFill>
                <a:effectLst/>
                <a:latin typeface="Montserrat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4205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sod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47549"/>
            <a:ext cx="10528300" cy="2165227"/>
          </a:xfrm>
        </p:spPr>
        <p:txBody>
          <a:bodyPr anchor="b">
            <a:normAutofit/>
          </a:bodyPr>
          <a:lstStyle>
            <a:lvl1pPr>
              <a:defRPr lang="en-US" sz="6000" kern="1200" dirty="0">
                <a:solidFill>
                  <a:srgbClr val="DBDBD3"/>
                </a:solidFill>
                <a:effectLst/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88024" y="3926179"/>
            <a:ext cx="8572126" cy="1277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DBDBD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B1BE48-3928-45FD-AC35-DC23102077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8024" y="5273714"/>
            <a:ext cx="8621504" cy="128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rgbClr val="DBDBD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DBAD4-865A-48F1-9D57-A0A0884E5B24}"/>
              </a:ext>
            </a:extLst>
          </p:cNvPr>
          <p:cNvSpPr txBox="1"/>
          <p:nvPr userDrawn="1"/>
        </p:nvSpPr>
        <p:spPr>
          <a:xfrm>
            <a:off x="831850" y="3942015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5C9B9-B706-4569-8001-ADF6E33FC5F4}"/>
              </a:ext>
            </a:extLst>
          </p:cNvPr>
          <p:cNvSpPr txBox="1"/>
          <p:nvPr userDrawn="1"/>
        </p:nvSpPr>
        <p:spPr>
          <a:xfrm>
            <a:off x="831850" y="3926179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D5751-21D0-4756-861B-745D9EA18277}"/>
              </a:ext>
            </a:extLst>
          </p:cNvPr>
          <p:cNvSpPr txBox="1"/>
          <p:nvPr userDrawn="1"/>
        </p:nvSpPr>
        <p:spPr>
          <a:xfrm>
            <a:off x="831850" y="5280317"/>
            <a:ext cx="2027891" cy="12745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2873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One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9882"/>
            <a:ext cx="9845842" cy="1165455"/>
          </a:xfrm>
        </p:spPr>
        <p:txBody>
          <a:bodyPr/>
          <a:lstStyle>
            <a:lvl1pPr>
              <a:defRPr u="sng">
                <a:solidFill>
                  <a:srgbClr val="DBDBD3"/>
                </a:solidFill>
              </a:defRPr>
            </a:lvl1pPr>
          </a:lstStyle>
          <a:p>
            <a:r>
              <a:rPr lang="en-US"/>
              <a:t>Click To Edit One-Line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1433"/>
            <a:ext cx="10515600" cy="447074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668"/>
            <a:ext cx="9630103" cy="1325563"/>
          </a:xfrm>
        </p:spPr>
        <p:txBody>
          <a:bodyPr>
            <a:normAutofit/>
          </a:bodyPr>
          <a:lstStyle>
            <a:lvl1pPr>
              <a:defRPr sz="4200" u="sng"/>
            </a:lvl1pPr>
          </a:lstStyle>
          <a:p>
            <a:r>
              <a:rPr lang="en-US"/>
              <a:t>Click to Edit Two-Line Full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7525"/>
            <a:ext cx="10515600" cy="405112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9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One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57F8-2206-4304-B33D-58B55A3BF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83" y="548753"/>
            <a:ext cx="7067238" cy="633011"/>
          </a:xfrm>
        </p:spPr>
        <p:txBody>
          <a:bodyPr anchor="t">
            <a:noAutofit/>
          </a:bodyPr>
          <a:lstStyle>
            <a:lvl1pPr algn="l">
              <a:defRPr sz="4400" u="sng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D5B110-EBDF-7845-ABA8-800A1AB89C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133" cy="45265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2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49ED4-5ED2-92BC-C279-8DFEAD08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325563"/>
          </a:xfrm>
        </p:spPr>
        <p:txBody>
          <a:bodyPr>
            <a:normAutofit/>
          </a:bodyPr>
          <a:lstStyle>
            <a:lvl1pPr>
              <a:defRPr sz="4400" u="sng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4825-B89B-CEE8-4FA4-90A1337C0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7732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00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77335-E9FF-4113-A0BC-8AA8EE48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845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B5DD-2E34-1CED-3F24-0762D9A6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861"/>
            <a:ext cx="10515600" cy="430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70" r:id="rId7"/>
    <p:sldLayoutId id="214748367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DBDBD3"/>
          </a:solidFill>
          <a:effectLst/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4000" kern="1200">
          <a:solidFill>
            <a:srgbClr val="DBDBD3"/>
          </a:solidFill>
          <a:latin typeface="Montserrat" pitchFamily="2" charset="0"/>
          <a:ea typeface="+mn-ea"/>
          <a:cs typeface="Arial" panose="020B0604020202020204" pitchFamily="34" charset="0"/>
        </a:defRPr>
      </a:lvl1pPr>
      <a:lvl2pPr marL="746125" indent="-288925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36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SzPct val="60000"/>
        <a:buFont typeface="Montserrat" pitchFamily="2" charset="0"/>
        <a:buChar char="–"/>
        <a:defRPr sz="32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dirty="0"/>
              <a:t>Attack Frameworks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dirty="0">
                <a:latin typeface="Montserrat SemiBold"/>
                <a:cs typeface="Arial"/>
              </a:rPr>
              <a:t>Chapter 05</a:t>
            </a:r>
          </a:p>
        </p:txBody>
      </p:sp>
    </p:spTree>
    <p:extLst>
      <p:ext uri="{BB962C8B-B14F-4D97-AF65-F5344CB8AC3E}">
        <p14:creationId xmlns:p14="http://schemas.microsoft.com/office/powerpoint/2010/main" val="209058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/>
              <a:t>Attack Frameworks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Break attacks into </a:t>
            </a:r>
            <a:br>
              <a:rPr lang="en-US" dirty="0"/>
            </a:br>
            <a:r>
              <a:rPr lang="en-US" dirty="0"/>
              <a:t>recognizable phases</a:t>
            </a:r>
          </a:p>
          <a:p>
            <a:pPr lvl="1"/>
            <a:r>
              <a:rPr lang="en-US" dirty="0"/>
              <a:t>Anticipate attacker’s next moves</a:t>
            </a:r>
          </a:p>
          <a:p>
            <a:r>
              <a:rPr lang="en-US" dirty="0"/>
              <a:t>Structured lenses to </a:t>
            </a:r>
            <a:br>
              <a:rPr lang="en-US" dirty="0"/>
            </a:br>
            <a:r>
              <a:rPr lang="en-US" dirty="0"/>
              <a:t>analyze progression</a:t>
            </a:r>
          </a:p>
          <a:p>
            <a:pPr lvl="1"/>
            <a:r>
              <a:rPr lang="en-US" dirty="0"/>
              <a:t>Key topic on the CYSA+ exam</a:t>
            </a:r>
          </a:p>
        </p:txBody>
      </p:sp>
    </p:spTree>
    <p:extLst>
      <p:ext uri="{BB962C8B-B14F-4D97-AF65-F5344CB8AC3E}">
        <p14:creationId xmlns:p14="http://schemas.microsoft.com/office/powerpoint/2010/main" val="2527580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dirty="0"/>
              <a:t>Cyber Kill </a:t>
            </a:r>
            <a:br>
              <a:rPr lang="en-US" dirty="0"/>
            </a:br>
            <a:r>
              <a:rPr lang="en-US" dirty="0"/>
              <a:t>Chain Overview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1783285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7-phase model by </a:t>
            </a:r>
            <a:br>
              <a:rPr lang="en-US" dirty="0"/>
            </a:br>
            <a:r>
              <a:rPr lang="en-US" dirty="0"/>
              <a:t>Lockheed Martin</a:t>
            </a:r>
          </a:p>
          <a:p>
            <a:pPr lvl="1"/>
            <a:r>
              <a:rPr lang="en-US" dirty="0"/>
              <a:t>Recon → Weaponize → Deliver → Exploit → Install → C2 → Act</a:t>
            </a:r>
          </a:p>
          <a:p>
            <a:r>
              <a:rPr lang="en-US" dirty="0"/>
              <a:t>Maps attacker progress</a:t>
            </a:r>
            <a:br>
              <a:rPr lang="en-US" dirty="0"/>
            </a:br>
            <a:r>
              <a:rPr lang="en-US" dirty="0"/>
              <a:t> toward objectives</a:t>
            </a:r>
          </a:p>
          <a:p>
            <a:pPr lvl="1"/>
            <a:r>
              <a:rPr lang="en-US" dirty="0"/>
              <a:t>Helps defenders detect </a:t>
            </a:r>
            <a:br>
              <a:rPr lang="en-US" dirty="0"/>
            </a:br>
            <a:r>
              <a:rPr lang="en-US" dirty="0"/>
              <a:t>and disrupt</a:t>
            </a:r>
          </a:p>
        </p:txBody>
      </p:sp>
    </p:spTree>
    <p:extLst>
      <p:ext uri="{BB962C8B-B14F-4D97-AF65-F5344CB8AC3E}">
        <p14:creationId xmlns:p14="http://schemas.microsoft.com/office/powerpoint/2010/main" val="3351945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/>
              <a:t>Kill Chain: Phases 1–4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Reconnaissance: identify target and attack vectors</a:t>
            </a:r>
          </a:p>
          <a:p>
            <a:r>
              <a:rPr lang="en-US" dirty="0"/>
              <a:t>Weaponization: build payload for a known weakness</a:t>
            </a:r>
          </a:p>
          <a:p>
            <a:r>
              <a:rPr lang="en-US" dirty="0"/>
              <a:t>Delivery: transmit exploit to </a:t>
            </a:r>
            <a:br>
              <a:rPr lang="en-US" dirty="0"/>
            </a:br>
            <a:r>
              <a:rPr lang="en-US" dirty="0"/>
              <a:t>the target</a:t>
            </a:r>
          </a:p>
          <a:p>
            <a:r>
              <a:rPr lang="en-US" dirty="0"/>
              <a:t>Exploitation: execute code and begin the attack</a:t>
            </a:r>
          </a:p>
        </p:txBody>
      </p:sp>
    </p:spTree>
    <p:extLst>
      <p:ext uri="{BB962C8B-B14F-4D97-AF65-F5344CB8AC3E}">
        <p14:creationId xmlns:p14="http://schemas.microsoft.com/office/powerpoint/2010/main" val="3351945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/>
              <a:t>Kill Chain: Phases 5–7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Installation: plant backdoor </a:t>
            </a:r>
            <a:br>
              <a:rPr lang="en-US" dirty="0"/>
            </a:br>
            <a:r>
              <a:rPr lang="en-US" dirty="0"/>
              <a:t>for persistence</a:t>
            </a:r>
          </a:p>
          <a:p>
            <a:r>
              <a:rPr lang="en-US" dirty="0"/>
              <a:t>C2: remotely control the compromised system</a:t>
            </a:r>
          </a:p>
          <a:p>
            <a:r>
              <a:rPr lang="en-US" dirty="0"/>
              <a:t>Actions on Objectives: exfiltrate or destroy</a:t>
            </a:r>
          </a:p>
          <a:p>
            <a:pPr lvl="1"/>
            <a:r>
              <a:rPr lang="en-US" dirty="0"/>
              <a:t>Later phases reveal the attacker’s true intent</a:t>
            </a:r>
          </a:p>
        </p:txBody>
      </p:sp>
    </p:spTree>
    <p:extLst>
      <p:ext uri="{BB962C8B-B14F-4D97-AF65-F5344CB8AC3E}">
        <p14:creationId xmlns:p14="http://schemas.microsoft.com/office/powerpoint/2010/main" val="3351945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/>
              <a:t>Diamond Model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Maps intrusion relationships</a:t>
            </a:r>
          </a:p>
          <a:p>
            <a:pPr lvl="1"/>
            <a:r>
              <a:rPr lang="en-US" dirty="0"/>
              <a:t>Four points: Adversary, Victim, Capabilities, Infrastructure</a:t>
            </a:r>
          </a:p>
          <a:p>
            <a:r>
              <a:rPr lang="en-US" dirty="0"/>
              <a:t>Links who attacks whom </a:t>
            </a:r>
            <a:br>
              <a:rPr lang="en-US" dirty="0"/>
            </a:br>
            <a:r>
              <a:rPr lang="en-US" dirty="0"/>
              <a:t>using what</a:t>
            </a:r>
          </a:p>
          <a:p>
            <a:pPr lvl="1"/>
            <a:r>
              <a:rPr lang="en-US" dirty="0"/>
              <a:t>Shows where defenses can disrupt</a:t>
            </a:r>
          </a:p>
        </p:txBody>
      </p:sp>
    </p:spTree>
    <p:extLst>
      <p:ext uri="{BB962C8B-B14F-4D97-AF65-F5344CB8AC3E}">
        <p14:creationId xmlns:p14="http://schemas.microsoft.com/office/powerpoint/2010/main" val="2527580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0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5954" y="124174"/>
            <a:ext cx="87560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Diamond Model of Intrusion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53991" y="2021553"/>
            <a:ext cx="1920240" cy="1325880"/>
          </a:xfrm>
          <a:prstGeom prst="line">
            <a:avLst/>
          </a:prstGeom>
          <a:noFill/>
          <a:ln w="1905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H="1">
            <a:off x="5953991" y="3347433"/>
            <a:ext cx="1920240" cy="1325880"/>
          </a:xfrm>
          <a:prstGeom prst="line">
            <a:avLst/>
          </a:prstGeom>
          <a:noFill/>
          <a:ln w="1905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H="1" flipV="1">
            <a:off x="4033751" y="3347433"/>
            <a:ext cx="1920240" cy="1325880"/>
          </a:xfrm>
          <a:prstGeom prst="line">
            <a:avLst/>
          </a:prstGeom>
          <a:noFill/>
          <a:ln w="1905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4033751" y="2021553"/>
            <a:ext cx="1920240" cy="1325880"/>
          </a:xfrm>
          <a:prstGeom prst="line">
            <a:avLst/>
          </a:prstGeom>
          <a:noFill/>
          <a:ln w="1905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53991" y="2021553"/>
            <a:ext cx="0" cy="2651760"/>
          </a:xfrm>
          <a:prstGeom prst="line">
            <a:avLst/>
          </a:prstGeom>
          <a:noFill/>
          <a:ln w="12700">
            <a:solidFill>
              <a:srgbClr val="1A6A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33751" y="3347433"/>
            <a:ext cx="3840480" cy="0"/>
          </a:xfrm>
          <a:prstGeom prst="line">
            <a:avLst/>
          </a:prstGeom>
          <a:noFill/>
          <a:ln w="12700">
            <a:solidFill>
              <a:srgbClr val="1A6A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33951" y="1701513"/>
            <a:ext cx="640080" cy="640080"/>
          </a:xfrm>
          <a:prstGeom prst="ellipse">
            <a:avLst/>
          </a:prstGeom>
          <a:solidFill>
            <a:srgbClr val="2E9BD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971" y="1861533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56711" y="924273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Adversary</a:t>
            </a:r>
            <a:endParaRPr lang="en-US" sz="1400" dirty="0"/>
          </a:p>
          <a:p>
            <a:pPr marL="0" indent="0" algn="ctr">
              <a:buNone/>
            </a:pPr>
            <a:r>
              <a:rPr lang="en-US" sz="1000">
                <a:solidFill>
                  <a:srgbClr val="8BB8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Threat actor</a:t>
            </a:r>
            <a:endParaRPr lang="en-US" sz="1400" dirty="0"/>
          </a:p>
          <a:p>
            <a:pPr marL="0" indent="0" algn="ctr">
              <a:buNone/>
            </a:pPr>
            <a:r>
              <a:rPr lang="en-US" sz="1000">
                <a:solidFill>
                  <a:srgbClr val="8BB8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conducting the attack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33951" y="4353273"/>
            <a:ext cx="640080" cy="640080"/>
          </a:xfrm>
          <a:prstGeom prst="ellipse">
            <a:avLst/>
          </a:prstGeom>
          <a:solidFill>
            <a:srgbClr val="2E9BD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971" y="4513293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56711" y="5039073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Victim</a:t>
            </a:r>
            <a:endParaRPr lang="en-US" sz="1400" dirty="0"/>
          </a:p>
          <a:p>
            <a:pPr marL="0" indent="0" algn="ctr">
              <a:buNone/>
            </a:pPr>
            <a:r>
              <a:rPr lang="en-US" sz="1000">
                <a:solidFill>
                  <a:srgbClr val="8BB8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of</a:t>
            </a:r>
            <a:endParaRPr lang="en-US" sz="1400" dirty="0"/>
          </a:p>
          <a:p>
            <a:pPr marL="0" indent="0" algn="ctr">
              <a:buNone/>
            </a:pPr>
            <a:r>
              <a:rPr lang="en-US" sz="1000">
                <a:solidFill>
                  <a:srgbClr val="8BB8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intrusion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713711" y="3027393"/>
            <a:ext cx="640080" cy="640080"/>
          </a:xfrm>
          <a:prstGeom prst="ellipse">
            <a:avLst/>
          </a:prstGeom>
          <a:solidFill>
            <a:srgbClr val="2E9BD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731" y="3187413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13511" y="3027393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Capability</a:t>
            </a:r>
            <a:endParaRPr lang="en-US" sz="1400" dirty="0"/>
          </a:p>
          <a:p>
            <a:pPr marL="0" indent="0" algn="r">
              <a:buNone/>
            </a:pPr>
            <a:r>
              <a:rPr lang="en-US" sz="1000">
                <a:solidFill>
                  <a:srgbClr val="8BB8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 &amp; techniques</a:t>
            </a:r>
            <a:endParaRPr lang="en-US" sz="1400" dirty="0"/>
          </a:p>
          <a:p>
            <a:pPr marL="0" indent="0" algn="r">
              <a:buNone/>
            </a:pPr>
            <a:r>
              <a:rPr lang="en-US" sz="1000">
                <a:solidFill>
                  <a:srgbClr val="8BB8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(TTPs) used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554191" y="3027393"/>
            <a:ext cx="640080" cy="640080"/>
          </a:xfrm>
          <a:prstGeom prst="ellipse">
            <a:avLst/>
          </a:prstGeom>
          <a:solidFill>
            <a:srgbClr val="2E9BD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4211" y="3187413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54291" y="2991719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</a:t>
            </a:r>
            <a:endParaRPr lang="en-US" sz="1400" dirty="0"/>
          </a:p>
          <a:p>
            <a:pPr marL="0" indent="0" algn="l">
              <a:buNone/>
            </a:pPr>
            <a:r>
              <a:rPr lang="en-US" sz="1000">
                <a:solidFill>
                  <a:srgbClr val="8BB8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Resources enabling</a:t>
            </a:r>
            <a:endParaRPr lang="en-US" sz="1400" dirty="0"/>
          </a:p>
          <a:p>
            <a:pPr marL="0" indent="0" algn="l">
              <a:buNone/>
            </a:pPr>
            <a:r>
              <a:rPr lang="en-US" sz="1000">
                <a:solidFill>
                  <a:srgbClr val="8BB8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attack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770611" y="5724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8F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Diamond Model of Intrusion Analysis — Caltagirone, Pendergast, Betz (2013)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/>
              <a:t>MITRE ATT&amp;CK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Knowledge base of real-world adversary behavior</a:t>
            </a:r>
          </a:p>
          <a:p>
            <a:pPr lvl="1"/>
            <a:r>
              <a:rPr lang="en-US" dirty="0"/>
              <a:t>Categorizes by Tactics, </a:t>
            </a:r>
            <a:br>
              <a:rPr lang="en-US" dirty="0"/>
            </a:br>
            <a:r>
              <a:rPr lang="en-US" dirty="0"/>
              <a:t>Techniques, Procedures</a:t>
            </a:r>
          </a:p>
          <a:p>
            <a:r>
              <a:rPr lang="en-US" dirty="0"/>
              <a:t>Complements Kill Chain and Diamond Model</a:t>
            </a:r>
          </a:p>
          <a:p>
            <a:pPr lvl="1"/>
            <a:r>
              <a:rPr lang="en-US" dirty="0"/>
              <a:t>Industry standard for </a:t>
            </a:r>
            <a:br>
              <a:rPr lang="en-US" dirty="0"/>
            </a:br>
            <a:r>
              <a:rPr lang="en-US" dirty="0"/>
              <a:t>threat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527580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CE0B-A791-4CD4-B7A4-DEEF21BB9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7549"/>
            <a:ext cx="10528300" cy="2165227"/>
          </a:xfrm>
        </p:spPr>
        <p:txBody>
          <a:bodyPr/>
          <a:lstStyle/>
          <a:p>
            <a:r>
              <a:rPr lang="en-US"/>
              <a:t>Episode </a:t>
            </a:r>
            <a:r>
              <a:rPr lang="en-US" err="1"/>
              <a:t>x.xx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18F5B-7A6A-4021-9A67-A4126DA79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88024" y="3926179"/>
            <a:ext cx="8572126" cy="127768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0DACA95-822E-5AC9-B723-F8A39095D7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75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F846D2-02F7-0D34-C3DE-370613E5E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882"/>
            <a:ext cx="9845842" cy="1165455"/>
          </a:xfrm>
        </p:spPr>
        <p:txBody>
          <a:bodyPr/>
          <a:lstStyle/>
          <a:p>
            <a:r>
              <a:rPr lang="en-US"/>
              <a:t>Color Palette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B82807-283E-6F40-4152-FA6EBF4FB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433"/>
            <a:ext cx="10515600" cy="4470748"/>
          </a:xfrm>
        </p:spPr>
        <p:txBody>
          <a:bodyPr/>
          <a:lstStyle/>
          <a:p>
            <a:r>
              <a:rPr lang="en-US"/>
              <a:t>Dark blue: </a:t>
            </a:r>
          </a:p>
          <a:p>
            <a:pPr marL="1317625" lvl="1" indent="-571500"/>
            <a:r>
              <a:rPr lang="en-US"/>
              <a:t>RGB 6/48/76</a:t>
            </a:r>
          </a:p>
          <a:p>
            <a:pPr marL="1317625" lvl="1" indent="-571500"/>
            <a:r>
              <a:rPr lang="en-US"/>
              <a:t>Hex: #06304c</a:t>
            </a:r>
          </a:p>
        </p:txBody>
      </p:sp>
    </p:spTree>
    <p:extLst>
      <p:ext uri="{BB962C8B-B14F-4D97-AF65-F5344CB8AC3E}">
        <p14:creationId xmlns:p14="http://schemas.microsoft.com/office/powerpoint/2010/main" val="736870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da-DK"/>
              <a:t>One-Line Title Slide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 err="1">
                <a:latin typeface="Montserrat"/>
                <a:cs typeface="Arial"/>
              </a:rPr>
              <a:t>Lorem</a:t>
            </a:r>
            <a:r>
              <a:rPr lang="da-DK">
                <a:latin typeface="Montserrat"/>
                <a:cs typeface="Arial"/>
              </a:rPr>
              <a:t> </a:t>
            </a:r>
            <a:r>
              <a:rPr lang="da-DK" err="1">
                <a:latin typeface="Montserrat"/>
                <a:cs typeface="Arial"/>
              </a:rPr>
              <a:t>ipsum</a:t>
            </a:r>
            <a:r>
              <a:rPr lang="da-DK">
                <a:latin typeface="Montserrat"/>
                <a:cs typeface="Arial"/>
              </a:rPr>
              <a:t> </a:t>
            </a:r>
            <a:r>
              <a:rPr lang="da-DK" err="1">
                <a:latin typeface="Montserrat"/>
                <a:cs typeface="Arial"/>
              </a:rPr>
              <a:t>dolor</a:t>
            </a:r>
            <a:r>
              <a:rPr lang="da-DK">
                <a:latin typeface="Montserrat"/>
                <a:cs typeface="Arial"/>
              </a:rPr>
              <a:t> sit </a:t>
            </a:r>
            <a:r>
              <a:rPr lang="da-DK" err="1">
                <a:latin typeface="Montserrat"/>
                <a:cs typeface="Arial"/>
              </a:rPr>
              <a:t>amet</a:t>
            </a:r>
            <a:endParaRPr lang="en-US" err="1">
              <a:latin typeface="Montserrat"/>
              <a:cs typeface="Arial"/>
            </a:endParaRPr>
          </a:p>
          <a:p>
            <a:pPr lvl="1"/>
            <a:r>
              <a:rPr lang="en-US"/>
              <a:t>Bullet 1</a:t>
            </a:r>
          </a:p>
          <a:p>
            <a:pPr lvl="2"/>
            <a:r>
              <a:rPr lang="en-US"/>
              <a:t>Sub-bullet 1</a:t>
            </a:r>
          </a:p>
          <a:p>
            <a:r>
              <a:rPr lang="da-DK"/>
              <a:t>Lorem ipsum dolor sit amet</a:t>
            </a:r>
            <a:endParaRPr lang="en-US"/>
          </a:p>
          <a:p>
            <a:pPr lvl="1"/>
            <a:r>
              <a:rPr lang="en-US"/>
              <a:t>Bullet 1</a:t>
            </a:r>
          </a:p>
          <a:p>
            <a:pPr lvl="2"/>
            <a:r>
              <a:rPr lang="en-US"/>
              <a:t>Sub-bullet 1</a:t>
            </a:r>
          </a:p>
          <a:p>
            <a:pPr lvl="2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578AB1-363B-D528-A690-479F48A52712}"/>
              </a:ext>
            </a:extLst>
          </p:cNvPr>
          <p:cNvSpPr/>
          <p:nvPr/>
        </p:nvSpPr>
        <p:spPr>
          <a:xfrm>
            <a:off x="321276" y="383059"/>
            <a:ext cx="3929448" cy="273084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Two-Line Title Slide for Longer Titles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a-DK"/>
              <a:t>Lorem ipsum dolor sit amet</a:t>
            </a:r>
            <a:endParaRPr lang="en-US"/>
          </a:p>
          <a:p>
            <a:pPr lvl="1"/>
            <a:r>
              <a:rPr lang="en-US"/>
              <a:t>Bullet 1</a:t>
            </a:r>
          </a:p>
          <a:p>
            <a:pPr lvl="2"/>
            <a:r>
              <a:rPr lang="en-US"/>
              <a:t>Sub-bullet 1</a:t>
            </a:r>
          </a:p>
          <a:p>
            <a:r>
              <a:rPr lang="da-DK"/>
              <a:t>Lorem ipsum dolor sit amet</a:t>
            </a:r>
            <a:endParaRPr lang="en-US"/>
          </a:p>
          <a:p>
            <a:pPr lvl="1"/>
            <a:r>
              <a:rPr lang="en-US"/>
              <a:t>Bullet 1</a:t>
            </a:r>
          </a:p>
          <a:p>
            <a:pPr lvl="2"/>
            <a:r>
              <a:rPr lang="en-US"/>
              <a:t>Sub-bullet 1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66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6858-9ACF-EB0E-AF96-CFCF7C4E7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882"/>
            <a:ext cx="9845842" cy="1165455"/>
          </a:xfrm>
        </p:spPr>
        <p:txBody>
          <a:bodyPr>
            <a:normAutofit/>
          </a:bodyPr>
          <a:lstStyle/>
          <a:p>
            <a:r>
              <a:rPr lang="en-US" dirty="0"/>
              <a:t>Full Slide One-Line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B07F2-FFED-A11B-9D9B-24092B4CE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433"/>
            <a:ext cx="10515600" cy="4470748"/>
          </a:xfrm>
        </p:spPr>
        <p:txBody>
          <a:bodyPr/>
          <a:lstStyle/>
          <a:p>
            <a:r>
              <a:rPr lang="da-DK"/>
              <a:t>Lorem ipsum dolor sit amet</a:t>
            </a:r>
            <a:endParaRPr lang="en-US"/>
          </a:p>
          <a:p>
            <a:pPr lvl="1"/>
            <a:r>
              <a:rPr lang="en-US"/>
              <a:t>Bullet 1</a:t>
            </a:r>
          </a:p>
          <a:p>
            <a:pPr lvl="2"/>
            <a:r>
              <a:rPr lang="en-US"/>
              <a:t>Sub-bullet 1</a:t>
            </a:r>
          </a:p>
          <a:p>
            <a:r>
              <a:rPr lang="da-DK"/>
              <a:t>Lorem ipsum dolor sit amet</a:t>
            </a:r>
            <a:endParaRPr lang="en-US"/>
          </a:p>
          <a:p>
            <a:pPr lvl="1"/>
            <a:r>
              <a:rPr lang="en-US"/>
              <a:t>Bullet 1</a:t>
            </a:r>
          </a:p>
          <a:p>
            <a:pPr lvl="2"/>
            <a:r>
              <a:rPr lang="en-US"/>
              <a:t>Sub-bullet 1</a:t>
            </a:r>
          </a:p>
          <a:p>
            <a:pPr marL="914400" lvl="2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80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6858-9ACF-EB0E-AF96-CFCF7C4E7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Full Slide Two-Line Title for Slides with Longer Titles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B07F2-FFED-A11B-9D9B-24092B4CE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/>
              <a:t>Lorem ipsum dolor sit amet</a:t>
            </a:r>
            <a:endParaRPr lang="en-US"/>
          </a:p>
          <a:p>
            <a:pPr lvl="1"/>
            <a:r>
              <a:rPr lang="en-US"/>
              <a:t>Bullet 1</a:t>
            </a:r>
          </a:p>
          <a:p>
            <a:pPr lvl="2"/>
            <a:r>
              <a:rPr lang="en-US"/>
              <a:t>Sub-bullet 1</a:t>
            </a:r>
          </a:p>
          <a:p>
            <a:r>
              <a:rPr lang="da-DK"/>
              <a:t>Lorem ipsum dolor sit amet</a:t>
            </a:r>
            <a:endParaRPr lang="en-US"/>
          </a:p>
          <a:p>
            <a:pPr lvl="1"/>
            <a:r>
              <a:rPr lang="en-US"/>
              <a:t>Bullet 1</a:t>
            </a:r>
          </a:p>
          <a:p>
            <a:pPr lvl="2"/>
            <a:r>
              <a:rPr lang="en-US"/>
              <a:t>Sub-bullet 1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45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F21F9B9-242A-66E9-0CC2-A47C3E8793BB}"/>
              </a:ext>
            </a:extLst>
          </p:cNvPr>
          <p:cNvSpPr txBox="1"/>
          <p:nvPr/>
        </p:nvSpPr>
        <p:spPr>
          <a:xfrm>
            <a:off x="838200" y="3734817"/>
            <a:ext cx="2455220" cy="41563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INFRASTRUCUTRE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C53ED-10B5-6677-FBCD-14695A502B94}"/>
              </a:ext>
            </a:extLst>
          </p:cNvPr>
          <p:cNvSpPr txBox="1"/>
          <p:nvPr/>
        </p:nvSpPr>
        <p:spPr>
          <a:xfrm>
            <a:off x="5072740" y="1157519"/>
            <a:ext cx="1923803" cy="41563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ADVERSARY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F7E7377-5B92-6470-1E89-6B377A282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882"/>
            <a:ext cx="9845842" cy="116545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Montserrat SemiBold" pitchFamily="2" charset="77"/>
              </a:rPr>
              <a:t>Diamond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36776E-820D-3780-C02D-EA142546BF35}"/>
              </a:ext>
            </a:extLst>
          </p:cNvPr>
          <p:cNvSpPr txBox="1"/>
          <p:nvPr/>
        </p:nvSpPr>
        <p:spPr>
          <a:xfrm>
            <a:off x="8760239" y="3734817"/>
            <a:ext cx="1923803" cy="41563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CAPABILITY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16B0A5-DFB8-FF98-8F5E-86B8B525ED4A}"/>
              </a:ext>
            </a:extLst>
          </p:cNvPr>
          <p:cNvSpPr txBox="1"/>
          <p:nvPr/>
        </p:nvSpPr>
        <p:spPr>
          <a:xfrm>
            <a:off x="5072739" y="6333907"/>
            <a:ext cx="1923803" cy="41563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VICTIM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93949E44-2B32-D181-609C-389A82D5880D}"/>
              </a:ext>
            </a:extLst>
          </p:cNvPr>
          <p:cNvSpPr/>
          <p:nvPr/>
        </p:nvSpPr>
        <p:spPr>
          <a:xfrm>
            <a:off x="3293420" y="1573155"/>
            <a:ext cx="5482445" cy="473896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84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lection of blue icons  AI-generated content may be incorrect.">
            <a:extLst>
              <a:ext uri="{FF2B5EF4-FFF2-40B4-BE49-F238E27FC236}">
                <a16:creationId xmlns:a16="http://schemas.microsoft.com/office/drawing/2014/main" id="{C68F3046-2702-D3D8-99E8-0363DE0CE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204"/>
            <a:ext cx="12192000" cy="442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73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AB5D7-84E5-FD6F-8E29-768FC2941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et of icons on a black background  AI-generated content may be incorrect.">
            <a:extLst>
              <a:ext uri="{FF2B5EF4-FFF2-40B4-BE49-F238E27FC236}">
                <a16:creationId xmlns:a16="http://schemas.microsoft.com/office/drawing/2014/main" id="{FBB82407-23D7-812F-D98B-E364EDB0F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6363"/>
            <a:ext cx="12192000" cy="45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10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01512C-1B15-153A-5DE9-73067238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20B009-1D0B-C6FD-DF5D-F57EEEA25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9805"/>
            <a:ext cx="12192000" cy="453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19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E7145-2903-427F-8EB5-911407037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et of blue icons  AI-generated content may be incorrect.">
            <a:extLst>
              <a:ext uri="{FF2B5EF4-FFF2-40B4-BE49-F238E27FC236}">
                <a16:creationId xmlns:a16="http://schemas.microsoft.com/office/drawing/2014/main" id="{30BCEB2E-DC46-6046-F5F7-3BF8B8D76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5505"/>
            <a:ext cx="12192000" cy="453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246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90DBB-8A65-389E-31AE-089693F61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 AI-generated content may be incorrect.">
            <a:extLst>
              <a:ext uri="{FF2B5EF4-FFF2-40B4-BE49-F238E27FC236}">
                <a16:creationId xmlns:a16="http://schemas.microsoft.com/office/drawing/2014/main" id="{3F354372-9A47-E6E3-3373-C4CD50D55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9805"/>
            <a:ext cx="12192000" cy="453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4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F87F7-9F6E-0878-D2CE-F3CBE35A4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computer icons  AI-generated content may be incorrect.">
            <a:extLst>
              <a:ext uri="{FF2B5EF4-FFF2-40B4-BE49-F238E27FC236}">
                <a16:creationId xmlns:a16="http://schemas.microsoft.com/office/drawing/2014/main" id="{E5EA4DD2-541A-64EF-929A-5FC65E77C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991"/>
            <a:ext cx="12192000" cy="2036718"/>
          </a:xfrm>
          <a:prstGeom prst="rect">
            <a:avLst/>
          </a:prstGeom>
        </p:spPr>
      </p:pic>
      <p:pic>
        <p:nvPicPr>
          <p:cNvPr id="5" name="Picture 4" descr="A set of blue icons  AI-generated content may be incorrect.">
            <a:extLst>
              <a:ext uri="{FF2B5EF4-FFF2-40B4-BE49-F238E27FC236}">
                <a16:creationId xmlns:a16="http://schemas.microsoft.com/office/drawing/2014/main" id="{11852AC8-EABC-35D7-1721-06DCD692C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4709"/>
            <a:ext cx="12192000" cy="453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76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910DB8-062F-DFFD-CA32-9EF3BA5A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icons  AI-generated content may be incorrect.">
            <a:extLst>
              <a:ext uri="{FF2B5EF4-FFF2-40B4-BE49-F238E27FC236}">
                <a16:creationId xmlns:a16="http://schemas.microsoft.com/office/drawing/2014/main" id="{83DD2763-F2FF-8A93-43C2-65DC316B7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24" y="0"/>
            <a:ext cx="10972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487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76027dd9-77cd-484f-b6db-8bbe1351c2b5" xsi:nil="true"/>
    <lcf76f155ced4ddcb4097134ff3c332f xmlns="76027dd9-77cd-484f-b6db-8bbe1351c2b5">
      <Terms xmlns="http://schemas.microsoft.com/office/infopath/2007/PartnerControls"/>
    </lcf76f155ced4ddcb4097134ff3c332f>
    <TaxCatchAll xmlns="1046e879-d081-4053-adba-52e34fa7725d" xsi:nil="true"/>
  </documentManagement>
</p:properties>
</file>

<file path=customXml/itemProps1.xml><?xml version="1.0" encoding="utf-8"?>
<ds:datastoreItem xmlns:ds="http://schemas.openxmlformats.org/officeDocument/2006/customXml" ds:itemID="{56265556-9F64-45B8-80A5-20FC8B6E91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25A222-F9F2-46E3-9309-DF332776EE1C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8FFD909-429B-4107-A2B1-C958B91C177D}">
  <ds:schemaRefs>
    <ds:schemaRef ds:uri="http://purl.org/dc/dcmitype/"/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13a0c8d5-cff5-4140-b58f-0947a5552a6a"/>
    <ds:schemaRef ds:uri="http://schemas.microsoft.com/office/2006/documentManagement/types"/>
    <ds:schemaRef ds:uri="1046e879-d081-4053-adba-52e34fa7725d"/>
    <ds:schemaRef ds:uri="76027dd9-77cd-484f-b6db-8bbe1351c2b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420</Words>
  <Application>Microsoft Office PowerPoint</Application>
  <PresentationFormat>Widescreen</PresentationFormat>
  <Paragraphs>89</Paragraphs>
  <Slides>22</Slides>
  <Notes>6</Notes>
  <HiddenSlides>14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Montserrat</vt:lpstr>
      <vt:lpstr>Montserrat ExtraLight</vt:lpstr>
      <vt:lpstr>Montserrat Light</vt:lpstr>
      <vt:lpstr>Montserrat SemiBold</vt:lpstr>
      <vt:lpstr>Custom Design</vt:lpstr>
      <vt:lpstr>Attack Frameworks</vt:lpstr>
      <vt:lpstr>Attack Frameworks</vt:lpstr>
      <vt:lpstr>Cyber Kill  Chain Overview</vt:lpstr>
      <vt:lpstr>Kill Chain: Phases 1–4</vt:lpstr>
      <vt:lpstr>Kill Chain: Phases 5–7</vt:lpstr>
      <vt:lpstr>Diamond Model</vt:lpstr>
      <vt:lpstr>PowerPoint Presentation</vt:lpstr>
      <vt:lpstr>MITRE ATT&amp;CK</vt:lpstr>
      <vt:lpstr>Episode x.xx</vt:lpstr>
      <vt:lpstr>Color Palette</vt:lpstr>
      <vt:lpstr>One-Line Title Slide</vt:lpstr>
      <vt:lpstr>Two-Line Title Slide for Longer Titles</vt:lpstr>
      <vt:lpstr>Full Slide One-Line Title</vt:lpstr>
      <vt:lpstr>Full Slide Two-Line Title for Slides with Longer Titles</vt:lpstr>
      <vt:lpstr>Diamond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Account Management</dc:title>
  <dc:creator>Shannon Lehmer</dc:creator>
  <cp:lastModifiedBy>Dana Barineau</cp:lastModifiedBy>
  <cp:revision>6</cp:revision>
  <dcterms:created xsi:type="dcterms:W3CDTF">2021-01-26T20:17:48Z</dcterms:created>
  <dcterms:modified xsi:type="dcterms:W3CDTF">2026-06-25T20:43:06Z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0x010100C634B67D360B774FBA94A353DF812505</vt:lpwstr>
  </property>
  <property fmtid="{D5CDD505-2E9C-101B-9397-08002B2CF9AE}" pid="3" name="MediaServiceImageTags">
    <vt:lpwstr/>
  </property>
  <property fmtid="{D5CDD505-2E9C-101B-9397-08002B2CF9AE}" pid="4" name="Reviewed">
    <vt:bool>false</vt:bool>
  </property>
  <property fmtid="{D5CDD505-2E9C-101B-9397-08002B2CF9AE}" pid="5" name="Order">
    <vt:r8>6033200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