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" r:id="rId5"/>
    <p:sldId id="382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394" r:id="rId15"/>
    <p:sldId id="395" r:id="rId16"/>
    <p:sldId id="404" r:id="rId17"/>
    <p:sldId id="405" r:id="rId18"/>
    <p:sldId id="406" r:id="rId19"/>
    <p:sldId id="40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82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394"/>
            <p14:sldId id="395"/>
            <p14:sldId id="404"/>
            <p14:sldId id="405"/>
            <p14:sldId id="406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12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Critical Infrastructure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02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Operational Technologies (OT)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Controls physical operations</a:t>
            </a:r>
          </a:p>
          <a:p>
            <a:r>
              <a:rPr lang="en-US" dirty="0">
                <a:latin typeface="Montserrat"/>
                <a:cs typeface="Arial"/>
              </a:rPr>
              <a:t>Used in industrial environments</a:t>
            </a:r>
          </a:p>
          <a:p>
            <a:r>
              <a:rPr lang="en-US" dirty="0">
                <a:latin typeface="Montserrat"/>
                <a:cs typeface="Arial"/>
              </a:rPr>
              <a:t>Failure creates safety risks</a:t>
            </a:r>
          </a:p>
          <a:p>
            <a:r>
              <a:rPr lang="en-US" dirty="0">
                <a:latin typeface="Montserrat"/>
                <a:cs typeface="Arial"/>
              </a:rPr>
              <a:t>Supports critical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E147A-6AFE-DCD5-F56B-62AA1C53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2A6711-EAD5-A2AD-DAB8-285F4439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Industrial Control Systems (ICS)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1DBE51-4546-9C4C-9FCD-5AE2C03D54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Central to operational technology</a:t>
            </a:r>
          </a:p>
          <a:p>
            <a:r>
              <a:rPr lang="en-US" dirty="0">
                <a:latin typeface="Montserrat"/>
                <a:cs typeface="Arial"/>
              </a:rPr>
              <a:t>Manage system operations</a:t>
            </a:r>
          </a:p>
          <a:p>
            <a:r>
              <a:rPr lang="en-US" dirty="0">
                <a:latin typeface="Montserrat"/>
                <a:cs typeface="Arial"/>
              </a:rPr>
              <a:t>Used in infrastructure systems</a:t>
            </a:r>
          </a:p>
          <a:p>
            <a:r>
              <a:rPr lang="en-US" dirty="0">
                <a:latin typeface="Montserrat"/>
                <a:cs typeface="Arial"/>
              </a:rPr>
              <a:t>Control industrial processes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5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3E0C-6B7C-CBAF-BA40-96116F10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AC0798-8F34-22A5-D685-CAB5D419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ICS Safety Controls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AA35ED-F84B-6B4F-6D06-CD80DB0B4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ontserrat"/>
                <a:cs typeface="Arial"/>
              </a:rPr>
              <a:t>Prevent unsafe outputs</a:t>
            </a:r>
          </a:p>
          <a:p>
            <a:r>
              <a:rPr lang="en-US" dirty="0">
                <a:latin typeface="Montserrat"/>
                <a:cs typeface="Arial"/>
              </a:rPr>
              <a:t>Enforce system rules</a:t>
            </a:r>
            <a:endParaRPr lang="en-US" dirty="0"/>
          </a:p>
          <a:p>
            <a:pPr lvl="1"/>
            <a:r>
              <a:rPr lang="en-US" dirty="0"/>
              <a:t>Traffic lights coordination</a:t>
            </a:r>
          </a:p>
          <a:p>
            <a:pPr lvl="0"/>
            <a:r>
              <a:rPr lang="en-US" dirty="0"/>
              <a:t>Designed for safe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9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29EF-6B08-1D7D-6FFA-A42776BF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D76C79-9210-78E8-148E-B18EC4C1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ICS Automation and Data Flow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6C168D-4568-ED37-BD55-32E8085CB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Automate system operations</a:t>
            </a:r>
          </a:p>
          <a:p>
            <a:r>
              <a:rPr lang="en-US" dirty="0">
                <a:latin typeface="Montserrat"/>
                <a:cs typeface="Arial"/>
              </a:rPr>
              <a:t>Control machinery processes</a:t>
            </a:r>
          </a:p>
          <a:p>
            <a:r>
              <a:rPr lang="en-US" dirty="0">
                <a:latin typeface="Montserrat"/>
                <a:cs typeface="Arial"/>
              </a:rPr>
              <a:t>Communicate status updates</a:t>
            </a:r>
          </a:p>
          <a:p>
            <a:r>
              <a:rPr lang="en-US" dirty="0">
                <a:latin typeface="Montserrat"/>
                <a:cs typeface="Arial"/>
              </a:rPr>
              <a:t>Integrate with SCADA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8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E454-5D56-B464-77DB-51128163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C13FFB-0396-4CAF-F29A-1AD1710B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SCADA</a:t>
            </a:r>
            <a:br>
              <a:rPr lang="en-US" noProof="0" dirty="0"/>
            </a:br>
            <a:r>
              <a:rPr lang="en-US" noProof="0" dirty="0"/>
              <a:t>Systems Overview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F68C267-847E-3450-5D9E-82930E6A95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Supervisory Control and          Data Acquisition</a:t>
            </a:r>
          </a:p>
          <a:p>
            <a:r>
              <a:rPr lang="en-US" dirty="0">
                <a:latin typeface="Montserrat"/>
                <a:cs typeface="Arial"/>
              </a:rPr>
              <a:t>Monitor system activity</a:t>
            </a:r>
          </a:p>
          <a:p>
            <a:r>
              <a:rPr lang="en-US" dirty="0">
                <a:latin typeface="Montserrat"/>
                <a:cs typeface="Arial"/>
              </a:rPr>
              <a:t>Provide operational visibility</a:t>
            </a:r>
          </a:p>
          <a:p>
            <a:r>
              <a:rPr lang="en-US" dirty="0">
                <a:latin typeface="Montserrat"/>
                <a:cs typeface="Arial"/>
              </a:rPr>
              <a:t>Track system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24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2825-A82E-BE0C-7B60-62D73832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E20789-6D0A-11F8-B9CF-57052AF7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SCADA</a:t>
            </a:r>
            <a:br>
              <a:rPr lang="en-US" noProof="0" dirty="0"/>
            </a:br>
            <a:r>
              <a:rPr lang="en-US" dirty="0"/>
              <a:t>Security Importance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6FD64A-15E6-A276-B43A-0D65880A3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Control critical infrastructure</a:t>
            </a:r>
          </a:p>
          <a:p>
            <a:r>
              <a:rPr lang="en-US" dirty="0">
                <a:latin typeface="Montserrat"/>
                <a:cs typeface="Arial"/>
              </a:rPr>
              <a:t>Must limit external access</a:t>
            </a:r>
          </a:p>
          <a:p>
            <a:r>
              <a:rPr lang="en-US" dirty="0">
                <a:latin typeface="Montserrat"/>
                <a:cs typeface="Arial"/>
              </a:rPr>
              <a:t>Require strong protections</a:t>
            </a:r>
          </a:p>
          <a:p>
            <a:r>
              <a:rPr lang="en-US" dirty="0">
                <a:latin typeface="Montserrat"/>
                <a:cs typeface="Arial"/>
              </a:rPr>
              <a:t>Prevent system compromise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774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1153-9877-0A51-F44D-2174587B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58058-62A2-6458-7413-E68E5C6E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Stuxnet</a:t>
            </a:r>
            <a:br>
              <a:rPr lang="en-US" noProof="0" dirty="0"/>
            </a:br>
            <a:r>
              <a:rPr lang="en-US" noProof="0" dirty="0"/>
              <a:t>Attack Example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0283AD-B623-44E5-E641-D7826F14FD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Targeted ICS and SCADA systems</a:t>
            </a:r>
          </a:p>
          <a:p>
            <a:r>
              <a:rPr lang="en-US" dirty="0">
                <a:latin typeface="Montserrat"/>
                <a:cs typeface="Arial"/>
              </a:rPr>
              <a:t>Affected nuclear infrastructure</a:t>
            </a:r>
          </a:p>
          <a:p>
            <a:r>
              <a:rPr lang="en-US" dirty="0">
                <a:latin typeface="Montserrat"/>
                <a:cs typeface="Arial"/>
              </a:rPr>
              <a:t>Spread despite isolation</a:t>
            </a:r>
          </a:p>
          <a:p>
            <a:r>
              <a:rPr lang="en-US" dirty="0">
                <a:latin typeface="Montserrat"/>
                <a:cs typeface="Arial"/>
              </a:rPr>
              <a:t>Demonstrates real-world threat</a:t>
            </a:r>
          </a:p>
        </p:txBody>
      </p:sp>
    </p:spTree>
    <p:extLst>
      <p:ext uri="{BB962C8B-B14F-4D97-AF65-F5344CB8AC3E}">
        <p14:creationId xmlns:p14="http://schemas.microsoft.com/office/powerpoint/2010/main" val="28559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7C9D-A842-523C-0AD9-5A7459DE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1E63D1-4A3C-0EA9-B713-A6E92FD2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Critical Infrastructure Management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1234D8-F151-2237-23BA-AEC1484000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Montserrat"/>
                <a:cs typeface="Arial"/>
              </a:rPr>
              <a:t>Systems must remain operational</a:t>
            </a:r>
          </a:p>
          <a:p>
            <a:r>
              <a:rPr lang="en-US" dirty="0">
                <a:latin typeface="Montserrat"/>
                <a:cs typeface="Arial"/>
              </a:rPr>
              <a:t>Require strong protections</a:t>
            </a:r>
          </a:p>
          <a:p>
            <a:r>
              <a:rPr lang="en-US" dirty="0">
                <a:latin typeface="Montserrat"/>
                <a:cs typeface="Arial"/>
              </a:rPr>
              <a:t>Support essential services</a:t>
            </a:r>
          </a:p>
          <a:p>
            <a:r>
              <a:rPr lang="en-US" dirty="0">
                <a:latin typeface="Montserrat"/>
                <a:cs typeface="Arial"/>
              </a:rPr>
              <a:t>Demand 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3848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/>
              <a:t>Types of Systems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02</a:t>
            </a:r>
          </a:p>
        </p:txBody>
      </p:sp>
    </p:spTree>
    <p:extLst>
      <p:ext uri="{BB962C8B-B14F-4D97-AF65-F5344CB8AC3E}">
        <p14:creationId xmlns:p14="http://schemas.microsoft.com/office/powerpoint/2010/main" val="65888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Virtualization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>
                <a:latin typeface="Montserrat"/>
                <a:cs typeface="Arial"/>
              </a:rPr>
              <a:t>Multiple VMs on one machine, managed by a hypervisor</a:t>
            </a:r>
          </a:p>
          <a:p>
            <a:pPr lvl="1"/>
            <a:r>
              <a:rPr lang="en-US" noProof="0"/>
              <a:t>Type 1: hypervisor IS the OS — minimal overhead (e.g., Hyper-V)</a:t>
            </a:r>
          </a:p>
          <a:p>
            <a:pPr lvl="1"/>
            <a:r>
              <a:rPr lang="en-US" noProof="0"/>
              <a:t>Type 2: runs atop a host OS — more overhead (e.g., VMware)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 err="1"/>
              <a:t>IaC</a:t>
            </a:r>
            <a:r>
              <a:rPr lang="en-US" noProof="0" dirty="0"/>
              <a:t> and Containerization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783285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Virtualized network devices managed through code, paired with SOAR</a:t>
            </a:r>
          </a:p>
          <a:p>
            <a:r>
              <a:rPr lang="en-US" noProof="0" dirty="0">
                <a:latin typeface="Montserrat"/>
                <a:cs typeface="Arial"/>
              </a:rPr>
              <a:t>Containerized apps run in isolation — easily relaunched if they crash</a:t>
            </a:r>
          </a:p>
        </p:txBody>
      </p:sp>
    </p:spTree>
    <p:extLst>
      <p:ext uri="{BB962C8B-B14F-4D97-AF65-F5344CB8AC3E}">
        <p14:creationId xmlns:p14="http://schemas.microsoft.com/office/powerpoint/2010/main" val="3872072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Cloud Service Models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SaaS: provider manages everything — you just use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the software</a:t>
            </a:r>
          </a:p>
          <a:p>
            <a:r>
              <a:rPr lang="en-US" noProof="0" dirty="0">
                <a:latin typeface="Montserrat"/>
                <a:cs typeface="Arial"/>
              </a:rPr>
              <a:t>PaaS: provider gives you a platform to build on</a:t>
            </a:r>
          </a:p>
          <a:p>
            <a:r>
              <a:rPr lang="en-US" noProof="0" dirty="0">
                <a:latin typeface="Montserrat"/>
                <a:cs typeface="Arial"/>
              </a:rPr>
              <a:t>IaaS: hardware only — think of it as Hardware as a Service</a:t>
            </a:r>
          </a:p>
        </p:txBody>
      </p:sp>
    </p:spTree>
    <p:extLst>
      <p:ext uri="{BB962C8B-B14F-4D97-AF65-F5344CB8AC3E}">
        <p14:creationId xmlns:p14="http://schemas.microsoft.com/office/powerpoint/2010/main" val="2678535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Hybrid Cloud and MDM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Hybrid cloud blends cloud flexibility with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on-premises control</a:t>
            </a:r>
          </a:p>
          <a:p>
            <a:r>
              <a:rPr lang="en-US" noProof="0" dirty="0">
                <a:latin typeface="Montserrat"/>
                <a:cs typeface="Arial"/>
              </a:rPr>
              <a:t>MDM software monitors, secures, and manages mobile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device fleets</a:t>
            </a:r>
          </a:p>
          <a:p>
            <a:pPr lvl="1"/>
            <a:r>
              <a:rPr lang="en-US" noProof="0" dirty="0"/>
              <a:t>Enforces PINs, restricts cameras, limits unapproved apps</a:t>
            </a:r>
          </a:p>
        </p:txBody>
      </p:sp>
    </p:spTree>
    <p:extLst>
      <p:ext uri="{BB962C8B-B14F-4D97-AF65-F5344CB8AC3E}">
        <p14:creationId xmlns:p14="http://schemas.microsoft.com/office/powerpoint/2010/main" val="327301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EDR and Zero Trust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EDR monitors endpoints and protects devices on or off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the network</a:t>
            </a:r>
          </a:p>
          <a:p>
            <a:r>
              <a:rPr lang="en-US" noProof="0" dirty="0">
                <a:latin typeface="Montserrat"/>
                <a:cs typeface="Arial"/>
              </a:rPr>
              <a:t>Zero trust: never trust, always verify — temporary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tickets required</a:t>
            </a:r>
          </a:p>
          <a:p>
            <a:pPr lvl="1"/>
            <a:r>
              <a:rPr lang="en-US" noProof="0" dirty="0"/>
              <a:t>No ticket, no connection — like a hall pass in school</a:t>
            </a:r>
          </a:p>
        </p:txBody>
      </p:sp>
    </p:spTree>
    <p:extLst>
      <p:ext uri="{BB962C8B-B14F-4D97-AF65-F5344CB8AC3E}">
        <p14:creationId xmlns:p14="http://schemas.microsoft.com/office/powerpoint/2010/main" val="2688767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SASE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SASE combines SD-WAN, zero trust, and security tools in one cloud suite</a:t>
            </a:r>
          </a:p>
          <a:p>
            <a:r>
              <a:rPr lang="en-US" noProof="0" dirty="0">
                <a:latin typeface="Montserrat"/>
                <a:cs typeface="Arial"/>
              </a:rPr>
              <a:t>Security Service Edge handles access, monitoring, </a:t>
            </a:r>
            <a:br>
              <a:rPr lang="en-US" noProof="0" dirty="0">
                <a:latin typeface="Montserrat"/>
                <a:cs typeface="Arial"/>
              </a:rPr>
            </a:br>
            <a:r>
              <a:rPr lang="en-US" noProof="0" dirty="0">
                <a:latin typeface="Montserrat"/>
                <a:cs typeface="Arial"/>
              </a:rPr>
              <a:t>and protection</a:t>
            </a:r>
          </a:p>
        </p:txBody>
      </p:sp>
    </p:spTree>
    <p:extLst>
      <p:ext uri="{BB962C8B-B14F-4D97-AF65-F5344CB8AC3E}">
        <p14:creationId xmlns:p14="http://schemas.microsoft.com/office/powerpoint/2010/main" val="20479491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FFD909-429B-4107-A2B1-C958B91C177D}">
  <ds:schemaRefs>
    <ds:schemaRef ds:uri="1046e879-d081-4053-adba-52e34fa7725d"/>
    <ds:schemaRef ds:uri="http://purl.org/dc/terms/"/>
    <ds:schemaRef ds:uri="http://purl.org/dc/elements/1.1/"/>
    <ds:schemaRef ds:uri="http://schemas.microsoft.com/office/2006/metadata/properties"/>
    <ds:schemaRef ds:uri="76027dd9-77cd-484f-b6db-8bbe1351c2b5"/>
    <ds:schemaRef ds:uri="http://schemas.microsoft.com/office/2006/documentManagement/types"/>
    <ds:schemaRef ds:uri="http://www.w3.org/XML/1998/namespace"/>
    <ds:schemaRef ds:uri="13a0c8d5-cff5-4140-b58f-0947a5552a6a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360</Words>
  <Application>Microsoft Office PowerPoint</Application>
  <PresentationFormat>Widescreen</PresentationFormat>
  <Paragraphs>66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Critical Infrastructure</vt:lpstr>
      <vt:lpstr>Operational Technologies (OT)</vt:lpstr>
      <vt:lpstr>Industrial Control Systems (ICS)</vt:lpstr>
      <vt:lpstr>ICS Safety Controls</vt:lpstr>
      <vt:lpstr>ICS Automation and Data Flow</vt:lpstr>
      <vt:lpstr>SCADA Systems Overview</vt:lpstr>
      <vt:lpstr>SCADA Security Importance</vt:lpstr>
      <vt:lpstr>Stuxnet Attack Example</vt:lpstr>
      <vt:lpstr>Critical Infrastructure Management</vt:lpstr>
      <vt:lpstr>Types of Systems</vt:lpstr>
      <vt:lpstr>Virtualization</vt:lpstr>
      <vt:lpstr>IaC and Containerization</vt:lpstr>
      <vt:lpstr>Cloud Service Models</vt:lpstr>
      <vt:lpstr>Hybrid Cloud and MDM</vt:lpstr>
      <vt:lpstr>EDR and Zero Trust</vt:lpstr>
      <vt:lpstr>SASE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10</cp:revision>
  <dcterms:created xsi:type="dcterms:W3CDTF">2021-01-26T20:17:48Z</dcterms:created>
  <dcterms:modified xsi:type="dcterms:W3CDTF">2026-06-25T19:56:13Z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