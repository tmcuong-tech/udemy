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256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382" r:id="rId23"/>
    <p:sldId id="402" r:id="rId24"/>
    <p:sldId id="403" r:id="rId25"/>
    <p:sldId id="404" r:id="rId26"/>
    <p:sldId id="4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256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382"/>
            <p14:sldId id="402"/>
            <p14:sldId id="403"/>
            <p14:sldId id="404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02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Logging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01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11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7289-7041-0CD2-601A-23F804B2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155AE9-9161-D3C5-E5A7-0FC7BEF6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 Ingestion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8D4C39-8DE9-C19A-D4A2-3EA9FA2130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Process of collecting logs</a:t>
            </a:r>
          </a:p>
          <a:p>
            <a:r>
              <a:rPr lang="en-US" dirty="0"/>
              <a:t>Gather data from                multiple systems</a:t>
            </a:r>
          </a:p>
          <a:p>
            <a:r>
              <a:rPr lang="en-US" noProof="0" dirty="0"/>
              <a:t>Centralize log information</a:t>
            </a:r>
          </a:p>
          <a:p>
            <a:r>
              <a:rPr lang="en-US" dirty="0"/>
              <a:t>Supports analysis workflows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25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4CBB-8DD4-F5F1-91F5-07330692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154D59-2EE9-B8EE-D543-B260D1A9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 Format Variability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599614-D75A-7D1A-5651-96DD20FE73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Formats differ across systems</a:t>
            </a:r>
          </a:p>
          <a:p>
            <a:r>
              <a:rPr lang="en-US" dirty="0"/>
              <a:t>Fields vary in number and order</a:t>
            </a:r>
          </a:p>
          <a:p>
            <a:r>
              <a:rPr lang="en-US" noProof="0" dirty="0"/>
              <a:t>Date formats are inconsistent</a:t>
            </a:r>
          </a:p>
          <a:p>
            <a:r>
              <a:rPr lang="en-US" dirty="0"/>
              <a:t>Complicates data processing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77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CE60-3434-0891-9D8A-B7B9D9AA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61E94-731D-1F06-28A6-B8E5C803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 Type Differences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8571D53-955F-FFD3-3F1A-784CFAADE8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Different log categories exist</a:t>
            </a:r>
          </a:p>
          <a:p>
            <a:r>
              <a:rPr lang="en-US" dirty="0"/>
              <a:t>Data included varies by system</a:t>
            </a:r>
          </a:p>
          <a:p>
            <a:r>
              <a:rPr lang="en-US" noProof="0" dirty="0"/>
              <a:t>Operating systems differ</a:t>
            </a:r>
          </a:p>
          <a:p>
            <a:r>
              <a:rPr lang="en-US" dirty="0"/>
              <a:t>Device types influence content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206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EF42-79DE-AB1A-7D17-2FE9E36C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572351-055C-552C-B9FF-D71D084C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Securing Log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6B929E-B7E9-88D6-0EB4-051DE6DF17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Logs must be protected</a:t>
            </a:r>
          </a:p>
          <a:p>
            <a:r>
              <a:rPr lang="en-US" dirty="0"/>
              <a:t>Prevent unauthorized changes</a:t>
            </a:r>
          </a:p>
          <a:p>
            <a:r>
              <a:rPr lang="en-US" noProof="0" dirty="0"/>
              <a:t>Preserve data integrity</a:t>
            </a:r>
          </a:p>
          <a:p>
            <a:r>
              <a:rPr lang="en-US" dirty="0"/>
              <a:t>Safeguard sensitive information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661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10A95-8729-B1EC-7A78-075BD213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68FF1-FE8C-F0D7-EDC0-40993963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Integrity</a:t>
            </a:r>
            <a:br>
              <a:rPr lang="en-US" noProof="0" dirty="0"/>
            </a:br>
            <a:r>
              <a:rPr lang="en-US" noProof="0" dirty="0"/>
              <a:t>and Encryption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7D3163-9417-6257-7BC1-63F2816C0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Use hashing for integrity</a:t>
            </a:r>
          </a:p>
          <a:p>
            <a:r>
              <a:rPr lang="en-US" dirty="0"/>
              <a:t>Detect log tampering</a:t>
            </a:r>
          </a:p>
          <a:p>
            <a:r>
              <a:rPr lang="en-US" noProof="0" dirty="0"/>
              <a:t>Apply encryption for protection</a:t>
            </a:r>
          </a:p>
          <a:p>
            <a:r>
              <a:rPr lang="en-US" dirty="0"/>
              <a:t>Secure stored data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757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2F6F-0467-FCF4-F099-44DD18EC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01042-B004-D067-614E-F61BB17F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 Synchronization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4CFDC5-B80E-7683-4DAE-56062A0E8D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Logs must align in time</a:t>
            </a:r>
          </a:p>
          <a:p>
            <a:r>
              <a:rPr lang="en-US" dirty="0"/>
              <a:t>Ensure consistent timestamps</a:t>
            </a:r>
          </a:p>
          <a:p>
            <a:r>
              <a:rPr lang="en-US" noProof="0" dirty="0"/>
              <a:t>Critical for correlation</a:t>
            </a:r>
          </a:p>
          <a:p>
            <a:r>
              <a:rPr lang="en-US" dirty="0"/>
              <a:t>Supports accurate analysis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473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5E17-D3AF-42EB-27A8-7358650C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01D10-B13E-93E8-BFBB-9D422F70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NTP and Time Servers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FCEC68-4F7E-E436-6358-658EE96B72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Use NTP for synchronization</a:t>
            </a:r>
          </a:p>
          <a:p>
            <a:r>
              <a:rPr lang="en-US" dirty="0"/>
              <a:t>Central time sources</a:t>
            </a:r>
          </a:p>
          <a:p>
            <a:r>
              <a:rPr lang="en-US" noProof="0" dirty="0"/>
              <a:t>Keep systems aligned</a:t>
            </a:r>
          </a:p>
          <a:p>
            <a:r>
              <a:rPr lang="en-US" dirty="0"/>
              <a:t>Prevent time discrepancies</a:t>
            </a:r>
          </a:p>
        </p:txBody>
      </p:sp>
    </p:spTree>
    <p:extLst>
      <p:ext uri="{BB962C8B-B14F-4D97-AF65-F5344CB8AC3E}">
        <p14:creationId xmlns:p14="http://schemas.microsoft.com/office/powerpoint/2010/main" val="42871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4FAC-7BE0-F949-FEF8-92E4B28C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373998-B23A-6263-1061-17C9E687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Retention Considerations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8B675D-5B75-EDB2-F9D8-5E9FEE4127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Storage is limited resource</a:t>
            </a:r>
          </a:p>
          <a:p>
            <a:r>
              <a:rPr lang="en-US" dirty="0"/>
              <a:t>Requires defined policies</a:t>
            </a:r>
          </a:p>
          <a:p>
            <a:r>
              <a:rPr lang="en-US" dirty="0"/>
              <a:t>Determine retention period</a:t>
            </a:r>
          </a:p>
          <a:p>
            <a:r>
              <a:rPr lang="en-US" dirty="0"/>
              <a:t>Manage </a:t>
            </a:r>
            <a:r>
              <a:rPr lang="en-US"/>
              <a:t>long-term data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dirty="0"/>
              <a:t>Basic Terms and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dirty="0">
                <a:latin typeface="Montserrat SemiBold"/>
                <a:cs typeface="Arial"/>
              </a:rPr>
              <a:t>Chapter 01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The CIA Triad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Foundation of cybersecurity</a:t>
            </a:r>
          </a:p>
          <a:p>
            <a:pPr lvl="1"/>
            <a:r>
              <a:rPr lang="en-US"/>
              <a:t>Confidentiality – Protect secrets</a:t>
            </a:r>
          </a:p>
          <a:p>
            <a:pPr lvl="1"/>
            <a:r>
              <a:rPr lang="en-US"/>
              <a:t>Integrity – Data stays unchanged</a:t>
            </a:r>
          </a:p>
          <a:p>
            <a:pPr lvl="1"/>
            <a:r>
              <a:rPr lang="en-US"/>
              <a:t>Availability – Access when needed</a:t>
            </a:r>
          </a:p>
        </p:txBody>
      </p:sp>
    </p:spTree>
    <p:extLst>
      <p:ext uri="{BB962C8B-B14F-4D97-AF65-F5344CB8AC3E}">
        <p14:creationId xmlns:p14="http://schemas.microsoft.com/office/powerpoint/2010/main" val="2527580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Triple A (AAA)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Three pillars of access control</a:t>
            </a:r>
          </a:p>
          <a:p>
            <a:pPr lvl="1"/>
            <a:r>
              <a:rPr lang="en-US"/>
              <a:t>Authentication – Prove identity</a:t>
            </a:r>
          </a:p>
          <a:p>
            <a:pPr lvl="1"/>
            <a:r>
              <a:rPr lang="en-US"/>
              <a:t>Authorization – Access what’s allowed</a:t>
            </a:r>
          </a:p>
          <a:p>
            <a:pPr lvl="1"/>
            <a:r>
              <a:rPr lang="en-US"/>
              <a:t>Accounting – Track all activity</a:t>
            </a:r>
          </a:p>
        </p:txBody>
      </p:sp>
    </p:spTree>
    <p:extLst>
      <p:ext uri="{BB962C8B-B14F-4D97-AF65-F5344CB8AC3E}">
        <p14:creationId xmlns:p14="http://schemas.microsoft.com/office/powerpoint/2010/main" val="252758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1583" y="348753"/>
            <a:ext cx="7067238" cy="1033011"/>
          </a:xfrm>
        </p:spPr>
        <p:txBody>
          <a:bodyPr>
            <a:normAutofit fontScale="90000"/>
          </a:bodyPr>
          <a:lstStyle/>
          <a:p>
            <a:r>
              <a:rPr lang="en-US" dirty="0"/>
              <a:t>Vulnerabilities, Threats, and Risk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11688" y="1573188"/>
            <a:ext cx="7067550" cy="43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Distinct terms, </a:t>
            </a:r>
            <a:br>
              <a:rPr lang="en-US" b="1" dirty="0"/>
            </a:br>
            <a:r>
              <a:rPr lang="en-US" b="1" dirty="0"/>
              <a:t>specific meanings</a:t>
            </a:r>
          </a:p>
          <a:p>
            <a:pPr lvl="1"/>
            <a:r>
              <a:rPr lang="en-US" dirty="0"/>
              <a:t>Vulnerability – System weakness</a:t>
            </a:r>
          </a:p>
          <a:p>
            <a:pPr lvl="1"/>
            <a:r>
              <a:rPr lang="en-US" dirty="0"/>
              <a:t>Threat – Weakness plus actor</a:t>
            </a:r>
          </a:p>
          <a:p>
            <a:pPr lvl="1"/>
            <a:r>
              <a:rPr lang="en-US" dirty="0"/>
              <a:t>Risk – Likelihood meets impact</a:t>
            </a:r>
          </a:p>
        </p:txBody>
      </p:sp>
    </p:spTree>
    <p:extLst>
      <p:ext uri="{BB962C8B-B14F-4D97-AF65-F5344CB8AC3E}">
        <p14:creationId xmlns:p14="http://schemas.microsoft.com/office/powerpoint/2010/main" val="252758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Malware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“Malicious” + “Software”</a:t>
            </a:r>
          </a:p>
          <a:p>
            <a:pPr lvl="1"/>
            <a:r>
              <a:rPr lang="en-US"/>
              <a:t>Software with harmful intent</a:t>
            </a:r>
          </a:p>
          <a:p>
            <a:pPr lvl="1"/>
            <a:r>
              <a:rPr lang="en-US"/>
              <a:t>Viruses, worms, trojans, etc.</a:t>
            </a:r>
          </a:p>
          <a:p>
            <a:pPr lvl="1"/>
            <a:r>
              <a:rPr lang="en-US"/>
              <a:t>If malicious – it’s malware</a:t>
            </a:r>
          </a:p>
        </p:txBody>
      </p:sp>
    </p:spTree>
    <p:extLst>
      <p:ext uri="{BB962C8B-B14F-4D97-AF65-F5344CB8AC3E}">
        <p14:creationId xmlns:p14="http://schemas.microsoft.com/office/powerpoint/2010/main" val="252758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/>
              <a:t>Zero Day Attacks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Known only to the attacker</a:t>
            </a:r>
          </a:p>
          <a:p>
            <a:pPr lvl="1"/>
            <a:r>
              <a:rPr lang="en-US"/>
              <a:t>Undisclosed vulnerability</a:t>
            </a:r>
          </a:p>
          <a:p>
            <a:pPr lvl="1"/>
            <a:r>
              <a:rPr lang="en-US"/>
              <a:t>No patches available</a:t>
            </a:r>
          </a:p>
          <a:p>
            <a:pPr lvl="1"/>
            <a:r>
              <a:rPr lang="en-US"/>
              <a:t>Extremely dangerous exploits</a:t>
            </a:r>
          </a:p>
        </p:txBody>
      </p:sp>
    </p:spTree>
    <p:extLst>
      <p:ext uri="{BB962C8B-B14F-4D97-AF65-F5344CB8AC3E}">
        <p14:creationId xmlns:p14="http://schemas.microsoft.com/office/powerpoint/2010/main" val="2527580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File Formats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01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64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C3A6-EBAA-2155-AF85-09855B83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57B0EB-FA93-81F4-7358-5FE9B454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Formats Overview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72C59D-DBAC-AD77-8C2A-C0A17F479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Many file formats exist</a:t>
            </a:r>
          </a:p>
          <a:p>
            <a:r>
              <a:rPr lang="en-US" dirty="0"/>
              <a:t>Four Key types for exam</a:t>
            </a:r>
          </a:p>
          <a:p>
            <a:r>
              <a:rPr lang="en-US" dirty="0"/>
              <a:t>XML, JSON, YAML, and EVTX</a:t>
            </a:r>
          </a:p>
          <a:p>
            <a:r>
              <a:rPr lang="en-US" noProof="0" dirty="0"/>
              <a:t>Used in cybersecurity data</a:t>
            </a:r>
          </a:p>
        </p:txBody>
      </p:sp>
    </p:spTree>
    <p:extLst>
      <p:ext uri="{BB962C8B-B14F-4D97-AF65-F5344CB8AC3E}">
        <p14:creationId xmlns:p14="http://schemas.microsoft.com/office/powerpoint/2010/main" val="205513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14F5-8DB5-7CEA-4A78-62FE3AD9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33283-7C80-F085-D5F2-5318E57D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Structure and Characteristics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286982-915D-F777-DCF2-5DCE5BFA62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859534"/>
            <a:ext cx="7067550" cy="3773292"/>
          </a:xfrm>
        </p:spPr>
        <p:txBody>
          <a:bodyPr/>
          <a:lstStyle/>
          <a:p>
            <a:r>
              <a:rPr lang="en-US" noProof="0" dirty="0"/>
              <a:t>Extensible Markup          Language (XML)</a:t>
            </a:r>
          </a:p>
          <a:p>
            <a:r>
              <a:rPr lang="en-US" dirty="0"/>
              <a:t>Based on HTML Structure</a:t>
            </a:r>
          </a:p>
          <a:p>
            <a:r>
              <a:rPr lang="en-US" dirty="0"/>
              <a:t>Uses opening and closing tags</a:t>
            </a:r>
          </a:p>
          <a:p>
            <a:r>
              <a:rPr lang="en-US" dirty="0"/>
              <a:t>Fields must match tag names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4A7A7-9F65-B8C0-83E7-F781C23C1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628" y="4906556"/>
            <a:ext cx="4505564" cy="172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8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Limitations</a:t>
            </a:r>
            <a:br>
              <a:rPr lang="en-US" noProof="0" dirty="0"/>
            </a:br>
            <a:r>
              <a:rPr lang="en-US" noProof="0" dirty="0"/>
              <a:t>and Usage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Highly verbose format</a:t>
            </a:r>
          </a:p>
          <a:p>
            <a:r>
              <a:rPr lang="en-US" noProof="0" dirty="0"/>
              <a:t>Can be cumbersome to manage</a:t>
            </a:r>
          </a:p>
          <a:p>
            <a:r>
              <a:rPr lang="en-US" noProof="0" dirty="0"/>
              <a:t>Requires pattern matching</a:t>
            </a:r>
          </a:p>
          <a:p>
            <a:r>
              <a:rPr lang="en-US" dirty="0"/>
              <a:t>Widely adopted historically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124D9-D800-1724-16DC-4E9D20EA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102" y="4750535"/>
            <a:ext cx="4618298" cy="177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7B01-6E30-C156-56FB-2B35961F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495B09-611C-4FA6-37B7-D681F755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JSON Structure</a:t>
            </a:r>
            <a:br>
              <a:rPr lang="en-US" noProof="0" dirty="0"/>
            </a:br>
            <a:r>
              <a:rPr lang="en-US" noProof="0" dirty="0"/>
              <a:t>and Usage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84AFB31-87B0-DB25-DC01-1D2D48867C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957367"/>
            <a:ext cx="7067550" cy="3773292"/>
          </a:xfrm>
        </p:spPr>
        <p:txBody>
          <a:bodyPr/>
          <a:lstStyle/>
          <a:p>
            <a:r>
              <a:rPr lang="en-US" noProof="0" dirty="0" err="1"/>
              <a:t>JAVAScript</a:t>
            </a:r>
            <a:r>
              <a:rPr lang="en-US" noProof="0" dirty="0"/>
              <a:t> Object              Notation (JSON)</a:t>
            </a:r>
          </a:p>
          <a:p>
            <a:r>
              <a:rPr lang="en-US" dirty="0"/>
              <a:t>Less verbose than XML</a:t>
            </a:r>
          </a:p>
          <a:p>
            <a:r>
              <a:rPr lang="en-US" noProof="0" dirty="0"/>
              <a:t>Uses </a:t>
            </a:r>
            <a:r>
              <a:rPr lang="en-US" noProof="0" dirty="0" err="1"/>
              <a:t>key:value</a:t>
            </a:r>
            <a:r>
              <a:rPr lang="en-US" noProof="0" dirty="0"/>
              <a:t> pairs</a:t>
            </a:r>
          </a:p>
          <a:p>
            <a:r>
              <a:rPr lang="en-US" dirty="0"/>
              <a:t>Fields separated by colon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44732F-12B1-E838-0632-E34E1E1BE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887" y="5023055"/>
            <a:ext cx="4679125" cy="16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34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5D8B-5F7C-4922-0AA9-50088B56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EAD5B0-7977-1DFA-A242-8C9C46EE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JSON Adoption</a:t>
            </a:r>
            <a:br>
              <a:rPr lang="en-US" noProof="0" dirty="0"/>
            </a:br>
            <a:r>
              <a:rPr lang="en-US" noProof="0" dirty="0"/>
              <a:t>and Parsing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FA9713-994A-A460-5E38-613B2CC497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1955801"/>
            <a:ext cx="7067550" cy="3773292"/>
          </a:xfrm>
        </p:spPr>
        <p:txBody>
          <a:bodyPr/>
          <a:lstStyle/>
          <a:p>
            <a:r>
              <a:rPr lang="en-US" noProof="0" dirty="0"/>
              <a:t>Works well with </a:t>
            </a:r>
            <a:r>
              <a:rPr lang="en-US" noProof="0" dirty="0" err="1"/>
              <a:t>JAVAScript</a:t>
            </a:r>
            <a:endParaRPr lang="en-US" noProof="0" dirty="0"/>
          </a:p>
          <a:p>
            <a:r>
              <a:rPr lang="en-US" dirty="0"/>
              <a:t>Supported by many languages</a:t>
            </a:r>
          </a:p>
          <a:p>
            <a:r>
              <a:rPr lang="en-US" noProof="0" dirty="0"/>
              <a:t>Easier to parse than XML</a:t>
            </a:r>
          </a:p>
          <a:p>
            <a:r>
              <a:rPr lang="en-US" dirty="0"/>
              <a:t>Common in                    automation workflows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E4C37C-8251-5C93-61D4-045C38F13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413" y="4998003"/>
            <a:ext cx="4679125" cy="16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23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447EA-E14B-342F-54B4-14E68D21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4F46D-BB91-4DCE-7818-E4E1CD7E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YAML Structure</a:t>
            </a:r>
            <a:br>
              <a:rPr lang="en-US" noProof="0" dirty="0"/>
            </a:br>
            <a:r>
              <a:rPr lang="en-US" noProof="0" dirty="0"/>
              <a:t>and Format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1C0EA1E-46A8-CA6E-E580-589E258DD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Yet Another Markup       Language (YAML)</a:t>
            </a:r>
          </a:p>
          <a:p>
            <a:r>
              <a:rPr lang="en-US" dirty="0"/>
              <a:t>Less verbose than JSON</a:t>
            </a:r>
          </a:p>
          <a:p>
            <a:r>
              <a:rPr lang="en-US" noProof="0" dirty="0"/>
              <a:t>Minimal syntax structure</a:t>
            </a:r>
          </a:p>
          <a:p>
            <a:r>
              <a:rPr lang="en-US" dirty="0"/>
              <a:t>Uses dash-based formatting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164372-620E-DDFD-E1F7-202F11BD2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056" y="5140291"/>
            <a:ext cx="4659544" cy="156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24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C571-601D-2021-E51B-80B061AD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E93AA-EAFE-33DD-45B7-5817674E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EVTX Event Log Format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F5ABCA-025D-311E-37EF-8AFA7886D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Windows event log format</a:t>
            </a:r>
          </a:p>
          <a:p>
            <a:r>
              <a:rPr lang="en-US" dirty="0"/>
              <a:t>Successor to EVT format</a:t>
            </a:r>
          </a:p>
          <a:p>
            <a:r>
              <a:rPr lang="en-US" noProof="0" dirty="0"/>
              <a:t>XML-based structure</a:t>
            </a:r>
          </a:p>
          <a:p>
            <a:r>
              <a:rPr lang="en-US" dirty="0"/>
              <a:t>Used for log data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3ED4C-9204-DA0E-5153-F145A8CFD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9" t="-15302" r="359" b="4502"/>
          <a:stretch>
            <a:fillRect/>
          </a:stretch>
        </p:blipFill>
        <p:spPr>
          <a:xfrm>
            <a:off x="4840328" y="4362324"/>
            <a:ext cx="6526172" cy="230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333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FFD909-429B-4107-A2B1-C958B91C177D}">
  <ds:schemaRefs>
    <ds:schemaRef ds:uri="http://purl.org/dc/terms/"/>
    <ds:schemaRef ds:uri="1046e879-d081-4053-adba-52e34fa7725d"/>
    <ds:schemaRef ds:uri="13a0c8d5-cff5-4140-b58f-0947a5552a6a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76027dd9-77cd-484f-b6db-8bbe1351c2b5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417</Words>
  <Application>Microsoft Office PowerPoint</Application>
  <PresentationFormat>Widescreen</PresentationFormat>
  <Paragraphs>107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Logging</vt:lpstr>
      <vt:lpstr>Log Ingestion</vt:lpstr>
      <vt:lpstr>Log Format Variability</vt:lpstr>
      <vt:lpstr>Log Type Differences</vt:lpstr>
      <vt:lpstr>Securing Log Data</vt:lpstr>
      <vt:lpstr>Integrity and Encryption</vt:lpstr>
      <vt:lpstr>Time Synchronization</vt:lpstr>
      <vt:lpstr>NTP and Time Servers</vt:lpstr>
      <vt:lpstr>Retention Considerations</vt:lpstr>
      <vt:lpstr>Basic Terms and Concepts</vt:lpstr>
      <vt:lpstr>The CIA Triad</vt:lpstr>
      <vt:lpstr>Triple A (AAA)</vt:lpstr>
      <vt:lpstr>Vulnerabilities, Threats, and Risk</vt:lpstr>
      <vt:lpstr>Malware</vt:lpstr>
      <vt:lpstr>Zero Day Attacks</vt:lpstr>
      <vt:lpstr>File Formats</vt:lpstr>
      <vt:lpstr>File Formats Overview</vt:lpstr>
      <vt:lpstr>XML Structure and Characteristics</vt:lpstr>
      <vt:lpstr>XML Limitations and Usage</vt:lpstr>
      <vt:lpstr>JSON Structure and Usage</vt:lpstr>
      <vt:lpstr>JSON Adoption and Parsing</vt:lpstr>
      <vt:lpstr>YAML Structure and Format</vt:lpstr>
      <vt:lpstr>EVTX Event Log Format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4</cp:revision>
  <dcterms:created xsi:type="dcterms:W3CDTF">2021-01-26T20:17:48Z</dcterms:created>
  <dcterms:modified xsi:type="dcterms:W3CDTF">2026-06-25T19:00:16Z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