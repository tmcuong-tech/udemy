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6"/>
  </p:notesMasterIdLst>
  <p:sldIdLst>
    <p:sldId id="256" r:id="rId5"/>
    <p:sldId id="399" r:id="rId6"/>
    <p:sldId id="395" r:id="rId7"/>
    <p:sldId id="396" r:id="rId8"/>
    <p:sldId id="397" r:id="rId9"/>
    <p:sldId id="398" r:id="rId10"/>
    <p:sldId id="400" r:id="rId11"/>
    <p:sldId id="401" r:id="rId12"/>
    <p:sldId id="402" r:id="rId13"/>
    <p:sldId id="382" r:id="rId14"/>
    <p:sldId id="403" r:id="rId15"/>
    <p:sldId id="404" r:id="rId16"/>
    <p:sldId id="405" r:id="rId17"/>
    <p:sldId id="383" r:id="rId18"/>
    <p:sldId id="406" r:id="rId19"/>
    <p:sldId id="407" r:id="rId20"/>
    <p:sldId id="408" r:id="rId21"/>
    <p:sldId id="409" r:id="rId22"/>
    <p:sldId id="410" r:id="rId23"/>
    <p:sldId id="411" r:id="rId24"/>
    <p:sldId id="412" r:id="rId25"/>
    <p:sldId id="413" r:id="rId26"/>
    <p:sldId id="414" r:id="rId27"/>
    <p:sldId id="415" r:id="rId28"/>
    <p:sldId id="416" r:id="rId29"/>
    <p:sldId id="417" r:id="rId30"/>
    <p:sldId id="418" r:id="rId31"/>
    <p:sldId id="419" r:id="rId32"/>
    <p:sldId id="420" r:id="rId33"/>
    <p:sldId id="421" r:id="rId34"/>
    <p:sldId id="422" r:id="rId35"/>
    <p:sldId id="423" r:id="rId36"/>
    <p:sldId id="424" r:id="rId37"/>
    <p:sldId id="425" r:id="rId38"/>
    <p:sldId id="426" r:id="rId39"/>
    <p:sldId id="394" r:id="rId40"/>
    <p:sldId id="427" r:id="rId41"/>
    <p:sldId id="428" r:id="rId42"/>
    <p:sldId id="429" r:id="rId43"/>
    <p:sldId id="430" r:id="rId44"/>
    <p:sldId id="431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1C1260-7E40-4364-BD07-DE7E2F3E7162}">
          <p14:sldIdLst>
            <p14:sldId id="256"/>
            <p14:sldId id="399"/>
            <p14:sldId id="395"/>
            <p14:sldId id="396"/>
            <p14:sldId id="397"/>
            <p14:sldId id="398"/>
            <p14:sldId id="400"/>
            <p14:sldId id="401"/>
            <p14:sldId id="402"/>
            <p14:sldId id="382"/>
            <p14:sldId id="403"/>
            <p14:sldId id="404"/>
            <p14:sldId id="405"/>
            <p14:sldId id="383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394"/>
            <p14:sldId id="427"/>
            <p14:sldId id="428"/>
            <p14:sldId id="429"/>
            <p14:sldId id="430"/>
            <p14:sldId id="4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" initials="S" lastIdx="5" clrIdx="0">
    <p:extLst>
      <p:ext uri="{19B8F6BF-5375-455C-9EA6-DF929625EA0E}">
        <p15:presenceInfo xmlns:p15="http://schemas.microsoft.com/office/powerpoint/2012/main" userId="Scott" providerId="None"/>
      </p:ext>
    </p:extLst>
  </p:cmAuthor>
  <p:cmAuthor id="2" name="Dana Barineau" initials="DB" lastIdx="1" clrIdx="1">
    <p:extLst>
      <p:ext uri="{19B8F6BF-5375-455C-9EA6-DF929625EA0E}">
        <p15:presenceInfo xmlns:p15="http://schemas.microsoft.com/office/powerpoint/2012/main" userId="Dana Barineau" providerId="None"/>
      </p:ext>
    </p:extLst>
  </p:cmAuthor>
  <p:cmAuthor id="3" name="Alden Drake" initials="AD" lastIdx="3" clrIdx="2">
    <p:extLst>
      <p:ext uri="{19B8F6BF-5375-455C-9EA6-DF929625EA0E}">
        <p15:presenceInfo xmlns:p15="http://schemas.microsoft.com/office/powerpoint/2012/main" userId="02a7e7fa871b3cfc" providerId="Windows Live"/>
      </p:ext>
    </p:extLst>
  </p:cmAuthor>
  <p:cmAuthor id="4" name="Paul Haines" initials="PH" lastIdx="9" clrIdx="3">
    <p:extLst>
      <p:ext uri="{19B8F6BF-5375-455C-9EA6-DF929625EA0E}">
        <p15:presenceInfo xmlns:p15="http://schemas.microsoft.com/office/powerpoint/2012/main" userId="Paul Haines" providerId="None"/>
      </p:ext>
    </p:extLst>
  </p:cmAuthor>
  <p:cmAuthor id="5" name="Shannon Lehmer" initials="SL" lastIdx="2" clrIdx="4">
    <p:extLst>
      <p:ext uri="{19B8F6BF-5375-455C-9EA6-DF929625EA0E}">
        <p15:presenceInfo xmlns:p15="http://schemas.microsoft.com/office/powerpoint/2012/main" userId="c588402909581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04C"/>
    <a:srgbClr val="07304C"/>
    <a:srgbClr val="DBDBD3"/>
    <a:srgbClr val="064973"/>
    <a:srgbClr val="FF0000"/>
    <a:srgbClr val="FFFF00"/>
    <a:srgbClr val="22B965"/>
    <a:srgbClr val="00AE4D"/>
    <a:srgbClr val="096AA6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551"/>
  </p:normalViewPr>
  <p:slideViewPr>
    <p:cSldViewPr snapToGrid="0">
      <p:cViewPr varScale="1">
        <p:scale>
          <a:sx n="60" d="100"/>
          <a:sy n="60" d="100"/>
        </p:scale>
        <p:origin x="7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726E1-FD36-459F-813E-F371EC296CF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166A4-E9D0-4AFA-9CA5-FF99D13E5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036" y="3973882"/>
            <a:ext cx="9543964" cy="2418014"/>
          </a:xfrm>
        </p:spPr>
        <p:txBody>
          <a:bodyPr anchor="ctr">
            <a:normAutofit/>
          </a:bodyPr>
          <a:lstStyle>
            <a:lvl1pPr>
              <a:defRPr lang="en-US" sz="5400" kern="1200" dirty="0">
                <a:solidFill>
                  <a:srgbClr val="DBDBD3"/>
                </a:solidFill>
                <a:effectLst/>
                <a:latin typeface="Montserrat Light" panose="020F05020202040302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50725" y="1785939"/>
            <a:ext cx="10893599" cy="21572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8000">
                <a:solidFill>
                  <a:srgbClr val="DBDBD3"/>
                </a:solidFill>
                <a:effectLst/>
                <a:latin typeface="Montserrat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4205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sod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47549"/>
            <a:ext cx="10528300" cy="2165227"/>
          </a:xfrm>
        </p:spPr>
        <p:txBody>
          <a:bodyPr anchor="b">
            <a:normAutofit/>
          </a:bodyPr>
          <a:lstStyle>
            <a:lvl1pPr>
              <a:defRPr lang="en-US" sz="6000" kern="1200" dirty="0">
                <a:solidFill>
                  <a:srgbClr val="DBDBD3"/>
                </a:solidFill>
                <a:effectLst/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88024" y="3926179"/>
            <a:ext cx="8572126" cy="1277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DBDBD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B1BE48-3928-45FD-AC35-DC23102077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8024" y="5273714"/>
            <a:ext cx="8621504" cy="128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rgbClr val="DBDBD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DBAD4-865A-48F1-9D57-A0A0884E5B24}"/>
              </a:ext>
            </a:extLst>
          </p:cNvPr>
          <p:cNvSpPr txBox="1"/>
          <p:nvPr userDrawn="1"/>
        </p:nvSpPr>
        <p:spPr>
          <a:xfrm>
            <a:off x="831850" y="3942015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5C9B9-B706-4569-8001-ADF6E33FC5F4}"/>
              </a:ext>
            </a:extLst>
          </p:cNvPr>
          <p:cNvSpPr txBox="1"/>
          <p:nvPr userDrawn="1"/>
        </p:nvSpPr>
        <p:spPr>
          <a:xfrm>
            <a:off x="831850" y="3926179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title: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D5751-21D0-4756-861B-745D9EA18277}"/>
              </a:ext>
            </a:extLst>
          </p:cNvPr>
          <p:cNvSpPr txBox="1"/>
          <p:nvPr userDrawn="1"/>
        </p:nvSpPr>
        <p:spPr>
          <a:xfrm>
            <a:off x="831850" y="5280317"/>
            <a:ext cx="2027891" cy="12745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2873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One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9882"/>
            <a:ext cx="9845842" cy="1165455"/>
          </a:xfrm>
        </p:spPr>
        <p:txBody>
          <a:bodyPr/>
          <a:lstStyle>
            <a:lvl1pPr>
              <a:defRPr u="sng">
                <a:solidFill>
                  <a:srgbClr val="DBDBD3"/>
                </a:solidFill>
              </a:defRPr>
            </a:lvl1pPr>
          </a:lstStyle>
          <a:p>
            <a:r>
              <a:rPr lang="en-US"/>
              <a:t>Click To Edit One-Line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1433"/>
            <a:ext cx="10515600" cy="447074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668"/>
            <a:ext cx="9630103" cy="1325563"/>
          </a:xfrm>
        </p:spPr>
        <p:txBody>
          <a:bodyPr>
            <a:normAutofit/>
          </a:bodyPr>
          <a:lstStyle>
            <a:lvl1pPr>
              <a:defRPr sz="4200" u="sng"/>
            </a:lvl1pPr>
          </a:lstStyle>
          <a:p>
            <a:r>
              <a:rPr lang="en-US"/>
              <a:t>Click to Edit Two-Line Full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7525"/>
            <a:ext cx="10515600" cy="405112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79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One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57F8-2206-4304-B33D-58B55A3BF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83" y="548753"/>
            <a:ext cx="7067238" cy="633011"/>
          </a:xfrm>
        </p:spPr>
        <p:txBody>
          <a:bodyPr anchor="t">
            <a:noAutofit/>
          </a:bodyPr>
          <a:lstStyle>
            <a:lvl1pPr algn="l">
              <a:defRPr sz="4400" u="sng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D5B110-EBDF-7845-ABA8-800A1AB89C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133" cy="45265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925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49ED4-5ED2-92BC-C279-8DFEAD08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325563"/>
          </a:xfrm>
        </p:spPr>
        <p:txBody>
          <a:bodyPr>
            <a:normAutofit/>
          </a:bodyPr>
          <a:lstStyle>
            <a:lvl1pPr>
              <a:defRPr sz="4400" u="sng"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F4825-B89B-CEE8-4FA4-90A1337C0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1"/>
            <a:ext cx="7067550" cy="37732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006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41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77335-E9FF-4113-A0BC-8AA8EE48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845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B5DD-2E34-1CED-3F24-0762D9A6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861"/>
            <a:ext cx="10515600" cy="430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70" r:id="rId7"/>
    <p:sldLayoutId id="214748367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DBDBD3"/>
          </a:solidFill>
          <a:effectLst/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None/>
        <a:defRPr sz="4000" kern="1200">
          <a:solidFill>
            <a:srgbClr val="DBDBD3"/>
          </a:solidFill>
          <a:latin typeface="Montserrat" pitchFamily="2" charset="0"/>
          <a:ea typeface="+mn-ea"/>
          <a:cs typeface="Arial" panose="020B0604020202020204" pitchFamily="34" charset="0"/>
        </a:defRPr>
      </a:lvl1pPr>
      <a:lvl2pPr marL="746125" indent="-288925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36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SzPct val="60000"/>
        <a:buFont typeface="Montserrat" pitchFamily="2" charset="0"/>
        <a:buChar char="–"/>
        <a:defRPr sz="32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Threat Actors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07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058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AB964-ACFB-36BF-778C-2BDE127D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C05510-C817-06CA-C756-4F29D3710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Script Kiddies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4834D9-E68E-A7BE-E68F-AFD25F494A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Unskilled attackers</a:t>
            </a:r>
          </a:p>
          <a:p>
            <a:r>
              <a:rPr lang="en-US" dirty="0"/>
              <a:t>Use existing tools and scripts</a:t>
            </a:r>
          </a:p>
          <a:p>
            <a:r>
              <a:rPr lang="en-US" noProof="0" dirty="0"/>
              <a:t>Do not fully understand tools</a:t>
            </a:r>
          </a:p>
          <a:p>
            <a:r>
              <a:rPr lang="en-US" dirty="0"/>
              <a:t>Motivated by ego or recognition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4235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45B22-0861-6414-53CD-BC7EEA153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D5A7E9-6AE0-901D-2BD2-6A5DD531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Hacktivist</a:t>
            </a:r>
            <a:r>
              <a:rPr lang="en-US" dirty="0"/>
              <a:t>s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0753162-E07E-9548-CF9D-2B7DA20A8F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noProof="0" dirty="0"/>
              <a:t>Motivated by political or                           social causes</a:t>
            </a:r>
          </a:p>
          <a:p>
            <a:r>
              <a:rPr lang="en-US" dirty="0"/>
              <a:t>Target organizations                                        or institutions</a:t>
            </a:r>
          </a:p>
          <a:p>
            <a:pPr lvl="0"/>
            <a:r>
              <a:rPr lang="en-US" dirty="0"/>
              <a:t>Common attacks</a:t>
            </a:r>
          </a:p>
          <a:p>
            <a:pPr lvl="1"/>
            <a:r>
              <a:rPr lang="en-US" dirty="0"/>
              <a:t>Defacement</a:t>
            </a:r>
          </a:p>
          <a:p>
            <a:pPr lvl="1"/>
            <a:r>
              <a:rPr lang="en-US" dirty="0"/>
              <a:t>Data leaks</a:t>
            </a:r>
          </a:p>
          <a:p>
            <a:pPr lvl="1"/>
            <a:r>
              <a:rPr lang="en-US" dirty="0"/>
              <a:t>DoS attacks</a:t>
            </a:r>
          </a:p>
          <a:p>
            <a:pPr lvl="0"/>
            <a:r>
              <a:rPr lang="en-US" dirty="0"/>
              <a:t>Driven by activism goals</a:t>
            </a:r>
          </a:p>
        </p:txBody>
      </p:sp>
    </p:spTree>
    <p:extLst>
      <p:ext uri="{BB962C8B-B14F-4D97-AF65-F5344CB8AC3E}">
        <p14:creationId xmlns:p14="http://schemas.microsoft.com/office/powerpoint/2010/main" val="1775274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9073B-A5B5-7F1B-1C58-D410EDEDB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F89797-55BD-7C28-72A1-7757ECA6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Organized Crime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0CAA0B-275E-0A56-26A8-8214AB80B2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Financially motivated groups</a:t>
            </a:r>
          </a:p>
          <a:p>
            <a:r>
              <a:rPr lang="en-US" dirty="0"/>
              <a:t>Highly sophisticated attacks</a:t>
            </a:r>
          </a:p>
          <a:p>
            <a:pPr lvl="0"/>
            <a:r>
              <a:rPr lang="en-US" dirty="0"/>
              <a:t>Activities include</a:t>
            </a:r>
          </a:p>
          <a:p>
            <a:pPr lvl="1"/>
            <a:r>
              <a:rPr lang="en-US" dirty="0"/>
              <a:t>Data theft</a:t>
            </a:r>
          </a:p>
          <a:p>
            <a:pPr lvl="1"/>
            <a:r>
              <a:rPr lang="en-US" dirty="0"/>
              <a:t>Extortion</a:t>
            </a:r>
          </a:p>
          <a:p>
            <a:pPr lvl="1"/>
            <a:r>
              <a:rPr lang="en-US" dirty="0"/>
              <a:t>Identity theft</a:t>
            </a:r>
          </a:p>
          <a:p>
            <a:pPr lvl="0"/>
            <a:r>
              <a:rPr lang="en-US" dirty="0"/>
              <a:t>Focus on profit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18653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34C0-3AC8-9658-3B4B-EE3F43A9F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E54E65-9F6D-6FD1-7002-9C3F5108A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Advanced</a:t>
            </a:r>
            <a:br>
              <a:rPr lang="en-US" noProof="0" dirty="0"/>
            </a:br>
            <a:r>
              <a:rPr lang="en-US" noProof="0" dirty="0"/>
              <a:t>Persistent Threats (APT)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BE70EE-852E-C543-0E90-A5F9CBA45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State-sponsored </a:t>
            </a:r>
            <a:r>
              <a:rPr lang="en-US" dirty="0"/>
              <a:t>attackers</a:t>
            </a:r>
          </a:p>
          <a:p>
            <a:r>
              <a:rPr lang="en-US" dirty="0"/>
              <a:t>Highly advanced techniques</a:t>
            </a:r>
          </a:p>
          <a:p>
            <a:r>
              <a:rPr lang="en-US" dirty="0"/>
              <a:t>Long-term targeting</a:t>
            </a:r>
          </a:p>
          <a:p>
            <a:r>
              <a:rPr lang="en-US" dirty="0"/>
              <a:t>Motivated by national interest</a:t>
            </a:r>
          </a:p>
        </p:txBody>
      </p:sp>
    </p:spTree>
    <p:extLst>
      <p:ext uri="{BB962C8B-B14F-4D97-AF65-F5344CB8AC3E}">
        <p14:creationId xmlns:p14="http://schemas.microsoft.com/office/powerpoint/2010/main" val="2983355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4565C-D1DA-8C0F-5899-604876DB6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A3F51E-1358-5B9D-C3F7-47D9D8BBA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Competitors as</a:t>
            </a:r>
            <a:br>
              <a:rPr lang="en-US" noProof="0" dirty="0"/>
            </a:br>
            <a:r>
              <a:rPr lang="en-US" noProof="0" dirty="0"/>
              <a:t>Threat Actors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10CF0F6-AEBE-3E4B-00DA-73F96D14F6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Seek market advantage</a:t>
            </a:r>
          </a:p>
          <a:p>
            <a:r>
              <a:rPr lang="en-US" dirty="0"/>
              <a:t>Target rival organizations</a:t>
            </a:r>
          </a:p>
          <a:p>
            <a:r>
              <a:rPr lang="en-US" noProof="0" dirty="0"/>
              <a:t>May steal information</a:t>
            </a:r>
          </a:p>
          <a:p>
            <a:r>
              <a:rPr lang="en-US" dirty="0"/>
              <a:t>May disrupt services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8065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B3E95-C2A3-1558-D6B7-582D6E5BC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FF44FA-E2E1-3A16-9EC5-58F450BF3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Insider Threats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FD7273-DE15-2844-C34E-6715B3759F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Originate within organization</a:t>
            </a:r>
          </a:p>
          <a:p>
            <a:r>
              <a:rPr lang="en-US" dirty="0"/>
              <a:t>May be malicious or accidental</a:t>
            </a:r>
          </a:p>
          <a:p>
            <a:r>
              <a:rPr lang="en-US" noProof="0" dirty="0"/>
              <a:t>Disgruntled employees possible</a:t>
            </a:r>
          </a:p>
          <a:p>
            <a:r>
              <a:rPr lang="en-US" dirty="0"/>
              <a:t>Can cause internal damage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67495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2B6FE-C6DB-9472-5AB3-C000DE984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E92310-CC83-FE71-B7E7-06E48E14A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Shadow IT Risks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7E577E-AE49-22DD-EC0E-3696E481E1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Unauthorized IT usage</a:t>
            </a:r>
          </a:p>
          <a:p>
            <a:r>
              <a:rPr lang="en-US" dirty="0"/>
              <a:t>Not managed by IT team</a:t>
            </a:r>
          </a:p>
          <a:p>
            <a:r>
              <a:rPr lang="en-US" noProof="0" dirty="0"/>
              <a:t>Can impact security                    and availability</a:t>
            </a:r>
          </a:p>
          <a:p>
            <a:r>
              <a:rPr lang="en-US" dirty="0"/>
              <a:t>Introduces unknown risk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6675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dirty="0" err="1"/>
              <a:t>ttps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07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2003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TTPs and Attribution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Link actions to threat actors</a:t>
            </a:r>
          </a:p>
          <a:p>
            <a:r>
              <a:rPr lang="en-US" dirty="0"/>
              <a:t>Identify attack patterns</a:t>
            </a:r>
          </a:p>
          <a:p>
            <a:r>
              <a:rPr lang="en-US" noProof="0" dirty="0"/>
              <a:t>Track adversary behavior</a:t>
            </a:r>
          </a:p>
          <a:p>
            <a:r>
              <a:rPr lang="en-US" dirty="0"/>
              <a:t>Support incident analysis</a:t>
            </a:r>
          </a:p>
        </p:txBody>
      </p:sp>
    </p:spTree>
    <p:extLst>
      <p:ext uri="{BB962C8B-B14F-4D97-AF65-F5344CB8AC3E}">
        <p14:creationId xmlns:p14="http://schemas.microsoft.com/office/powerpoint/2010/main" val="2972166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448E-00CC-82AD-A538-9EE30EB41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E4499-A205-22C5-4CC7-A242062F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882"/>
            <a:ext cx="9845842" cy="1165455"/>
          </a:xfrm>
        </p:spPr>
        <p:txBody>
          <a:bodyPr>
            <a:normAutofit/>
          </a:bodyPr>
          <a:lstStyle/>
          <a:p>
            <a:r>
              <a:rPr lang="en-US" dirty="0"/>
              <a:t>Pyramid of Pain</a:t>
            </a:r>
            <a:endParaRPr lang="en-US" noProof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F87F84-D1BB-DF46-D2B0-688750DDA4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838" y="1479550"/>
            <a:ext cx="6476324" cy="4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574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2297D-A754-6CC1-196A-A3370CEFC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3376BC-01C9-B354-BC89-3EA7F0F7A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Pyramid of Pain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37DE15-42C4-202A-EE4F-5B58B7EE82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Hierarchy of attack indicators</a:t>
            </a:r>
          </a:p>
          <a:p>
            <a:r>
              <a:rPr lang="en-US" dirty="0"/>
              <a:t>Lower levels easier to change</a:t>
            </a:r>
          </a:p>
          <a:p>
            <a:r>
              <a:rPr lang="en-US" noProof="0" dirty="0"/>
              <a:t>Higher levels harder to evade</a:t>
            </a:r>
          </a:p>
          <a:p>
            <a:r>
              <a:rPr lang="en-US" dirty="0"/>
              <a:t>Focus on attacker disruption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17236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60100-1917-2F0B-285C-38501FD63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E7A6EF-49F8-756C-4D04-17E76E0D1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Indicators vs TTPs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EB09BC9-377C-EA3C-2ABD-C50F6491B3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Lower indicators</a:t>
            </a:r>
          </a:p>
          <a:p>
            <a:pPr lvl="1"/>
            <a:r>
              <a:rPr lang="en-US" dirty="0"/>
              <a:t>IPs hashes easily changed</a:t>
            </a:r>
          </a:p>
          <a:p>
            <a:pPr lvl="0"/>
            <a:r>
              <a:rPr lang="en-US" dirty="0"/>
              <a:t>Higher indicators</a:t>
            </a:r>
          </a:p>
          <a:p>
            <a:pPr lvl="1"/>
            <a:r>
              <a:rPr lang="en-US" dirty="0"/>
              <a:t>Tools and TTPs harder to evade</a:t>
            </a:r>
          </a:p>
          <a:p>
            <a:pPr lvl="0"/>
            <a:r>
              <a:rPr lang="en-US" dirty="0"/>
              <a:t>Higher disruption to attackers</a:t>
            </a:r>
          </a:p>
          <a:p>
            <a:pPr lvl="0"/>
            <a:r>
              <a:rPr lang="en-US" dirty="0"/>
              <a:t>Focus on long-term impact</a:t>
            </a:r>
          </a:p>
        </p:txBody>
      </p:sp>
    </p:spTree>
    <p:extLst>
      <p:ext uri="{BB962C8B-B14F-4D97-AF65-F5344CB8AC3E}">
        <p14:creationId xmlns:p14="http://schemas.microsoft.com/office/powerpoint/2010/main" val="1292504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6858-9ACF-EB0E-AF96-CFCF7C4E7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882"/>
            <a:ext cx="9845842" cy="1165455"/>
          </a:xfrm>
        </p:spPr>
        <p:txBody>
          <a:bodyPr>
            <a:normAutofit/>
          </a:bodyPr>
          <a:lstStyle/>
          <a:p>
            <a:r>
              <a:rPr lang="en-US" noProof="0" dirty="0"/>
              <a:t>MITRE ATT&amp;CK Framework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7BEFDF-A3C1-B575-3BB7-91974C4BC3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641" y="1657350"/>
            <a:ext cx="8460517" cy="4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80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38490-98A2-8FCC-8A08-AC3E9121A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6AFB8C-6DDE-3477-0E09-4D001F459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MITRE</a:t>
            </a:r>
            <a:br>
              <a:rPr lang="en-US" dirty="0"/>
            </a:br>
            <a:r>
              <a:rPr lang="en-US" dirty="0"/>
              <a:t>ATT&amp;CK Framework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AB6E22-32D4-2988-A0F9-6FFD51DB89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Knowledge base of          adversary behavior</a:t>
            </a:r>
          </a:p>
          <a:p>
            <a:pPr lvl="0"/>
            <a:r>
              <a:rPr lang="en-US" dirty="0"/>
              <a:t>Maps real-world attack patterns</a:t>
            </a:r>
          </a:p>
          <a:p>
            <a:pPr lvl="0"/>
            <a:r>
              <a:rPr lang="en-US" dirty="0"/>
              <a:t>Based on TTPs</a:t>
            </a:r>
          </a:p>
          <a:p>
            <a:pPr lvl="0"/>
            <a:r>
              <a:rPr lang="en-US" dirty="0"/>
              <a:t>Used for analysis and defense</a:t>
            </a:r>
          </a:p>
        </p:txBody>
      </p:sp>
    </p:spTree>
    <p:extLst>
      <p:ext uri="{BB962C8B-B14F-4D97-AF65-F5344CB8AC3E}">
        <p14:creationId xmlns:p14="http://schemas.microsoft.com/office/powerpoint/2010/main" val="2971012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306EB-BB10-6AE6-3E05-C62C286F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02EFEF-8FA9-0D6A-DB08-2AA37C21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ATT&amp;CK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19DA74-F1E3-CE95-C066-99A8957ED3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Identify potential adversaries</a:t>
            </a:r>
          </a:p>
          <a:p>
            <a:pPr lvl="0"/>
            <a:r>
              <a:rPr lang="en-US" dirty="0"/>
              <a:t>Map activity to patterns</a:t>
            </a:r>
          </a:p>
          <a:p>
            <a:pPr lvl="0"/>
            <a:r>
              <a:rPr lang="en-US" dirty="0"/>
              <a:t>Analyze systems and processes</a:t>
            </a:r>
          </a:p>
          <a:p>
            <a:pPr lvl="0"/>
            <a:r>
              <a:rPr lang="en-US" dirty="0"/>
              <a:t>Support defensive planning</a:t>
            </a:r>
          </a:p>
        </p:txBody>
      </p:sp>
    </p:spTree>
    <p:extLst>
      <p:ext uri="{BB962C8B-B14F-4D97-AF65-F5344CB8AC3E}">
        <p14:creationId xmlns:p14="http://schemas.microsoft.com/office/powerpoint/2010/main" val="675710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B6606-505F-FE22-AD42-2DB01A16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430C6A-062C-0697-FCE1-15829A68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Attribution Using TTPs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A2BD09-DDD8-F66D-F17B-BEDFD9D083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Link attacks to groups</a:t>
            </a:r>
          </a:p>
          <a:p>
            <a:pPr lvl="0"/>
            <a:r>
              <a:rPr lang="en-US" dirty="0"/>
              <a:t>Use behavioral clues</a:t>
            </a:r>
          </a:p>
          <a:p>
            <a:pPr lvl="0"/>
            <a:r>
              <a:rPr lang="en-US" dirty="0"/>
              <a:t>Identify campaigns</a:t>
            </a:r>
          </a:p>
          <a:p>
            <a:pPr lvl="0"/>
            <a:r>
              <a:rPr lang="en-US" dirty="0"/>
              <a:t>No claim needed</a:t>
            </a:r>
          </a:p>
        </p:txBody>
      </p:sp>
    </p:spTree>
    <p:extLst>
      <p:ext uri="{BB962C8B-B14F-4D97-AF65-F5344CB8AC3E}">
        <p14:creationId xmlns:p14="http://schemas.microsoft.com/office/powerpoint/2010/main" val="3398419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21956-7C00-BE00-4D1A-DBC1F70D4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A654C5-0EED-CD4B-C693-5601E530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TTP Behavioral Patterns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24FE97-8CBA-DD6E-387A-EBCB4768C1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Unique attacker behaviors</a:t>
            </a:r>
          </a:p>
          <a:p>
            <a:pPr lvl="0"/>
            <a:r>
              <a:rPr lang="en-US" dirty="0"/>
              <a:t>Repeated identifiable actions</a:t>
            </a:r>
          </a:p>
          <a:p>
            <a:pPr lvl="0"/>
            <a:r>
              <a:rPr lang="en-US" dirty="0"/>
              <a:t>Create recognizable signatures</a:t>
            </a:r>
          </a:p>
          <a:p>
            <a:pPr lvl="0"/>
            <a:r>
              <a:rPr lang="en-US" dirty="0"/>
              <a:t>Used to track actors</a:t>
            </a:r>
          </a:p>
        </p:txBody>
      </p:sp>
    </p:spTree>
    <p:extLst>
      <p:ext uri="{BB962C8B-B14F-4D97-AF65-F5344CB8AC3E}">
        <p14:creationId xmlns:p14="http://schemas.microsoft.com/office/powerpoint/2010/main" val="3208747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3EBF3-E760-C0BE-F4F3-379DE7FA9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8A27-C1C0-E60A-1171-16315ADB9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882"/>
            <a:ext cx="9845842" cy="1165455"/>
          </a:xfrm>
        </p:spPr>
        <p:txBody>
          <a:bodyPr>
            <a:normAutofit/>
          </a:bodyPr>
          <a:lstStyle/>
          <a:p>
            <a:r>
              <a:rPr lang="en-US" noProof="0" dirty="0"/>
              <a:t>Heat Map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44E3EF-43E9-818A-5FD4-71509E718A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370" y="1365337"/>
            <a:ext cx="9389259" cy="468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0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E13A5-4AE5-39BA-4F45-47A511EE2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E65FB8-198E-36CE-C247-E7F2C867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Heat Map Analysis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648863F-C9BC-BFAB-E741-D241900963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Visualizes attacker behavior</a:t>
            </a:r>
          </a:p>
          <a:p>
            <a:pPr lvl="0"/>
            <a:r>
              <a:rPr lang="en-US" dirty="0"/>
              <a:t>Predicts likely next steps</a:t>
            </a:r>
          </a:p>
          <a:p>
            <a:pPr lvl="0"/>
            <a:r>
              <a:rPr lang="en-US" dirty="0"/>
              <a:t>Shows detection coverage</a:t>
            </a:r>
          </a:p>
          <a:p>
            <a:pPr lvl="0"/>
            <a:r>
              <a:rPr lang="en-US" dirty="0"/>
              <a:t>Identifies security gaps</a:t>
            </a:r>
          </a:p>
        </p:txBody>
      </p:sp>
    </p:spTree>
    <p:extLst>
      <p:ext uri="{BB962C8B-B14F-4D97-AF65-F5344CB8AC3E}">
        <p14:creationId xmlns:p14="http://schemas.microsoft.com/office/powerpoint/2010/main" val="3276480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04063-6F8A-D20A-96C9-3F8262A5F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139DFE-3038-8B43-CEC9-BB5AE1620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TTPs in</a:t>
            </a:r>
            <a:br>
              <a:rPr lang="en-US" dirty="0"/>
            </a:br>
            <a:r>
              <a:rPr lang="en-US" dirty="0"/>
              <a:t>Defense Strategy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251734-8605-A491-EB28-76519B1973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Use Intelligence from                past attacks</a:t>
            </a:r>
          </a:p>
          <a:p>
            <a:pPr lvl="0"/>
            <a:r>
              <a:rPr lang="en-US" dirty="0"/>
              <a:t>Identify likely adversaries</a:t>
            </a:r>
          </a:p>
          <a:p>
            <a:pPr lvl="0"/>
            <a:r>
              <a:rPr lang="en-US" dirty="0"/>
              <a:t>Build proactive defenses</a:t>
            </a:r>
          </a:p>
          <a:p>
            <a:pPr lvl="0"/>
            <a:r>
              <a:rPr lang="en-US" dirty="0"/>
              <a:t>Improve </a:t>
            </a:r>
            <a:r>
              <a:rPr lang="en-US"/>
              <a:t>threat response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45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dirty="0"/>
              <a:t>Intel Sources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>
                <a:latin typeface="Montserrat SemiBold"/>
                <a:cs typeface="Arial"/>
              </a:rPr>
              <a:t>07</a:t>
            </a:r>
            <a:endParaRPr lang="en-US" noProof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6362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Open-Source Intelligence (OSINT)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Publicly available information</a:t>
            </a:r>
          </a:p>
          <a:p>
            <a:r>
              <a:rPr lang="en-US" dirty="0"/>
              <a:t>Accessible to anyone</a:t>
            </a:r>
          </a:p>
          <a:p>
            <a:r>
              <a:rPr lang="en-US" dirty="0"/>
              <a:t>Wide range of sources</a:t>
            </a:r>
          </a:p>
          <a:p>
            <a:r>
              <a:rPr lang="en-US" noProof="0" dirty="0"/>
              <a:t>Collect</a:t>
            </a:r>
            <a:r>
              <a:rPr lang="en-US" dirty="0"/>
              <a:t>ed from open web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38066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C19ED-D8A5-DB56-3B28-D3602706D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E37666-C681-915A-3C1C-0BEC24EFD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532708"/>
          </a:xfrm>
        </p:spPr>
        <p:txBody>
          <a:bodyPr>
            <a:normAutofit/>
          </a:bodyPr>
          <a:lstStyle/>
          <a:p>
            <a:r>
              <a:rPr lang="en-US" sz="3600" dirty="0"/>
              <a:t>OSINT Challenges</a:t>
            </a:r>
            <a:endParaRPr lang="en-US" sz="3600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2FD677-55AB-1905-5592-C05597B7CF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Large volume of data</a:t>
            </a:r>
          </a:p>
          <a:p>
            <a:r>
              <a:rPr lang="en-US" noProof="0" dirty="0"/>
              <a:t>Duplicate information common</a:t>
            </a:r>
          </a:p>
          <a:p>
            <a:r>
              <a:rPr lang="en-US" dirty="0"/>
              <a:t>Requires validation effort</a:t>
            </a:r>
          </a:p>
          <a:p>
            <a:r>
              <a:rPr lang="en-US" noProof="0" dirty="0"/>
              <a:t>Must separate fact from rumor</a:t>
            </a:r>
          </a:p>
        </p:txBody>
      </p:sp>
    </p:spTree>
    <p:extLst>
      <p:ext uri="{BB962C8B-B14F-4D97-AF65-F5344CB8AC3E}">
        <p14:creationId xmlns:p14="http://schemas.microsoft.com/office/powerpoint/2010/main" val="1825054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76B88-E071-A168-694A-3A7768AE5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B4309A-9A1D-EAD5-EAA7-417689A4C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532708"/>
          </a:xfrm>
        </p:spPr>
        <p:txBody>
          <a:bodyPr>
            <a:noAutofit/>
          </a:bodyPr>
          <a:lstStyle/>
          <a:p>
            <a:r>
              <a:rPr lang="en-US" sz="3600" dirty="0"/>
              <a:t>Closed Source Intelligence</a:t>
            </a:r>
            <a:endParaRPr lang="en-US" sz="3600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6336F97-1547-4C57-2E7E-9D087CE796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Subscription-based services</a:t>
            </a:r>
          </a:p>
          <a:p>
            <a:r>
              <a:rPr lang="en-US" dirty="0"/>
              <a:t>Paid intelligence sources</a:t>
            </a:r>
          </a:p>
          <a:p>
            <a:r>
              <a:rPr lang="en-US" noProof="0" dirty="0"/>
              <a:t>Pre-analyzed information</a:t>
            </a:r>
            <a:endParaRPr lang="en-US" dirty="0"/>
          </a:p>
          <a:p>
            <a:r>
              <a:rPr lang="en-US" noProof="0" dirty="0"/>
              <a:t>Delivered to </a:t>
            </a:r>
            <a:r>
              <a:rPr lang="en-US" noProof="0" dirty="0" err="1"/>
              <a:t>memebers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48887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48751-4E53-1D1B-38C5-3FD5168E8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7D71D1-A020-ECE3-CE27-BC8CECF6D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532708"/>
          </a:xfrm>
        </p:spPr>
        <p:txBody>
          <a:bodyPr>
            <a:noAutofit/>
          </a:bodyPr>
          <a:lstStyle/>
          <a:p>
            <a:r>
              <a:rPr lang="en-US" sz="3600" dirty="0"/>
              <a:t>Closed Source Benefits</a:t>
            </a:r>
            <a:endParaRPr lang="en-US" sz="3600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DBB0E6D-252E-0436-F378-05933B707B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Reduces false information</a:t>
            </a:r>
          </a:p>
          <a:p>
            <a:r>
              <a:rPr lang="en-US" dirty="0"/>
              <a:t>Provides actionable data</a:t>
            </a:r>
          </a:p>
          <a:p>
            <a:r>
              <a:rPr lang="en-US" noProof="0" dirty="0"/>
              <a:t>Less manual analysis required</a:t>
            </a:r>
          </a:p>
          <a:p>
            <a:r>
              <a:rPr lang="en-US" dirty="0"/>
              <a:t>Improves efficiency</a:t>
            </a:r>
          </a:p>
        </p:txBody>
      </p:sp>
    </p:spTree>
    <p:extLst>
      <p:ext uri="{BB962C8B-B14F-4D97-AF65-F5344CB8AC3E}">
        <p14:creationId xmlns:p14="http://schemas.microsoft.com/office/powerpoint/2010/main" val="26853401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19AE7-6671-8F3E-A687-AD53C8B42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DBF6D5-B26E-096C-4D93-B9B1DE255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532708"/>
          </a:xfrm>
        </p:spPr>
        <p:txBody>
          <a:bodyPr>
            <a:noAutofit/>
          </a:bodyPr>
          <a:lstStyle/>
          <a:p>
            <a:r>
              <a:rPr lang="en-US" sz="3600" dirty="0"/>
              <a:t>Intelligence</a:t>
            </a:r>
            <a:br>
              <a:rPr lang="en-US" sz="3600" dirty="0"/>
            </a:br>
            <a:r>
              <a:rPr lang="en-US" sz="3600" dirty="0"/>
              <a:t>Sharing Organizations</a:t>
            </a:r>
            <a:endParaRPr lang="en-US" sz="3600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59CB8A6-35C9-F2CE-0BFE-45A8CC4ECF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Share intelligence across groups</a:t>
            </a:r>
          </a:p>
          <a:p>
            <a:r>
              <a:rPr lang="en-US" dirty="0"/>
              <a:t>Support collaboration</a:t>
            </a:r>
          </a:p>
          <a:p>
            <a:r>
              <a:rPr lang="en-US" dirty="0"/>
              <a:t>Improve situational awareness</a:t>
            </a:r>
          </a:p>
          <a:p>
            <a:r>
              <a:rPr lang="en-US" dirty="0"/>
              <a:t>Enhance security response</a:t>
            </a:r>
          </a:p>
        </p:txBody>
      </p:sp>
    </p:spTree>
    <p:extLst>
      <p:ext uri="{BB962C8B-B14F-4D97-AF65-F5344CB8AC3E}">
        <p14:creationId xmlns:p14="http://schemas.microsoft.com/office/powerpoint/2010/main" val="3047439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0D4F6-ECF3-47F0-5388-B645610B0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9DC6CF-D1F8-D080-6E47-844E933B2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532708"/>
          </a:xfrm>
        </p:spPr>
        <p:txBody>
          <a:bodyPr>
            <a:noAutofit/>
          </a:bodyPr>
          <a:lstStyle/>
          <a:p>
            <a:r>
              <a:rPr lang="en-US" sz="3600" dirty="0"/>
              <a:t>ISAC, ISAO, and SIX</a:t>
            </a:r>
            <a:endParaRPr lang="en-US" sz="3600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B504B5F-64E3-2847-42BB-5AC622D965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ISAC</a:t>
            </a:r>
          </a:p>
          <a:p>
            <a:pPr lvl="1"/>
            <a:r>
              <a:rPr lang="en-US" dirty="0"/>
              <a:t>Sharing and analysis center</a:t>
            </a:r>
          </a:p>
          <a:p>
            <a:pPr lvl="0"/>
            <a:r>
              <a:rPr lang="en-US" dirty="0"/>
              <a:t>ISAO</a:t>
            </a:r>
          </a:p>
          <a:p>
            <a:pPr lvl="1"/>
            <a:r>
              <a:rPr lang="en-US" dirty="0"/>
              <a:t>Industry collaboration</a:t>
            </a:r>
          </a:p>
          <a:p>
            <a:pPr lvl="0"/>
            <a:r>
              <a:rPr lang="en-US" dirty="0"/>
              <a:t>SIX</a:t>
            </a:r>
          </a:p>
          <a:p>
            <a:pPr lvl="1"/>
            <a:r>
              <a:rPr lang="en-US" dirty="0"/>
              <a:t>Information exchange groups</a:t>
            </a:r>
          </a:p>
          <a:p>
            <a:pPr lvl="0"/>
            <a:r>
              <a:rPr lang="en-US" dirty="0"/>
              <a:t>All support intelligence sharing</a:t>
            </a:r>
          </a:p>
        </p:txBody>
      </p:sp>
    </p:spTree>
    <p:extLst>
      <p:ext uri="{BB962C8B-B14F-4D97-AF65-F5344CB8AC3E}">
        <p14:creationId xmlns:p14="http://schemas.microsoft.com/office/powerpoint/2010/main" val="31155026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Intel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07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8369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Intelligence</a:t>
            </a:r>
            <a:br>
              <a:rPr lang="en-US" noProof="0" dirty="0"/>
            </a:br>
            <a:r>
              <a:rPr lang="en-US" noProof="0" dirty="0"/>
              <a:t>Evaluation Metrics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Intelligence must be evaluated</a:t>
            </a:r>
          </a:p>
          <a:p>
            <a:r>
              <a:rPr lang="en-US" dirty="0"/>
              <a:t>Uses defined metrics</a:t>
            </a:r>
          </a:p>
          <a:p>
            <a:r>
              <a:rPr lang="en-US" dirty="0"/>
              <a:t>Applied before analysis</a:t>
            </a:r>
          </a:p>
          <a:p>
            <a:r>
              <a:rPr lang="en-US" dirty="0"/>
              <a:t>Ensures usefulness of data</a:t>
            </a:r>
          </a:p>
        </p:txBody>
      </p:sp>
    </p:spTree>
    <p:extLst>
      <p:ext uri="{BB962C8B-B14F-4D97-AF65-F5344CB8AC3E}">
        <p14:creationId xmlns:p14="http://schemas.microsoft.com/office/powerpoint/2010/main" val="27756693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8F1A7-698A-42A2-6E6F-6BB6E74EE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3FA941-5955-87B9-ADD1-0D8410692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Relevance</a:t>
            </a:r>
            <a:br>
              <a:rPr lang="en-US" noProof="0" dirty="0"/>
            </a:br>
            <a:r>
              <a:rPr lang="en-US" noProof="0" dirty="0"/>
              <a:t>of Intelligence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594788-4DE3-5269-102F-46AC82553D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Pertains to organization systems</a:t>
            </a:r>
          </a:p>
          <a:p>
            <a:r>
              <a:rPr lang="en-US" dirty="0"/>
              <a:t>Applies to current environment</a:t>
            </a:r>
          </a:p>
          <a:p>
            <a:r>
              <a:rPr lang="en-US" dirty="0"/>
              <a:t>Matches system versions</a:t>
            </a:r>
          </a:p>
          <a:p>
            <a:r>
              <a:rPr lang="en-US" dirty="0"/>
              <a:t>Determines operational impact</a:t>
            </a:r>
          </a:p>
        </p:txBody>
      </p:sp>
    </p:spTree>
    <p:extLst>
      <p:ext uri="{BB962C8B-B14F-4D97-AF65-F5344CB8AC3E}">
        <p14:creationId xmlns:p14="http://schemas.microsoft.com/office/powerpoint/2010/main" val="15510893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017E6-2245-D5D3-377E-876D5882C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6BC193-E2FF-378C-58DB-E60BF0D41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Accuracy</a:t>
            </a:r>
            <a:br>
              <a:rPr lang="en-US" noProof="0" dirty="0"/>
            </a:br>
            <a:r>
              <a:rPr lang="en-US" dirty="0"/>
              <a:t>of Intelligence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F14933D-B1BF-7185-E0DF-EC7DE4DBE9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Measures reliability of data</a:t>
            </a:r>
          </a:p>
          <a:p>
            <a:r>
              <a:rPr lang="en-US" dirty="0"/>
              <a:t>Distinguishes rumor vs verified</a:t>
            </a:r>
          </a:p>
          <a:p>
            <a:r>
              <a:rPr lang="en-US" dirty="0"/>
              <a:t>Trusted sources                   improve accuracy</a:t>
            </a:r>
          </a:p>
          <a:p>
            <a:r>
              <a:rPr lang="en-US" dirty="0"/>
              <a:t>Higher accuracy increases value</a:t>
            </a:r>
          </a:p>
        </p:txBody>
      </p:sp>
    </p:spTree>
    <p:extLst>
      <p:ext uri="{BB962C8B-B14F-4D97-AF65-F5344CB8AC3E}">
        <p14:creationId xmlns:p14="http://schemas.microsoft.com/office/powerpoint/2010/main" val="3660900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09852-B21C-F30D-26D8-F5B02108D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E6DE1B-DE98-3F46-F097-FB73888F8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Timeliness</a:t>
            </a:r>
            <a:br>
              <a:rPr lang="en-US" noProof="0" dirty="0"/>
            </a:br>
            <a:r>
              <a:rPr lang="en-US" noProof="0" dirty="0"/>
              <a:t>of Intelligence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6511A1-9EDF-8D70-DE8B-6CB1B26980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Determines if intelligence             is usable</a:t>
            </a:r>
          </a:p>
          <a:p>
            <a:r>
              <a:rPr lang="en-US" dirty="0"/>
              <a:t>Evaluates response window</a:t>
            </a:r>
          </a:p>
          <a:p>
            <a:r>
              <a:rPr lang="en-US" dirty="0"/>
              <a:t>Identifies outdated information</a:t>
            </a:r>
          </a:p>
          <a:p>
            <a:r>
              <a:rPr lang="en-US" dirty="0"/>
              <a:t>Supports timely action</a:t>
            </a:r>
          </a:p>
        </p:txBody>
      </p:sp>
    </p:spTree>
    <p:extLst>
      <p:ext uri="{BB962C8B-B14F-4D97-AF65-F5344CB8AC3E}">
        <p14:creationId xmlns:p14="http://schemas.microsoft.com/office/powerpoint/2010/main" val="29271081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AAC2C-9475-25E3-6D45-529CFDA8A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01AC5D-B60A-FF44-D980-0D5AE7CE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Timeliness</a:t>
            </a:r>
            <a:r>
              <a:rPr lang="en-US" dirty="0"/>
              <a:t> Example and Impact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C0ACBFE-A625-8EBA-6DE6-35EB4DF630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Early warning before attack</a:t>
            </a:r>
          </a:p>
          <a:p>
            <a:r>
              <a:rPr lang="en-US" dirty="0"/>
              <a:t>Time to prepare defense</a:t>
            </a:r>
          </a:p>
          <a:p>
            <a:r>
              <a:rPr lang="en-US" dirty="0"/>
              <a:t>Improves response readiness</a:t>
            </a:r>
          </a:p>
          <a:p>
            <a:r>
              <a:rPr lang="en-US" dirty="0"/>
              <a:t>Enables preventive action</a:t>
            </a:r>
          </a:p>
        </p:txBody>
      </p:sp>
    </p:spTree>
    <p:extLst>
      <p:ext uri="{BB962C8B-B14F-4D97-AF65-F5344CB8AC3E}">
        <p14:creationId xmlns:p14="http://schemas.microsoft.com/office/powerpoint/2010/main" val="8711866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dirty="0"/>
              <a:t>Cyber Threat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dirty="0">
                <a:latin typeface="Montserrat SemiBold"/>
                <a:cs typeface="Arial"/>
              </a:rPr>
              <a:t>Chapter 07</a:t>
            </a:r>
          </a:p>
        </p:txBody>
      </p:sp>
    </p:spTree>
    <p:extLst>
      <p:ext uri="{BB962C8B-B14F-4D97-AF65-F5344CB8AC3E}">
        <p14:creationId xmlns:p14="http://schemas.microsoft.com/office/powerpoint/2010/main" val="42627743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300000"/>
          </a:xfrm>
        </p:spPr>
        <p:txBody>
          <a:bodyPr/>
          <a:lstStyle/>
          <a:p>
            <a:r>
              <a:rPr lang="da-DK" dirty="0"/>
              <a:t>What Is Cyber </a:t>
            </a:r>
            <a:br>
              <a:rPr lang="da-DK" dirty="0"/>
            </a:br>
            <a:r>
              <a:rPr lang="da-DK" dirty="0"/>
              <a:t>Threat Intelligence?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00000"/>
            <a:ext cx="7067550" cy="3899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Montserrat"/>
                <a:cs typeface="Arial"/>
              </a:rPr>
              <a:t>Lessons learned from past attacks, applied to future defense</a:t>
            </a:r>
          </a:p>
          <a:p>
            <a:r>
              <a:rPr lang="en-US">
                <a:latin typeface="Montserrat"/>
                <a:cs typeface="Arial"/>
              </a:rPr>
              <a:t>Turns suspicious activity into actionable insight</a:t>
            </a:r>
          </a:p>
          <a:p>
            <a:r>
              <a:rPr lang="en-US">
                <a:latin typeface="Montserrat"/>
                <a:cs typeface="Arial"/>
              </a:rPr>
              <a:t>No CTI = flying blind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300000"/>
          </a:xfrm>
        </p:spPr>
        <p:txBody>
          <a:bodyPr/>
          <a:lstStyle/>
          <a:p>
            <a:r>
              <a:rPr lang="da-DK"/>
              <a:t>Data Enrichment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1479425"/>
            <a:ext cx="7067550" cy="3899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Adds context: geo data, TTPs, IPs, targeted systems</a:t>
            </a:r>
          </a:p>
          <a:p>
            <a:r>
              <a:rPr lang="en-US" dirty="0">
                <a:latin typeface="Montserrat"/>
                <a:cs typeface="Arial"/>
              </a:rPr>
              <a:t>Raw data in, actionable intelligence out</a:t>
            </a:r>
          </a:p>
          <a:p>
            <a:r>
              <a:rPr lang="en-US" dirty="0">
                <a:latin typeface="Montserrat"/>
                <a:cs typeface="Arial"/>
              </a:rPr>
              <a:t>Every enriched piece builds the bigger security picture</a:t>
            </a:r>
          </a:p>
        </p:txBody>
      </p:sp>
    </p:spTree>
    <p:extLst>
      <p:ext uri="{BB962C8B-B14F-4D97-AF65-F5344CB8AC3E}">
        <p14:creationId xmlns:p14="http://schemas.microsoft.com/office/powerpoint/2010/main" val="26046773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300000"/>
          </a:xfrm>
        </p:spPr>
        <p:txBody>
          <a:bodyPr/>
          <a:lstStyle/>
          <a:p>
            <a:r>
              <a:rPr lang="da-DK"/>
              <a:t>Intelligence Sharing Platforms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00000"/>
            <a:ext cx="7067550" cy="3899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Montserrat"/>
                <a:cs typeface="Arial"/>
              </a:rPr>
              <a:t>Platforms: OTX, MISP, OpenCTI</a:t>
            </a:r>
          </a:p>
          <a:p>
            <a:r>
              <a:rPr lang="en-US">
                <a:latin typeface="Montserrat"/>
                <a:cs typeface="Arial"/>
              </a:rPr>
              <a:t>Feeds IOCs directly into SIEMs and vulnerability scanners</a:t>
            </a:r>
          </a:p>
          <a:p>
            <a:r>
              <a:rPr lang="en-US">
                <a:latin typeface="Montserrat"/>
                <a:cs typeface="Arial"/>
              </a:rPr>
              <a:t>Today’s threat to them is tomorrow’s threat to you</a:t>
            </a:r>
          </a:p>
        </p:txBody>
      </p:sp>
    </p:spTree>
    <p:extLst>
      <p:ext uri="{BB962C8B-B14F-4D97-AF65-F5344CB8AC3E}">
        <p14:creationId xmlns:p14="http://schemas.microsoft.com/office/powerpoint/2010/main" val="2744071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300000"/>
          </a:xfrm>
        </p:spPr>
        <p:txBody>
          <a:bodyPr/>
          <a:lstStyle/>
          <a:p>
            <a:r>
              <a:rPr lang="da-DK" dirty="0"/>
              <a:t>Internal </a:t>
            </a:r>
            <a:r>
              <a:rPr lang="da-DK"/>
              <a:t>Reports </a:t>
            </a:r>
            <a:br>
              <a:rPr lang="da-DK"/>
            </a:br>
            <a:r>
              <a:rPr lang="da-DK"/>
              <a:t>and </a:t>
            </a:r>
            <a:r>
              <a:rPr lang="da-DK" dirty="0"/>
              <a:t>STRIDE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00000"/>
            <a:ext cx="7067550" cy="3899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Montserrat"/>
                <a:cs typeface="Arial"/>
              </a:rPr>
              <a:t>Org-specific reports from logs, network data, and threat feeds</a:t>
            </a:r>
          </a:p>
          <a:p>
            <a:r>
              <a:rPr lang="en-US">
                <a:latin typeface="Montserrat"/>
                <a:cs typeface="Arial"/>
              </a:rPr>
              <a:t>STRIDE: Spoofing, Tampering, Repudiation, Info Disclosure, DoS, Privilege Escalation</a:t>
            </a:r>
          </a:p>
          <a:p>
            <a:r>
              <a:rPr lang="en-US">
                <a:latin typeface="Montserrat"/>
                <a:cs typeface="Arial"/>
              </a:rPr>
              <a:t>Categorize the threat → pick the right control</a:t>
            </a:r>
          </a:p>
        </p:txBody>
      </p:sp>
    </p:spTree>
    <p:extLst>
      <p:ext uri="{BB962C8B-B14F-4D97-AF65-F5344CB8AC3E}">
        <p14:creationId xmlns:p14="http://schemas.microsoft.com/office/powerpoint/2010/main" val="39729292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300000"/>
          </a:xfrm>
        </p:spPr>
        <p:txBody>
          <a:bodyPr/>
          <a:lstStyle/>
          <a:p>
            <a:r>
              <a:rPr lang="da-DK" dirty="0"/>
              <a:t>Cyber Threat Maps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1479425"/>
            <a:ext cx="7067550" cy="3899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Live global attack visualizations (FortiGuard, Kaspersky)</a:t>
            </a:r>
          </a:p>
          <a:p>
            <a:r>
              <a:rPr lang="en-US" dirty="0">
                <a:latin typeface="Montserrat"/>
                <a:cs typeface="Arial"/>
              </a:rPr>
              <a:t>Show source, destination, and attack type in real time</a:t>
            </a:r>
          </a:p>
          <a:p>
            <a:r>
              <a:rPr lang="en-US" dirty="0">
                <a:latin typeface="Montserrat"/>
                <a:cs typeface="Arial"/>
              </a:rPr>
              <a:t>You never want to see yourself </a:t>
            </a:r>
            <a:br>
              <a:rPr lang="en-US" dirty="0">
                <a:latin typeface="Montserrat"/>
                <a:cs typeface="Arial"/>
              </a:rPr>
            </a:br>
            <a:r>
              <a:rPr lang="en-US" dirty="0">
                <a:latin typeface="Montserrat"/>
                <a:cs typeface="Arial"/>
              </a:rPr>
              <a:t>on one</a:t>
            </a:r>
          </a:p>
        </p:txBody>
      </p:sp>
    </p:spTree>
    <p:extLst>
      <p:ext uri="{BB962C8B-B14F-4D97-AF65-F5344CB8AC3E}">
        <p14:creationId xmlns:p14="http://schemas.microsoft.com/office/powerpoint/2010/main" val="6964051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300000"/>
          </a:xfrm>
        </p:spPr>
        <p:txBody>
          <a:bodyPr/>
          <a:lstStyle/>
          <a:p>
            <a:r>
              <a:rPr lang="da-DK"/>
              <a:t>Deception Tools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1479425"/>
            <a:ext cx="7067550" cy="3899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Honeypots: decoys that flag any traffic as suspicious</a:t>
            </a:r>
          </a:p>
          <a:p>
            <a:r>
              <a:rPr lang="en-US" dirty="0">
                <a:latin typeface="Montserrat"/>
                <a:cs typeface="Arial"/>
              </a:rPr>
              <a:t>Honeynets: entire fake networks of VMs as bait</a:t>
            </a:r>
          </a:p>
          <a:p>
            <a:r>
              <a:rPr lang="en-US" dirty="0">
                <a:latin typeface="Montserrat"/>
                <a:cs typeface="Arial"/>
              </a:rPr>
              <a:t>Observe attacker TTPs, then share intel with the community</a:t>
            </a:r>
          </a:p>
        </p:txBody>
      </p:sp>
    </p:spTree>
    <p:extLst>
      <p:ext uri="{BB962C8B-B14F-4D97-AF65-F5344CB8AC3E}">
        <p14:creationId xmlns:p14="http://schemas.microsoft.com/office/powerpoint/2010/main" val="342968594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76027dd9-77cd-484f-b6db-8bbe1351c2b5" xsi:nil="true"/>
    <lcf76f155ced4ddcb4097134ff3c332f xmlns="76027dd9-77cd-484f-b6db-8bbe1351c2b5">
      <Terms xmlns="http://schemas.microsoft.com/office/infopath/2007/PartnerControls"/>
    </lcf76f155ced4ddcb4097134ff3c332f>
    <TaxCatchAll xmlns="1046e879-d081-4053-adba-52e34fa7725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FFD909-429B-4107-A2B1-C958B91C177D}">
  <ds:schemaRefs>
    <ds:schemaRef ds:uri="76027dd9-77cd-484f-b6db-8bbe1351c2b5"/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1046e879-d081-4053-adba-52e34fa7725d"/>
    <ds:schemaRef ds:uri="http://purl.org/dc/terms/"/>
    <ds:schemaRef ds:uri="http://purl.org/dc/dcmitype/"/>
    <ds:schemaRef ds:uri="http://schemas.microsoft.com/office/infopath/2007/PartnerControls"/>
    <ds:schemaRef ds:uri="13a0c8d5-cff5-4140-b58f-0947a5552a6a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925A222-F9F2-46E3-9309-DF332776EE1C}">
  <ds:schemaRefs>
    <ds:schemaRef ds:uri="1046e879-d081-4053-adba-52e34fa7725d"/>
    <ds:schemaRef ds:uri="13a0c8d5-cff5-4140-b58f-0947a5552a6a"/>
    <ds:schemaRef ds:uri="76027dd9-77cd-484f-b6db-8bbe1351c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6265556-9F64-45B8-80A5-20FC8B6E91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709</Words>
  <Application>Microsoft Office PowerPoint</Application>
  <PresentationFormat>Widescreen</PresentationFormat>
  <Paragraphs>183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Montserrat</vt:lpstr>
      <vt:lpstr>Montserrat ExtraLight</vt:lpstr>
      <vt:lpstr>Montserrat Light</vt:lpstr>
      <vt:lpstr>Montserrat SemiBold</vt:lpstr>
      <vt:lpstr>Custom Design</vt:lpstr>
      <vt:lpstr>Threat Actors</vt:lpstr>
      <vt:lpstr>Script Kiddies</vt:lpstr>
      <vt:lpstr>Hacktivists</vt:lpstr>
      <vt:lpstr>Organized Crime</vt:lpstr>
      <vt:lpstr>Advanced Persistent Threats (APT)</vt:lpstr>
      <vt:lpstr>Competitors as Threat Actors</vt:lpstr>
      <vt:lpstr>Insider Threats</vt:lpstr>
      <vt:lpstr>Shadow IT Risks</vt:lpstr>
      <vt:lpstr>ttps</vt:lpstr>
      <vt:lpstr>TTPs and Attribution</vt:lpstr>
      <vt:lpstr>Pyramid of Pain</vt:lpstr>
      <vt:lpstr>Pyramid of Pain</vt:lpstr>
      <vt:lpstr>Indicators vs TTPs</vt:lpstr>
      <vt:lpstr>MITRE ATT&amp;CK Framework </vt:lpstr>
      <vt:lpstr>MITRE ATT&amp;CK Framework</vt:lpstr>
      <vt:lpstr>Using ATT&amp;CK</vt:lpstr>
      <vt:lpstr>Attribution Using TTPs</vt:lpstr>
      <vt:lpstr>TTP Behavioral Patterns</vt:lpstr>
      <vt:lpstr>Heat Map</vt:lpstr>
      <vt:lpstr>Heat Map Analysis</vt:lpstr>
      <vt:lpstr>TTPs in Defense Strategy</vt:lpstr>
      <vt:lpstr>Intel Sources</vt:lpstr>
      <vt:lpstr>Open-Source Intelligence (OSINT)</vt:lpstr>
      <vt:lpstr>OSINT Challenges</vt:lpstr>
      <vt:lpstr>Closed Source Intelligence</vt:lpstr>
      <vt:lpstr>Closed Source Benefits</vt:lpstr>
      <vt:lpstr>Intelligence Sharing Organizations</vt:lpstr>
      <vt:lpstr>ISAC, ISAO, and SIX</vt:lpstr>
      <vt:lpstr>Intel Metrics</vt:lpstr>
      <vt:lpstr>Intelligence Evaluation Metrics</vt:lpstr>
      <vt:lpstr>Relevance of Intelligence</vt:lpstr>
      <vt:lpstr>Accuracy of Intelligence</vt:lpstr>
      <vt:lpstr>Timeliness of Intelligence</vt:lpstr>
      <vt:lpstr>Timeliness Example and Impact</vt:lpstr>
      <vt:lpstr>Cyber Threat Intelligence</vt:lpstr>
      <vt:lpstr>What Is Cyber  Threat Intelligence?</vt:lpstr>
      <vt:lpstr>Data Enrichment</vt:lpstr>
      <vt:lpstr>Intelligence Sharing Platforms</vt:lpstr>
      <vt:lpstr>Internal Reports  and STRIDE</vt:lpstr>
      <vt:lpstr>Cyber Threat Maps</vt:lpstr>
      <vt:lpstr>Deception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Account Management</dc:title>
  <dc:creator>Shannon Lehmer</dc:creator>
  <cp:lastModifiedBy>Dana Barineau</cp:lastModifiedBy>
  <cp:revision>3</cp:revision>
  <dcterms:created xsi:type="dcterms:W3CDTF">2021-01-26T20:17:48Z</dcterms:created>
  <dcterms:modified xsi:type="dcterms:W3CDTF">2026-06-25T20:56:29Z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0x010100C634B67D360B774FBA94A353DF812505</vt:lpwstr>
  </property>
  <property fmtid="{D5CDD505-2E9C-101B-9397-08002B2CF9AE}" pid="3" name="MediaServiceImageTags">
    <vt:lpwstr/>
  </property>
  <property fmtid="{D5CDD505-2E9C-101B-9397-08002B2CF9AE}" pid="4" name="Reviewed">
    <vt:bool>false</vt:bool>
  </property>
  <property fmtid="{D5CDD505-2E9C-101B-9397-08002B2CF9AE}" pid="5" name="Order">
    <vt:r8>6033200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